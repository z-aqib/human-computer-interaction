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sldIdLst>
    <p:sldId id="256" r:id="rId2"/>
    <p:sldId id="330" r:id="rId3"/>
    <p:sldId id="306" r:id="rId4"/>
    <p:sldId id="331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21" r:id="rId17"/>
    <p:sldId id="318" r:id="rId18"/>
    <p:sldId id="319" r:id="rId19"/>
    <p:sldId id="320" r:id="rId20"/>
    <p:sldId id="322" r:id="rId21"/>
    <p:sldId id="323" r:id="rId22"/>
    <p:sldId id="324" r:id="rId23"/>
    <p:sldId id="325" r:id="rId24"/>
    <p:sldId id="326" r:id="rId25"/>
    <p:sldId id="327" r:id="rId26"/>
    <p:sldId id="333" r:id="rId27"/>
    <p:sldId id="332" r:id="rId28"/>
    <p:sldId id="334" r:id="rId29"/>
    <p:sldId id="328" r:id="rId30"/>
    <p:sldId id="329" r:id="rId3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B5BFB6-66A2-4841-BEA3-AFF4099506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8943AB-E382-4A6E-AB96-48BE117E3F3D}">
      <dgm:prSet/>
      <dgm:spPr/>
      <dgm:t>
        <a:bodyPr/>
        <a:lstStyle/>
        <a:p>
          <a:r>
            <a:rPr lang="en-GB"/>
            <a:t>Semantic memory structure</a:t>
          </a:r>
          <a:endParaRPr lang="en-US"/>
        </a:p>
      </dgm:t>
    </dgm:pt>
    <dgm:pt modelId="{2AEEF457-558A-4AA0-81C5-EFFCB37E84DC}" type="parTrans" cxnId="{F6CE5839-D843-42EF-86CD-07F38F116193}">
      <dgm:prSet/>
      <dgm:spPr/>
      <dgm:t>
        <a:bodyPr/>
        <a:lstStyle/>
        <a:p>
          <a:endParaRPr lang="en-US"/>
        </a:p>
      </dgm:t>
    </dgm:pt>
    <dgm:pt modelId="{3CCDC667-5885-4DDE-8E4C-85ED4FCE6921}" type="sibTrans" cxnId="{F6CE5839-D843-42EF-86CD-07F38F116193}">
      <dgm:prSet/>
      <dgm:spPr/>
      <dgm:t>
        <a:bodyPr/>
        <a:lstStyle/>
        <a:p>
          <a:endParaRPr lang="en-US"/>
        </a:p>
      </dgm:t>
    </dgm:pt>
    <dgm:pt modelId="{714C8A18-AD2C-4DE0-B510-243DD7DCD31E}">
      <dgm:prSet/>
      <dgm:spPr/>
      <dgm:t>
        <a:bodyPr/>
        <a:lstStyle/>
        <a:p>
          <a:r>
            <a:rPr lang="en-GB" dirty="0"/>
            <a:t>provides access to information</a:t>
          </a:r>
          <a:endParaRPr lang="en-US" dirty="0"/>
        </a:p>
      </dgm:t>
    </dgm:pt>
    <dgm:pt modelId="{A86711D2-D975-4A0A-980B-6B7D3890882A}" type="parTrans" cxnId="{23E61D13-95AA-4544-98E8-B496F29D0578}">
      <dgm:prSet/>
      <dgm:spPr/>
      <dgm:t>
        <a:bodyPr/>
        <a:lstStyle/>
        <a:p>
          <a:endParaRPr lang="en-US"/>
        </a:p>
      </dgm:t>
    </dgm:pt>
    <dgm:pt modelId="{3F74E1EF-C948-4811-AA87-17775FB7C5EF}" type="sibTrans" cxnId="{23E61D13-95AA-4544-98E8-B496F29D0578}">
      <dgm:prSet/>
      <dgm:spPr/>
      <dgm:t>
        <a:bodyPr/>
        <a:lstStyle/>
        <a:p>
          <a:endParaRPr lang="en-US"/>
        </a:p>
      </dgm:t>
    </dgm:pt>
    <dgm:pt modelId="{85737EC6-C31C-489D-8FBD-BAFE6AE8F2BA}">
      <dgm:prSet/>
      <dgm:spPr/>
      <dgm:t>
        <a:bodyPr/>
        <a:lstStyle/>
        <a:p>
          <a:r>
            <a:rPr lang="en-GB"/>
            <a:t>represents relationships between bits of information</a:t>
          </a:r>
          <a:endParaRPr lang="en-US"/>
        </a:p>
      </dgm:t>
    </dgm:pt>
    <dgm:pt modelId="{1438FA1F-7D8F-412B-B56C-7CA9713D1B76}" type="parTrans" cxnId="{CD529D83-F98A-4648-9CBD-DCF5BD1452AA}">
      <dgm:prSet/>
      <dgm:spPr/>
      <dgm:t>
        <a:bodyPr/>
        <a:lstStyle/>
        <a:p>
          <a:endParaRPr lang="en-US"/>
        </a:p>
      </dgm:t>
    </dgm:pt>
    <dgm:pt modelId="{00FB75BF-0E12-4EB5-ACD8-15500568A24F}" type="sibTrans" cxnId="{CD529D83-F98A-4648-9CBD-DCF5BD1452AA}">
      <dgm:prSet/>
      <dgm:spPr/>
      <dgm:t>
        <a:bodyPr/>
        <a:lstStyle/>
        <a:p>
          <a:endParaRPr lang="en-US"/>
        </a:p>
      </dgm:t>
    </dgm:pt>
    <dgm:pt modelId="{02A15B46-C288-4615-9564-F932A65DF4E3}">
      <dgm:prSet/>
      <dgm:spPr/>
      <dgm:t>
        <a:bodyPr/>
        <a:lstStyle/>
        <a:p>
          <a:r>
            <a:rPr lang="en-GB"/>
            <a:t>supports inference</a:t>
          </a:r>
          <a:endParaRPr lang="en-US"/>
        </a:p>
      </dgm:t>
    </dgm:pt>
    <dgm:pt modelId="{0F063F3B-379A-4EF4-A04A-2C645DF1F912}" type="parTrans" cxnId="{939E70D2-B074-4AF9-A6C9-C8AC722E0927}">
      <dgm:prSet/>
      <dgm:spPr/>
      <dgm:t>
        <a:bodyPr/>
        <a:lstStyle/>
        <a:p>
          <a:endParaRPr lang="en-US"/>
        </a:p>
      </dgm:t>
    </dgm:pt>
    <dgm:pt modelId="{9F1EC88B-5C67-48B8-9F11-96D66748DF42}" type="sibTrans" cxnId="{939E70D2-B074-4AF9-A6C9-C8AC722E0927}">
      <dgm:prSet/>
      <dgm:spPr/>
      <dgm:t>
        <a:bodyPr/>
        <a:lstStyle/>
        <a:p>
          <a:endParaRPr lang="en-US"/>
        </a:p>
      </dgm:t>
    </dgm:pt>
    <dgm:pt modelId="{1F0A6319-B948-4297-8C30-958CE2957EBE}">
      <dgm:prSet/>
      <dgm:spPr/>
      <dgm:t>
        <a:bodyPr/>
        <a:lstStyle/>
        <a:p>
          <a:r>
            <a:rPr lang="en-GB"/>
            <a:t>Model: semantic network</a:t>
          </a:r>
          <a:endParaRPr lang="en-US"/>
        </a:p>
      </dgm:t>
    </dgm:pt>
    <dgm:pt modelId="{9810D317-B852-4410-8790-ABC685766EA0}" type="parTrans" cxnId="{E3822103-4668-4577-BDE6-27CA8AF6B077}">
      <dgm:prSet/>
      <dgm:spPr/>
      <dgm:t>
        <a:bodyPr/>
        <a:lstStyle/>
        <a:p>
          <a:endParaRPr lang="en-US"/>
        </a:p>
      </dgm:t>
    </dgm:pt>
    <dgm:pt modelId="{32C7A37C-8271-4EC5-A86B-2703B12B567C}" type="sibTrans" cxnId="{E3822103-4668-4577-BDE6-27CA8AF6B077}">
      <dgm:prSet/>
      <dgm:spPr/>
      <dgm:t>
        <a:bodyPr/>
        <a:lstStyle/>
        <a:p>
          <a:endParaRPr lang="en-US"/>
        </a:p>
      </dgm:t>
    </dgm:pt>
    <dgm:pt modelId="{CAA4612C-0974-44B5-86AF-77CD1FF36777}">
      <dgm:prSet/>
      <dgm:spPr/>
      <dgm:t>
        <a:bodyPr/>
        <a:lstStyle/>
        <a:p>
          <a:r>
            <a:rPr lang="en-GB"/>
            <a:t>inheritance – child nodes inherit properties of parent nodes</a:t>
          </a:r>
          <a:endParaRPr lang="en-US"/>
        </a:p>
      </dgm:t>
    </dgm:pt>
    <dgm:pt modelId="{973E969F-4F09-412C-AB93-76B9616687FB}" type="parTrans" cxnId="{8C6D840B-92A6-49D9-A85E-11E1934DFFF3}">
      <dgm:prSet/>
      <dgm:spPr/>
      <dgm:t>
        <a:bodyPr/>
        <a:lstStyle/>
        <a:p>
          <a:endParaRPr lang="en-US"/>
        </a:p>
      </dgm:t>
    </dgm:pt>
    <dgm:pt modelId="{7BA9E790-9F44-4C71-B67F-CD391410D6F1}" type="sibTrans" cxnId="{8C6D840B-92A6-49D9-A85E-11E1934DFFF3}">
      <dgm:prSet/>
      <dgm:spPr/>
      <dgm:t>
        <a:bodyPr/>
        <a:lstStyle/>
        <a:p>
          <a:endParaRPr lang="en-US"/>
        </a:p>
      </dgm:t>
    </dgm:pt>
    <dgm:pt modelId="{CADD5A0F-E5DC-471C-B874-FA966BFF44CB}">
      <dgm:prSet/>
      <dgm:spPr/>
      <dgm:t>
        <a:bodyPr/>
        <a:lstStyle/>
        <a:p>
          <a:r>
            <a:rPr lang="en-GB"/>
            <a:t>relationships between bits of information explicit</a:t>
          </a:r>
          <a:endParaRPr lang="en-US"/>
        </a:p>
      </dgm:t>
    </dgm:pt>
    <dgm:pt modelId="{87137466-D190-48E7-87A6-DF9E7760F940}" type="parTrans" cxnId="{5C9A7EA5-0A9E-465B-AEAB-44C483B11161}">
      <dgm:prSet/>
      <dgm:spPr/>
      <dgm:t>
        <a:bodyPr/>
        <a:lstStyle/>
        <a:p>
          <a:endParaRPr lang="en-US"/>
        </a:p>
      </dgm:t>
    </dgm:pt>
    <dgm:pt modelId="{517BC9A2-293F-441F-A2A5-E61BCF9D5BEC}" type="sibTrans" cxnId="{5C9A7EA5-0A9E-465B-AEAB-44C483B11161}">
      <dgm:prSet/>
      <dgm:spPr/>
      <dgm:t>
        <a:bodyPr/>
        <a:lstStyle/>
        <a:p>
          <a:endParaRPr lang="en-US"/>
        </a:p>
      </dgm:t>
    </dgm:pt>
    <dgm:pt modelId="{4C5B3BB6-134F-4CFC-87FA-BD49E0F30834}">
      <dgm:prSet/>
      <dgm:spPr/>
      <dgm:t>
        <a:bodyPr/>
        <a:lstStyle/>
        <a:p>
          <a:r>
            <a:rPr lang="en-GB"/>
            <a:t>supports inference through inheritance</a:t>
          </a:r>
          <a:endParaRPr lang="en-US"/>
        </a:p>
      </dgm:t>
    </dgm:pt>
    <dgm:pt modelId="{1B06A4C2-4CB9-4E4D-9234-A30F57EE0ECA}" type="parTrans" cxnId="{29950C27-5C84-428F-A20D-01C6EB2E24CC}">
      <dgm:prSet/>
      <dgm:spPr/>
      <dgm:t>
        <a:bodyPr/>
        <a:lstStyle/>
        <a:p>
          <a:endParaRPr lang="en-US"/>
        </a:p>
      </dgm:t>
    </dgm:pt>
    <dgm:pt modelId="{9CC4CD71-7931-4664-A78C-4C7586704761}" type="sibTrans" cxnId="{29950C27-5C84-428F-A20D-01C6EB2E24CC}">
      <dgm:prSet/>
      <dgm:spPr/>
      <dgm:t>
        <a:bodyPr/>
        <a:lstStyle/>
        <a:p>
          <a:endParaRPr lang="en-US"/>
        </a:p>
      </dgm:t>
    </dgm:pt>
    <dgm:pt modelId="{A5D69153-0BE6-504F-A68D-7EE2ECFBCAAE}" type="pres">
      <dgm:prSet presAssocID="{2FB5BFB6-66A2-4841-BEA3-AFF409950676}" presName="linear" presStyleCnt="0">
        <dgm:presLayoutVars>
          <dgm:animLvl val="lvl"/>
          <dgm:resizeHandles val="exact"/>
        </dgm:presLayoutVars>
      </dgm:prSet>
      <dgm:spPr/>
    </dgm:pt>
    <dgm:pt modelId="{1ECC4A4D-4937-2C4E-B9C8-36BA08C2BB5E}" type="pres">
      <dgm:prSet presAssocID="{A38943AB-E382-4A6E-AB96-48BE117E3F3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CD817D0-AF2E-5B45-B4BE-4632C1866715}" type="pres">
      <dgm:prSet presAssocID="{A38943AB-E382-4A6E-AB96-48BE117E3F3D}" presName="childText" presStyleLbl="revTx" presStyleIdx="0" presStyleCnt="2">
        <dgm:presLayoutVars>
          <dgm:bulletEnabled val="1"/>
        </dgm:presLayoutVars>
      </dgm:prSet>
      <dgm:spPr/>
    </dgm:pt>
    <dgm:pt modelId="{E641E8F0-110B-1146-A741-B4ACE582CFBD}" type="pres">
      <dgm:prSet presAssocID="{1F0A6319-B948-4297-8C30-958CE2957EB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60BE02F-103B-ED44-BA32-9A4861D7CECA}" type="pres">
      <dgm:prSet presAssocID="{1F0A6319-B948-4297-8C30-958CE2957EB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3822103-4668-4577-BDE6-27CA8AF6B077}" srcId="{2FB5BFB6-66A2-4841-BEA3-AFF409950676}" destId="{1F0A6319-B948-4297-8C30-958CE2957EBE}" srcOrd="1" destOrd="0" parTransId="{9810D317-B852-4410-8790-ABC685766EA0}" sibTransId="{32C7A37C-8271-4EC5-A86B-2703B12B567C}"/>
    <dgm:cxn modelId="{8C6D840B-92A6-49D9-A85E-11E1934DFFF3}" srcId="{1F0A6319-B948-4297-8C30-958CE2957EBE}" destId="{CAA4612C-0974-44B5-86AF-77CD1FF36777}" srcOrd="0" destOrd="0" parTransId="{973E969F-4F09-412C-AB93-76B9616687FB}" sibTransId="{7BA9E790-9F44-4C71-B67F-CD391410D6F1}"/>
    <dgm:cxn modelId="{23E61D13-95AA-4544-98E8-B496F29D0578}" srcId="{A38943AB-E382-4A6E-AB96-48BE117E3F3D}" destId="{714C8A18-AD2C-4DE0-B510-243DD7DCD31E}" srcOrd="0" destOrd="0" parTransId="{A86711D2-D975-4A0A-980B-6B7D3890882A}" sibTransId="{3F74E1EF-C948-4811-AA87-17775FB7C5EF}"/>
    <dgm:cxn modelId="{29950C27-5C84-428F-A20D-01C6EB2E24CC}" srcId="{1F0A6319-B948-4297-8C30-958CE2957EBE}" destId="{4C5B3BB6-134F-4CFC-87FA-BD49E0F30834}" srcOrd="2" destOrd="0" parTransId="{1B06A4C2-4CB9-4E4D-9234-A30F57EE0ECA}" sibTransId="{9CC4CD71-7931-4664-A78C-4C7586704761}"/>
    <dgm:cxn modelId="{F6CE5839-D843-42EF-86CD-07F38F116193}" srcId="{2FB5BFB6-66A2-4841-BEA3-AFF409950676}" destId="{A38943AB-E382-4A6E-AB96-48BE117E3F3D}" srcOrd="0" destOrd="0" parTransId="{2AEEF457-558A-4AA0-81C5-EFFCB37E84DC}" sibTransId="{3CCDC667-5885-4DDE-8E4C-85ED4FCE6921}"/>
    <dgm:cxn modelId="{69B5FD4B-FEC8-8F42-B2DB-0558E98C9B24}" type="presOf" srcId="{1F0A6319-B948-4297-8C30-958CE2957EBE}" destId="{E641E8F0-110B-1146-A741-B4ACE582CFBD}" srcOrd="0" destOrd="0" presId="urn:microsoft.com/office/officeart/2005/8/layout/vList2"/>
    <dgm:cxn modelId="{3354EA5A-EBBB-3642-822A-3050FEC36665}" type="presOf" srcId="{4C5B3BB6-134F-4CFC-87FA-BD49E0F30834}" destId="{560BE02F-103B-ED44-BA32-9A4861D7CECA}" srcOrd="0" destOrd="2" presId="urn:microsoft.com/office/officeart/2005/8/layout/vList2"/>
    <dgm:cxn modelId="{078A865E-6909-3741-8F03-5C2B31F19679}" type="presOf" srcId="{02A15B46-C288-4615-9564-F932A65DF4E3}" destId="{2CD817D0-AF2E-5B45-B4BE-4632C1866715}" srcOrd="0" destOrd="2" presId="urn:microsoft.com/office/officeart/2005/8/layout/vList2"/>
    <dgm:cxn modelId="{BDC2986E-86EA-C94E-AF2B-BB42232B32D8}" type="presOf" srcId="{CAA4612C-0974-44B5-86AF-77CD1FF36777}" destId="{560BE02F-103B-ED44-BA32-9A4861D7CECA}" srcOrd="0" destOrd="0" presId="urn:microsoft.com/office/officeart/2005/8/layout/vList2"/>
    <dgm:cxn modelId="{3FBE7170-86B9-3E45-8471-040A934DF2F5}" type="presOf" srcId="{85737EC6-C31C-489D-8FBD-BAFE6AE8F2BA}" destId="{2CD817D0-AF2E-5B45-B4BE-4632C1866715}" srcOrd="0" destOrd="1" presId="urn:microsoft.com/office/officeart/2005/8/layout/vList2"/>
    <dgm:cxn modelId="{D8E21673-3006-4C45-8F14-DD038C038F7F}" type="presOf" srcId="{714C8A18-AD2C-4DE0-B510-243DD7DCD31E}" destId="{2CD817D0-AF2E-5B45-B4BE-4632C1866715}" srcOrd="0" destOrd="0" presId="urn:microsoft.com/office/officeart/2005/8/layout/vList2"/>
    <dgm:cxn modelId="{CD529D83-F98A-4648-9CBD-DCF5BD1452AA}" srcId="{A38943AB-E382-4A6E-AB96-48BE117E3F3D}" destId="{85737EC6-C31C-489D-8FBD-BAFE6AE8F2BA}" srcOrd="1" destOrd="0" parTransId="{1438FA1F-7D8F-412B-B56C-7CA9713D1B76}" sibTransId="{00FB75BF-0E12-4EB5-ACD8-15500568A24F}"/>
    <dgm:cxn modelId="{7EFEC094-6941-FF42-BC95-EAAC31398D5D}" type="presOf" srcId="{CADD5A0F-E5DC-471C-B874-FA966BFF44CB}" destId="{560BE02F-103B-ED44-BA32-9A4861D7CECA}" srcOrd="0" destOrd="1" presId="urn:microsoft.com/office/officeart/2005/8/layout/vList2"/>
    <dgm:cxn modelId="{D989F79E-C10F-6845-9F1E-BE6E9B6C97E8}" type="presOf" srcId="{A38943AB-E382-4A6E-AB96-48BE117E3F3D}" destId="{1ECC4A4D-4937-2C4E-B9C8-36BA08C2BB5E}" srcOrd="0" destOrd="0" presId="urn:microsoft.com/office/officeart/2005/8/layout/vList2"/>
    <dgm:cxn modelId="{5C9A7EA5-0A9E-465B-AEAB-44C483B11161}" srcId="{1F0A6319-B948-4297-8C30-958CE2957EBE}" destId="{CADD5A0F-E5DC-471C-B874-FA966BFF44CB}" srcOrd="1" destOrd="0" parTransId="{87137466-D190-48E7-87A6-DF9E7760F940}" sibTransId="{517BC9A2-293F-441F-A2A5-E61BCF9D5BEC}"/>
    <dgm:cxn modelId="{CF558BAB-26AF-D049-9BFE-39A182FC6B4C}" type="presOf" srcId="{2FB5BFB6-66A2-4841-BEA3-AFF409950676}" destId="{A5D69153-0BE6-504F-A68D-7EE2ECFBCAAE}" srcOrd="0" destOrd="0" presId="urn:microsoft.com/office/officeart/2005/8/layout/vList2"/>
    <dgm:cxn modelId="{939E70D2-B074-4AF9-A6C9-C8AC722E0927}" srcId="{A38943AB-E382-4A6E-AB96-48BE117E3F3D}" destId="{02A15B46-C288-4615-9564-F932A65DF4E3}" srcOrd="2" destOrd="0" parTransId="{0F063F3B-379A-4EF4-A04A-2C645DF1F912}" sibTransId="{9F1EC88B-5C67-48B8-9F11-96D66748DF42}"/>
    <dgm:cxn modelId="{96F1AFF5-7B3C-C042-A979-6B0FD4DA75B4}" type="presParOf" srcId="{A5D69153-0BE6-504F-A68D-7EE2ECFBCAAE}" destId="{1ECC4A4D-4937-2C4E-B9C8-36BA08C2BB5E}" srcOrd="0" destOrd="0" presId="urn:microsoft.com/office/officeart/2005/8/layout/vList2"/>
    <dgm:cxn modelId="{C56C0F37-F59F-D34C-B55A-00DEE7AC2F64}" type="presParOf" srcId="{A5D69153-0BE6-504F-A68D-7EE2ECFBCAAE}" destId="{2CD817D0-AF2E-5B45-B4BE-4632C1866715}" srcOrd="1" destOrd="0" presId="urn:microsoft.com/office/officeart/2005/8/layout/vList2"/>
    <dgm:cxn modelId="{A9BA7CE5-E8DA-6849-B8BB-084C80EC0AEC}" type="presParOf" srcId="{A5D69153-0BE6-504F-A68D-7EE2ECFBCAAE}" destId="{E641E8F0-110B-1146-A741-B4ACE582CFBD}" srcOrd="2" destOrd="0" presId="urn:microsoft.com/office/officeart/2005/8/layout/vList2"/>
    <dgm:cxn modelId="{9B54C6EE-B332-B842-899D-C441526D35CC}" type="presParOf" srcId="{A5D69153-0BE6-504F-A68D-7EE2ECFBCAAE}" destId="{560BE02F-103B-ED44-BA32-9A4861D7CEC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D97252-ECDA-492E-B322-D0CA1738AFEE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10D463-AFD8-4387-BCDF-1EE1515BBC42}">
      <dgm:prSet/>
      <dgm:spPr/>
      <dgm:t>
        <a:bodyPr/>
        <a:lstStyle/>
        <a:p>
          <a:r>
            <a:rPr lang="en-GB"/>
            <a:t>rehearsal</a:t>
          </a:r>
          <a:endParaRPr lang="en-US"/>
        </a:p>
      </dgm:t>
    </dgm:pt>
    <dgm:pt modelId="{3610C4E5-22A3-4128-AE31-47D0738FD5A8}" type="parTrans" cxnId="{4A1AA1D1-3BE9-497F-86B5-905F589716D8}">
      <dgm:prSet/>
      <dgm:spPr/>
      <dgm:t>
        <a:bodyPr/>
        <a:lstStyle/>
        <a:p>
          <a:endParaRPr lang="en-US"/>
        </a:p>
      </dgm:t>
    </dgm:pt>
    <dgm:pt modelId="{508178AE-B753-47D7-8FBF-A0CC84AE33F5}" type="sibTrans" cxnId="{4A1AA1D1-3BE9-497F-86B5-905F589716D8}">
      <dgm:prSet/>
      <dgm:spPr/>
      <dgm:t>
        <a:bodyPr/>
        <a:lstStyle/>
        <a:p>
          <a:endParaRPr lang="en-US"/>
        </a:p>
      </dgm:t>
    </dgm:pt>
    <dgm:pt modelId="{1AFE4593-A09D-4D87-BAA0-263972069EA8}">
      <dgm:prSet/>
      <dgm:spPr/>
      <dgm:t>
        <a:bodyPr/>
        <a:lstStyle/>
        <a:p>
          <a:r>
            <a:rPr lang="en-GB"/>
            <a:t>information moves from STM to LTM</a:t>
          </a:r>
          <a:endParaRPr lang="en-US"/>
        </a:p>
      </dgm:t>
    </dgm:pt>
    <dgm:pt modelId="{94097482-F162-474C-853D-82B037CDB0DE}" type="parTrans" cxnId="{6CCB05C5-05D9-4A61-AE42-C54E34785A10}">
      <dgm:prSet/>
      <dgm:spPr/>
      <dgm:t>
        <a:bodyPr/>
        <a:lstStyle/>
        <a:p>
          <a:endParaRPr lang="en-US"/>
        </a:p>
      </dgm:t>
    </dgm:pt>
    <dgm:pt modelId="{E69A5464-6E4C-4CBF-9C27-D8FC8D700463}" type="sibTrans" cxnId="{6CCB05C5-05D9-4A61-AE42-C54E34785A10}">
      <dgm:prSet/>
      <dgm:spPr/>
      <dgm:t>
        <a:bodyPr/>
        <a:lstStyle/>
        <a:p>
          <a:endParaRPr lang="en-US"/>
        </a:p>
      </dgm:t>
    </dgm:pt>
    <dgm:pt modelId="{FE0A25AB-3D95-4539-9DC6-1F5142B57643}">
      <dgm:prSet/>
      <dgm:spPr/>
      <dgm:t>
        <a:bodyPr/>
        <a:lstStyle/>
        <a:p>
          <a:r>
            <a:rPr lang="en-GB"/>
            <a:t>total time hypothesis</a:t>
          </a:r>
          <a:endParaRPr lang="en-US"/>
        </a:p>
      </dgm:t>
    </dgm:pt>
    <dgm:pt modelId="{0B7FB89E-164D-495D-ACEB-E09E0160A26E}" type="parTrans" cxnId="{8BA7C078-2D92-47FE-A324-BA68AE5163B3}">
      <dgm:prSet/>
      <dgm:spPr/>
      <dgm:t>
        <a:bodyPr/>
        <a:lstStyle/>
        <a:p>
          <a:endParaRPr lang="en-US"/>
        </a:p>
      </dgm:t>
    </dgm:pt>
    <dgm:pt modelId="{AF33684A-9AAE-4FD2-90DE-6598303E6D2B}" type="sibTrans" cxnId="{8BA7C078-2D92-47FE-A324-BA68AE5163B3}">
      <dgm:prSet/>
      <dgm:spPr/>
      <dgm:t>
        <a:bodyPr/>
        <a:lstStyle/>
        <a:p>
          <a:endParaRPr lang="en-US"/>
        </a:p>
      </dgm:t>
    </dgm:pt>
    <dgm:pt modelId="{34EE17CC-4191-47DB-8649-A6CF300ECAEB}">
      <dgm:prSet/>
      <dgm:spPr/>
      <dgm:t>
        <a:bodyPr/>
        <a:lstStyle/>
        <a:p>
          <a:r>
            <a:rPr lang="en-GB"/>
            <a:t>amount retained proportional to rehearsal time</a:t>
          </a:r>
          <a:endParaRPr lang="en-US"/>
        </a:p>
      </dgm:t>
    </dgm:pt>
    <dgm:pt modelId="{7295F642-04A1-4963-91B2-9F620B00B09B}" type="parTrans" cxnId="{3FFC3593-F46B-42C3-8FC7-79E96600BB5B}">
      <dgm:prSet/>
      <dgm:spPr/>
      <dgm:t>
        <a:bodyPr/>
        <a:lstStyle/>
        <a:p>
          <a:endParaRPr lang="en-US"/>
        </a:p>
      </dgm:t>
    </dgm:pt>
    <dgm:pt modelId="{2BEBEC1A-F599-4965-818D-4BE41805E71E}" type="sibTrans" cxnId="{3FFC3593-F46B-42C3-8FC7-79E96600BB5B}">
      <dgm:prSet/>
      <dgm:spPr/>
      <dgm:t>
        <a:bodyPr/>
        <a:lstStyle/>
        <a:p>
          <a:endParaRPr lang="en-US"/>
        </a:p>
      </dgm:t>
    </dgm:pt>
    <dgm:pt modelId="{B70632F1-EE6D-4C4D-8753-285266390830}">
      <dgm:prSet/>
      <dgm:spPr/>
      <dgm:t>
        <a:bodyPr/>
        <a:lstStyle/>
        <a:p>
          <a:r>
            <a:rPr lang="en-GB"/>
            <a:t>distribution of practice effect</a:t>
          </a:r>
          <a:endParaRPr lang="en-US"/>
        </a:p>
      </dgm:t>
    </dgm:pt>
    <dgm:pt modelId="{C6875069-F101-4C4A-AF1B-811C710173F9}" type="parTrans" cxnId="{3ED0B967-753B-431B-9909-1FDC57D43ACC}">
      <dgm:prSet/>
      <dgm:spPr/>
      <dgm:t>
        <a:bodyPr/>
        <a:lstStyle/>
        <a:p>
          <a:endParaRPr lang="en-US"/>
        </a:p>
      </dgm:t>
    </dgm:pt>
    <dgm:pt modelId="{7458ED4B-822B-4FEA-8948-43A743DB2246}" type="sibTrans" cxnId="{3ED0B967-753B-431B-9909-1FDC57D43ACC}">
      <dgm:prSet/>
      <dgm:spPr/>
      <dgm:t>
        <a:bodyPr/>
        <a:lstStyle/>
        <a:p>
          <a:endParaRPr lang="en-US"/>
        </a:p>
      </dgm:t>
    </dgm:pt>
    <dgm:pt modelId="{F9B0B81C-47BB-4606-9622-DEFF192E8045}">
      <dgm:prSet/>
      <dgm:spPr/>
      <dgm:t>
        <a:bodyPr/>
        <a:lstStyle/>
        <a:p>
          <a:r>
            <a:rPr lang="en-GB"/>
            <a:t>optimized by spreading learning over time</a:t>
          </a:r>
          <a:endParaRPr lang="en-US"/>
        </a:p>
      </dgm:t>
    </dgm:pt>
    <dgm:pt modelId="{BB61CA49-3921-4CA4-A892-098B7BBAE43D}" type="parTrans" cxnId="{EC91A6E2-46A5-43EA-8453-973E41656225}">
      <dgm:prSet/>
      <dgm:spPr/>
      <dgm:t>
        <a:bodyPr/>
        <a:lstStyle/>
        <a:p>
          <a:endParaRPr lang="en-US"/>
        </a:p>
      </dgm:t>
    </dgm:pt>
    <dgm:pt modelId="{B5F0E4D4-6613-4C71-8E20-29DA7E95EB4A}" type="sibTrans" cxnId="{EC91A6E2-46A5-43EA-8453-973E41656225}">
      <dgm:prSet/>
      <dgm:spPr/>
      <dgm:t>
        <a:bodyPr/>
        <a:lstStyle/>
        <a:p>
          <a:endParaRPr lang="en-US"/>
        </a:p>
      </dgm:t>
    </dgm:pt>
    <dgm:pt modelId="{AEBECED5-BC0B-48AA-8086-B2B3E4550136}">
      <dgm:prSet/>
      <dgm:spPr/>
      <dgm:t>
        <a:bodyPr/>
        <a:lstStyle/>
        <a:p>
          <a:r>
            <a:rPr lang="en-GB"/>
            <a:t>structure, meaning and familiarity</a:t>
          </a:r>
          <a:endParaRPr lang="en-US"/>
        </a:p>
      </dgm:t>
    </dgm:pt>
    <dgm:pt modelId="{6BE4D8AA-4162-4C6E-8C65-04337B89864F}" type="parTrans" cxnId="{1873E668-3846-4943-95D8-B8849DA6D125}">
      <dgm:prSet/>
      <dgm:spPr/>
      <dgm:t>
        <a:bodyPr/>
        <a:lstStyle/>
        <a:p>
          <a:endParaRPr lang="en-US"/>
        </a:p>
      </dgm:t>
    </dgm:pt>
    <dgm:pt modelId="{35BB04F5-6E8D-42E8-A705-924081E30CEB}" type="sibTrans" cxnId="{1873E668-3846-4943-95D8-B8849DA6D125}">
      <dgm:prSet/>
      <dgm:spPr/>
      <dgm:t>
        <a:bodyPr/>
        <a:lstStyle/>
        <a:p>
          <a:endParaRPr lang="en-US"/>
        </a:p>
      </dgm:t>
    </dgm:pt>
    <dgm:pt modelId="{1F7EE9EA-03D6-4C70-AE94-126649ECC27E}">
      <dgm:prSet/>
      <dgm:spPr/>
      <dgm:t>
        <a:bodyPr/>
        <a:lstStyle/>
        <a:p>
          <a:r>
            <a:rPr lang="en-GB"/>
            <a:t>information easier to remember</a:t>
          </a:r>
          <a:endParaRPr lang="en-US"/>
        </a:p>
      </dgm:t>
    </dgm:pt>
    <dgm:pt modelId="{D2FDBCEF-E94D-49AC-A5B4-EA7945DD9027}" type="parTrans" cxnId="{E5FAEB69-9B39-462A-B901-DBECBDE7DD71}">
      <dgm:prSet/>
      <dgm:spPr/>
      <dgm:t>
        <a:bodyPr/>
        <a:lstStyle/>
        <a:p>
          <a:endParaRPr lang="en-US"/>
        </a:p>
      </dgm:t>
    </dgm:pt>
    <dgm:pt modelId="{B03E087B-C545-44AE-9C13-F8456E22DC6A}" type="sibTrans" cxnId="{E5FAEB69-9B39-462A-B901-DBECBDE7DD71}">
      <dgm:prSet/>
      <dgm:spPr/>
      <dgm:t>
        <a:bodyPr/>
        <a:lstStyle/>
        <a:p>
          <a:endParaRPr lang="en-US"/>
        </a:p>
      </dgm:t>
    </dgm:pt>
    <dgm:pt modelId="{487E24F5-23BD-4C4E-8FCF-98F3449FD9F5}" type="pres">
      <dgm:prSet presAssocID="{CBD97252-ECDA-492E-B322-D0CA1738AFEE}" presName="Name0" presStyleCnt="0">
        <dgm:presLayoutVars>
          <dgm:dir/>
          <dgm:animLvl val="lvl"/>
          <dgm:resizeHandles val="exact"/>
        </dgm:presLayoutVars>
      </dgm:prSet>
      <dgm:spPr/>
    </dgm:pt>
    <dgm:pt modelId="{2DD5EEFF-9C21-EE43-A6B6-34B1215B5D7D}" type="pres">
      <dgm:prSet presAssocID="{7410D463-AFD8-4387-BCDF-1EE1515BBC42}" presName="linNode" presStyleCnt="0"/>
      <dgm:spPr/>
    </dgm:pt>
    <dgm:pt modelId="{10419315-B0B0-9E48-8FCD-503C5F8455C6}" type="pres">
      <dgm:prSet presAssocID="{7410D463-AFD8-4387-BCDF-1EE1515BBC4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2815E27-87B7-1C43-A2BE-6E37FA15299A}" type="pres">
      <dgm:prSet presAssocID="{7410D463-AFD8-4387-BCDF-1EE1515BBC42}" presName="descendantText" presStyleLbl="alignAccFollowNode1" presStyleIdx="0" presStyleCnt="4">
        <dgm:presLayoutVars>
          <dgm:bulletEnabled val="1"/>
        </dgm:presLayoutVars>
      </dgm:prSet>
      <dgm:spPr/>
    </dgm:pt>
    <dgm:pt modelId="{AE2966AC-5839-FC45-BFC3-7EE292F67825}" type="pres">
      <dgm:prSet presAssocID="{508178AE-B753-47D7-8FBF-A0CC84AE33F5}" presName="sp" presStyleCnt="0"/>
      <dgm:spPr/>
    </dgm:pt>
    <dgm:pt modelId="{B469C4E1-1508-0645-92D6-92806FDE20F3}" type="pres">
      <dgm:prSet presAssocID="{FE0A25AB-3D95-4539-9DC6-1F5142B57643}" presName="linNode" presStyleCnt="0"/>
      <dgm:spPr/>
    </dgm:pt>
    <dgm:pt modelId="{885110BD-4FE7-504A-9F2F-9E65036E236E}" type="pres">
      <dgm:prSet presAssocID="{FE0A25AB-3D95-4539-9DC6-1F5142B5764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25861E2-D25E-944F-A4CB-5A65A5C180AD}" type="pres">
      <dgm:prSet presAssocID="{FE0A25AB-3D95-4539-9DC6-1F5142B57643}" presName="descendantText" presStyleLbl="alignAccFollowNode1" presStyleIdx="1" presStyleCnt="4">
        <dgm:presLayoutVars>
          <dgm:bulletEnabled val="1"/>
        </dgm:presLayoutVars>
      </dgm:prSet>
      <dgm:spPr/>
    </dgm:pt>
    <dgm:pt modelId="{645CA34E-9BFC-1C41-910A-DB60EC092904}" type="pres">
      <dgm:prSet presAssocID="{AF33684A-9AAE-4FD2-90DE-6598303E6D2B}" presName="sp" presStyleCnt="0"/>
      <dgm:spPr/>
    </dgm:pt>
    <dgm:pt modelId="{A24CF044-C06E-5448-89DE-71C0619B6857}" type="pres">
      <dgm:prSet presAssocID="{B70632F1-EE6D-4C4D-8753-285266390830}" presName="linNode" presStyleCnt="0"/>
      <dgm:spPr/>
    </dgm:pt>
    <dgm:pt modelId="{B6556947-4F90-BE46-B518-E400AEE81F67}" type="pres">
      <dgm:prSet presAssocID="{B70632F1-EE6D-4C4D-8753-28526639083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91C8300-EBAE-5846-A1E6-1156D72BE454}" type="pres">
      <dgm:prSet presAssocID="{B70632F1-EE6D-4C4D-8753-285266390830}" presName="descendantText" presStyleLbl="alignAccFollowNode1" presStyleIdx="2" presStyleCnt="4">
        <dgm:presLayoutVars>
          <dgm:bulletEnabled val="1"/>
        </dgm:presLayoutVars>
      </dgm:prSet>
      <dgm:spPr/>
    </dgm:pt>
    <dgm:pt modelId="{377FDD7B-8146-8844-BE75-D5D631C84A20}" type="pres">
      <dgm:prSet presAssocID="{7458ED4B-822B-4FEA-8948-43A743DB2246}" presName="sp" presStyleCnt="0"/>
      <dgm:spPr/>
    </dgm:pt>
    <dgm:pt modelId="{0A8BF6E3-36CC-FD41-8125-F680C24D8663}" type="pres">
      <dgm:prSet presAssocID="{AEBECED5-BC0B-48AA-8086-B2B3E4550136}" presName="linNode" presStyleCnt="0"/>
      <dgm:spPr/>
    </dgm:pt>
    <dgm:pt modelId="{A875A0E3-683F-0741-8627-D37A1D50031B}" type="pres">
      <dgm:prSet presAssocID="{AEBECED5-BC0B-48AA-8086-B2B3E4550136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5DE3552-C68B-984A-90C2-B1AC5A80BA3D}" type="pres">
      <dgm:prSet presAssocID="{AEBECED5-BC0B-48AA-8086-B2B3E4550136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B5B7F06-70DB-3D47-9286-F8340A4C428E}" type="presOf" srcId="{CBD97252-ECDA-492E-B322-D0CA1738AFEE}" destId="{487E24F5-23BD-4C4E-8FCF-98F3449FD9F5}" srcOrd="0" destOrd="0" presId="urn:microsoft.com/office/officeart/2005/8/layout/vList5"/>
    <dgm:cxn modelId="{3243B029-38EF-1443-9F08-03F5EFED5BDB}" type="presOf" srcId="{34EE17CC-4191-47DB-8649-A6CF300ECAEB}" destId="{E25861E2-D25E-944F-A4CB-5A65A5C180AD}" srcOrd="0" destOrd="0" presId="urn:microsoft.com/office/officeart/2005/8/layout/vList5"/>
    <dgm:cxn modelId="{3C99852A-C4B8-5E43-A21F-FDDD498F5013}" type="presOf" srcId="{7410D463-AFD8-4387-BCDF-1EE1515BBC42}" destId="{10419315-B0B0-9E48-8FCD-503C5F8455C6}" srcOrd="0" destOrd="0" presId="urn:microsoft.com/office/officeart/2005/8/layout/vList5"/>
    <dgm:cxn modelId="{C5231045-4EF5-2144-AA3F-CF54F1BBF7EE}" type="presOf" srcId="{AEBECED5-BC0B-48AA-8086-B2B3E4550136}" destId="{A875A0E3-683F-0741-8627-D37A1D50031B}" srcOrd="0" destOrd="0" presId="urn:microsoft.com/office/officeart/2005/8/layout/vList5"/>
    <dgm:cxn modelId="{F4A88D54-658A-024C-8246-FEC2B3CCF97A}" type="presOf" srcId="{FE0A25AB-3D95-4539-9DC6-1F5142B57643}" destId="{885110BD-4FE7-504A-9F2F-9E65036E236E}" srcOrd="0" destOrd="0" presId="urn:microsoft.com/office/officeart/2005/8/layout/vList5"/>
    <dgm:cxn modelId="{1D4C5259-20AF-3A43-A68B-FAEE11E164EB}" type="presOf" srcId="{1AFE4593-A09D-4D87-BAA0-263972069EA8}" destId="{C2815E27-87B7-1C43-A2BE-6E37FA15299A}" srcOrd="0" destOrd="0" presId="urn:microsoft.com/office/officeart/2005/8/layout/vList5"/>
    <dgm:cxn modelId="{36C6395E-CD94-4742-941F-5252E31B55DA}" type="presOf" srcId="{F9B0B81C-47BB-4606-9622-DEFF192E8045}" destId="{191C8300-EBAE-5846-A1E6-1156D72BE454}" srcOrd="0" destOrd="0" presId="urn:microsoft.com/office/officeart/2005/8/layout/vList5"/>
    <dgm:cxn modelId="{3ED0B967-753B-431B-9909-1FDC57D43ACC}" srcId="{CBD97252-ECDA-492E-B322-D0CA1738AFEE}" destId="{B70632F1-EE6D-4C4D-8753-285266390830}" srcOrd="2" destOrd="0" parTransId="{C6875069-F101-4C4A-AF1B-811C710173F9}" sibTransId="{7458ED4B-822B-4FEA-8948-43A743DB2246}"/>
    <dgm:cxn modelId="{1873E668-3846-4943-95D8-B8849DA6D125}" srcId="{CBD97252-ECDA-492E-B322-D0CA1738AFEE}" destId="{AEBECED5-BC0B-48AA-8086-B2B3E4550136}" srcOrd="3" destOrd="0" parTransId="{6BE4D8AA-4162-4C6E-8C65-04337B89864F}" sibTransId="{35BB04F5-6E8D-42E8-A705-924081E30CEB}"/>
    <dgm:cxn modelId="{E5FAEB69-9B39-462A-B901-DBECBDE7DD71}" srcId="{AEBECED5-BC0B-48AA-8086-B2B3E4550136}" destId="{1F7EE9EA-03D6-4C70-AE94-126649ECC27E}" srcOrd="0" destOrd="0" parTransId="{D2FDBCEF-E94D-49AC-A5B4-EA7945DD9027}" sibTransId="{B03E087B-C545-44AE-9C13-F8456E22DC6A}"/>
    <dgm:cxn modelId="{8BA7C078-2D92-47FE-A324-BA68AE5163B3}" srcId="{CBD97252-ECDA-492E-B322-D0CA1738AFEE}" destId="{FE0A25AB-3D95-4539-9DC6-1F5142B57643}" srcOrd="1" destOrd="0" parTransId="{0B7FB89E-164D-495D-ACEB-E09E0160A26E}" sibTransId="{AF33684A-9AAE-4FD2-90DE-6598303E6D2B}"/>
    <dgm:cxn modelId="{3FFC3593-F46B-42C3-8FC7-79E96600BB5B}" srcId="{FE0A25AB-3D95-4539-9DC6-1F5142B57643}" destId="{34EE17CC-4191-47DB-8649-A6CF300ECAEB}" srcOrd="0" destOrd="0" parTransId="{7295F642-04A1-4963-91B2-9F620B00B09B}" sibTransId="{2BEBEC1A-F599-4965-818D-4BE41805E71E}"/>
    <dgm:cxn modelId="{AFADFF9D-0D01-2A4C-9D8E-8C12D5275933}" type="presOf" srcId="{1F7EE9EA-03D6-4C70-AE94-126649ECC27E}" destId="{E5DE3552-C68B-984A-90C2-B1AC5A80BA3D}" srcOrd="0" destOrd="0" presId="urn:microsoft.com/office/officeart/2005/8/layout/vList5"/>
    <dgm:cxn modelId="{6CCB05C5-05D9-4A61-AE42-C54E34785A10}" srcId="{7410D463-AFD8-4387-BCDF-1EE1515BBC42}" destId="{1AFE4593-A09D-4D87-BAA0-263972069EA8}" srcOrd="0" destOrd="0" parTransId="{94097482-F162-474C-853D-82B037CDB0DE}" sibTransId="{E69A5464-6E4C-4CBF-9C27-D8FC8D700463}"/>
    <dgm:cxn modelId="{4A1AA1D1-3BE9-497F-86B5-905F589716D8}" srcId="{CBD97252-ECDA-492E-B322-D0CA1738AFEE}" destId="{7410D463-AFD8-4387-BCDF-1EE1515BBC42}" srcOrd="0" destOrd="0" parTransId="{3610C4E5-22A3-4128-AE31-47D0738FD5A8}" sibTransId="{508178AE-B753-47D7-8FBF-A0CC84AE33F5}"/>
    <dgm:cxn modelId="{EC91A6E2-46A5-43EA-8453-973E41656225}" srcId="{B70632F1-EE6D-4C4D-8753-285266390830}" destId="{F9B0B81C-47BB-4606-9622-DEFF192E8045}" srcOrd="0" destOrd="0" parTransId="{BB61CA49-3921-4CA4-A892-098B7BBAE43D}" sibTransId="{B5F0E4D4-6613-4C71-8E20-29DA7E95EB4A}"/>
    <dgm:cxn modelId="{A4B248F0-EF70-CC43-8548-04D2B3AD7618}" type="presOf" srcId="{B70632F1-EE6D-4C4D-8753-285266390830}" destId="{B6556947-4F90-BE46-B518-E400AEE81F67}" srcOrd="0" destOrd="0" presId="urn:microsoft.com/office/officeart/2005/8/layout/vList5"/>
    <dgm:cxn modelId="{8C76D032-2EC3-E54E-8086-064892C639C7}" type="presParOf" srcId="{487E24F5-23BD-4C4E-8FCF-98F3449FD9F5}" destId="{2DD5EEFF-9C21-EE43-A6B6-34B1215B5D7D}" srcOrd="0" destOrd="0" presId="urn:microsoft.com/office/officeart/2005/8/layout/vList5"/>
    <dgm:cxn modelId="{B96B79F2-E30D-C342-807F-D674488787A5}" type="presParOf" srcId="{2DD5EEFF-9C21-EE43-A6B6-34B1215B5D7D}" destId="{10419315-B0B0-9E48-8FCD-503C5F8455C6}" srcOrd="0" destOrd="0" presId="urn:microsoft.com/office/officeart/2005/8/layout/vList5"/>
    <dgm:cxn modelId="{8A67AB05-131C-5342-8E54-078F2A680504}" type="presParOf" srcId="{2DD5EEFF-9C21-EE43-A6B6-34B1215B5D7D}" destId="{C2815E27-87B7-1C43-A2BE-6E37FA15299A}" srcOrd="1" destOrd="0" presId="urn:microsoft.com/office/officeart/2005/8/layout/vList5"/>
    <dgm:cxn modelId="{EE166533-D4EE-4B41-B61E-64C40CFD2B42}" type="presParOf" srcId="{487E24F5-23BD-4C4E-8FCF-98F3449FD9F5}" destId="{AE2966AC-5839-FC45-BFC3-7EE292F67825}" srcOrd="1" destOrd="0" presId="urn:microsoft.com/office/officeart/2005/8/layout/vList5"/>
    <dgm:cxn modelId="{2082DBB7-A52A-9546-83D5-6EC0DCB9532B}" type="presParOf" srcId="{487E24F5-23BD-4C4E-8FCF-98F3449FD9F5}" destId="{B469C4E1-1508-0645-92D6-92806FDE20F3}" srcOrd="2" destOrd="0" presId="urn:microsoft.com/office/officeart/2005/8/layout/vList5"/>
    <dgm:cxn modelId="{08F5FF09-C25A-C049-B439-D762BB1FF2E3}" type="presParOf" srcId="{B469C4E1-1508-0645-92D6-92806FDE20F3}" destId="{885110BD-4FE7-504A-9F2F-9E65036E236E}" srcOrd="0" destOrd="0" presId="urn:microsoft.com/office/officeart/2005/8/layout/vList5"/>
    <dgm:cxn modelId="{2BB71A1A-0E28-774C-A5FD-B7AABE2E0D5E}" type="presParOf" srcId="{B469C4E1-1508-0645-92D6-92806FDE20F3}" destId="{E25861E2-D25E-944F-A4CB-5A65A5C180AD}" srcOrd="1" destOrd="0" presId="urn:microsoft.com/office/officeart/2005/8/layout/vList5"/>
    <dgm:cxn modelId="{DCDF6E4F-3A0F-4444-92E9-7E674992D202}" type="presParOf" srcId="{487E24F5-23BD-4C4E-8FCF-98F3449FD9F5}" destId="{645CA34E-9BFC-1C41-910A-DB60EC092904}" srcOrd="3" destOrd="0" presId="urn:microsoft.com/office/officeart/2005/8/layout/vList5"/>
    <dgm:cxn modelId="{4127368F-5520-784B-B9DE-1CE97F6C6B92}" type="presParOf" srcId="{487E24F5-23BD-4C4E-8FCF-98F3449FD9F5}" destId="{A24CF044-C06E-5448-89DE-71C0619B6857}" srcOrd="4" destOrd="0" presId="urn:microsoft.com/office/officeart/2005/8/layout/vList5"/>
    <dgm:cxn modelId="{7E3C57D2-9B63-E84D-A443-D004AC081448}" type="presParOf" srcId="{A24CF044-C06E-5448-89DE-71C0619B6857}" destId="{B6556947-4F90-BE46-B518-E400AEE81F67}" srcOrd="0" destOrd="0" presId="urn:microsoft.com/office/officeart/2005/8/layout/vList5"/>
    <dgm:cxn modelId="{E310F2FB-B22A-CB47-B4DE-D82F4ACB8EC0}" type="presParOf" srcId="{A24CF044-C06E-5448-89DE-71C0619B6857}" destId="{191C8300-EBAE-5846-A1E6-1156D72BE454}" srcOrd="1" destOrd="0" presId="urn:microsoft.com/office/officeart/2005/8/layout/vList5"/>
    <dgm:cxn modelId="{9994D644-C08B-6241-B437-97472900189A}" type="presParOf" srcId="{487E24F5-23BD-4C4E-8FCF-98F3449FD9F5}" destId="{377FDD7B-8146-8844-BE75-D5D631C84A20}" srcOrd="5" destOrd="0" presId="urn:microsoft.com/office/officeart/2005/8/layout/vList5"/>
    <dgm:cxn modelId="{00546A3A-55A0-A444-8E71-6472FDC9CEC0}" type="presParOf" srcId="{487E24F5-23BD-4C4E-8FCF-98F3449FD9F5}" destId="{0A8BF6E3-36CC-FD41-8125-F680C24D8663}" srcOrd="6" destOrd="0" presId="urn:microsoft.com/office/officeart/2005/8/layout/vList5"/>
    <dgm:cxn modelId="{3CE92A0A-694A-3E4B-BFD2-2869656CE809}" type="presParOf" srcId="{0A8BF6E3-36CC-FD41-8125-F680C24D8663}" destId="{A875A0E3-683F-0741-8627-D37A1D50031B}" srcOrd="0" destOrd="0" presId="urn:microsoft.com/office/officeart/2005/8/layout/vList5"/>
    <dgm:cxn modelId="{F0A34F42-0177-D445-84E5-618A90C64C11}" type="presParOf" srcId="{0A8BF6E3-36CC-FD41-8125-F680C24D8663}" destId="{E5DE3552-C68B-984A-90C2-B1AC5A80BA3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EC1E7-ACF6-49AC-9D00-7831CAEEB8BC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EC01406-2E08-4512-8411-21B28BE5F6D6}">
      <dgm:prSet/>
      <dgm:spPr/>
      <dgm:t>
        <a:bodyPr/>
        <a:lstStyle/>
        <a:p>
          <a:r>
            <a:rPr lang="en-GB"/>
            <a:t>recall </a:t>
          </a:r>
          <a:endParaRPr lang="en-US"/>
        </a:p>
      </dgm:t>
    </dgm:pt>
    <dgm:pt modelId="{58333F9D-5A38-4E9C-85C1-B23A2954EE5A}" type="parTrans" cxnId="{988E5C20-802B-4553-8E59-ED2437ADA633}">
      <dgm:prSet/>
      <dgm:spPr/>
      <dgm:t>
        <a:bodyPr/>
        <a:lstStyle/>
        <a:p>
          <a:endParaRPr lang="en-US"/>
        </a:p>
      </dgm:t>
    </dgm:pt>
    <dgm:pt modelId="{AB324B37-6026-4870-950B-E58EC3089710}" type="sibTrans" cxnId="{988E5C20-802B-4553-8E59-ED2437ADA633}">
      <dgm:prSet/>
      <dgm:spPr/>
      <dgm:t>
        <a:bodyPr/>
        <a:lstStyle/>
        <a:p>
          <a:endParaRPr lang="en-US"/>
        </a:p>
      </dgm:t>
    </dgm:pt>
    <dgm:pt modelId="{153B7733-31E6-45AC-87FF-49863BE9D5FC}">
      <dgm:prSet/>
      <dgm:spPr/>
      <dgm:t>
        <a:bodyPr/>
        <a:lstStyle/>
        <a:p>
          <a:r>
            <a:rPr lang="en-GB"/>
            <a:t>information reproduced from memory can be assisted by cues, e.g. categories, imagery</a:t>
          </a:r>
          <a:endParaRPr lang="en-US"/>
        </a:p>
      </dgm:t>
    </dgm:pt>
    <dgm:pt modelId="{C26FA8DA-1E32-45FA-8029-E314DA8D5B70}" type="parTrans" cxnId="{6D8DBC37-9CA8-4F5A-9193-2DE73245C9F5}">
      <dgm:prSet/>
      <dgm:spPr/>
      <dgm:t>
        <a:bodyPr/>
        <a:lstStyle/>
        <a:p>
          <a:endParaRPr lang="en-US"/>
        </a:p>
      </dgm:t>
    </dgm:pt>
    <dgm:pt modelId="{C165106A-1CD7-460F-8C8C-AC07F72A869C}" type="sibTrans" cxnId="{6D8DBC37-9CA8-4F5A-9193-2DE73245C9F5}">
      <dgm:prSet/>
      <dgm:spPr/>
      <dgm:t>
        <a:bodyPr/>
        <a:lstStyle/>
        <a:p>
          <a:endParaRPr lang="en-US"/>
        </a:p>
      </dgm:t>
    </dgm:pt>
    <dgm:pt modelId="{7122365F-CA6B-459D-B575-C2DAB5629751}">
      <dgm:prSet/>
      <dgm:spPr/>
      <dgm:t>
        <a:bodyPr/>
        <a:lstStyle/>
        <a:p>
          <a:r>
            <a:rPr lang="en-GB"/>
            <a:t>recognition</a:t>
          </a:r>
          <a:endParaRPr lang="en-US"/>
        </a:p>
      </dgm:t>
    </dgm:pt>
    <dgm:pt modelId="{16298CF7-3C65-4CBE-8926-5E13245433FA}" type="parTrans" cxnId="{2F59EA70-665A-41AB-8796-F5875EEC46FC}">
      <dgm:prSet/>
      <dgm:spPr/>
      <dgm:t>
        <a:bodyPr/>
        <a:lstStyle/>
        <a:p>
          <a:endParaRPr lang="en-US"/>
        </a:p>
      </dgm:t>
    </dgm:pt>
    <dgm:pt modelId="{84BA4ED1-DC53-4234-9BD6-35BE75057D18}" type="sibTrans" cxnId="{2F59EA70-665A-41AB-8796-F5875EEC46FC}">
      <dgm:prSet/>
      <dgm:spPr/>
      <dgm:t>
        <a:bodyPr/>
        <a:lstStyle/>
        <a:p>
          <a:endParaRPr lang="en-US"/>
        </a:p>
      </dgm:t>
    </dgm:pt>
    <dgm:pt modelId="{10D2911C-E31E-4520-8E15-7E48B4FE5916}">
      <dgm:prSet/>
      <dgm:spPr/>
      <dgm:t>
        <a:bodyPr/>
        <a:lstStyle/>
        <a:p>
          <a:r>
            <a:rPr lang="en-GB"/>
            <a:t>information gives knowledge that it has been seen before</a:t>
          </a:r>
          <a:endParaRPr lang="en-US"/>
        </a:p>
      </dgm:t>
    </dgm:pt>
    <dgm:pt modelId="{D76B6CFA-F9EE-404F-A708-2DF6E1D3AD98}" type="parTrans" cxnId="{63C6E18E-1CB4-4EFB-BD7B-C640F77D545B}">
      <dgm:prSet/>
      <dgm:spPr/>
      <dgm:t>
        <a:bodyPr/>
        <a:lstStyle/>
        <a:p>
          <a:endParaRPr lang="en-US"/>
        </a:p>
      </dgm:t>
    </dgm:pt>
    <dgm:pt modelId="{3783F85F-2AFF-464D-8889-34524406E74B}" type="sibTrans" cxnId="{63C6E18E-1CB4-4EFB-BD7B-C640F77D545B}">
      <dgm:prSet/>
      <dgm:spPr/>
      <dgm:t>
        <a:bodyPr/>
        <a:lstStyle/>
        <a:p>
          <a:endParaRPr lang="en-US"/>
        </a:p>
      </dgm:t>
    </dgm:pt>
    <dgm:pt modelId="{255A4CAE-9D81-4275-BAAF-FBC5AF2C106B}">
      <dgm:prSet/>
      <dgm:spPr/>
      <dgm:t>
        <a:bodyPr/>
        <a:lstStyle/>
        <a:p>
          <a:r>
            <a:rPr lang="en-GB"/>
            <a:t>less complex than recall - information is cue</a:t>
          </a:r>
          <a:endParaRPr lang="en-US"/>
        </a:p>
      </dgm:t>
    </dgm:pt>
    <dgm:pt modelId="{AC77411D-C3C2-483D-98A2-504EB6DE377F}" type="parTrans" cxnId="{2359DD59-F1AD-4ED0-8EFE-971BDF94CE91}">
      <dgm:prSet/>
      <dgm:spPr/>
      <dgm:t>
        <a:bodyPr/>
        <a:lstStyle/>
        <a:p>
          <a:endParaRPr lang="en-US"/>
        </a:p>
      </dgm:t>
    </dgm:pt>
    <dgm:pt modelId="{1895251B-9776-490F-A86B-CDC0607A9B8B}" type="sibTrans" cxnId="{2359DD59-F1AD-4ED0-8EFE-971BDF94CE91}">
      <dgm:prSet/>
      <dgm:spPr/>
      <dgm:t>
        <a:bodyPr/>
        <a:lstStyle/>
        <a:p>
          <a:endParaRPr lang="en-US"/>
        </a:p>
      </dgm:t>
    </dgm:pt>
    <dgm:pt modelId="{9269BE0C-CE0D-6B4E-ADD8-E8600A5CEF66}" type="pres">
      <dgm:prSet presAssocID="{E79EC1E7-ACF6-49AC-9D00-7831CAEEB8BC}" presName="Name0" presStyleCnt="0">
        <dgm:presLayoutVars>
          <dgm:dir/>
          <dgm:animLvl val="lvl"/>
          <dgm:resizeHandles val="exact"/>
        </dgm:presLayoutVars>
      </dgm:prSet>
      <dgm:spPr/>
    </dgm:pt>
    <dgm:pt modelId="{05F33269-A744-574E-8FE2-F9772041E7CE}" type="pres">
      <dgm:prSet presAssocID="{0EC01406-2E08-4512-8411-21B28BE5F6D6}" presName="linNode" presStyleCnt="0"/>
      <dgm:spPr/>
    </dgm:pt>
    <dgm:pt modelId="{2FD62EB7-A29B-F849-A4FB-A1EC56520068}" type="pres">
      <dgm:prSet presAssocID="{0EC01406-2E08-4512-8411-21B28BE5F6D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4601449-E761-C049-B5EE-A5CFBCC923FC}" type="pres">
      <dgm:prSet presAssocID="{0EC01406-2E08-4512-8411-21B28BE5F6D6}" presName="descendantText" presStyleLbl="alignAccFollowNode1" presStyleIdx="0" presStyleCnt="2">
        <dgm:presLayoutVars>
          <dgm:bulletEnabled val="1"/>
        </dgm:presLayoutVars>
      </dgm:prSet>
      <dgm:spPr/>
    </dgm:pt>
    <dgm:pt modelId="{AA2AAEC3-1232-DD41-9465-8F356E17F1A8}" type="pres">
      <dgm:prSet presAssocID="{AB324B37-6026-4870-950B-E58EC3089710}" presName="sp" presStyleCnt="0"/>
      <dgm:spPr/>
    </dgm:pt>
    <dgm:pt modelId="{08A681D9-CC3A-C64B-93B5-AC5E6DA43C97}" type="pres">
      <dgm:prSet presAssocID="{7122365F-CA6B-459D-B575-C2DAB5629751}" presName="linNode" presStyleCnt="0"/>
      <dgm:spPr/>
    </dgm:pt>
    <dgm:pt modelId="{02704C78-BF05-8648-9501-03ABE931B122}" type="pres">
      <dgm:prSet presAssocID="{7122365F-CA6B-459D-B575-C2DAB562975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E25972D-7EE1-4946-937D-C67921060C8D}" type="pres">
      <dgm:prSet presAssocID="{7122365F-CA6B-459D-B575-C2DAB562975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14E3E1D-1E81-8041-B3CD-6B7B81E5BC0D}" type="presOf" srcId="{0EC01406-2E08-4512-8411-21B28BE5F6D6}" destId="{2FD62EB7-A29B-F849-A4FB-A1EC56520068}" srcOrd="0" destOrd="0" presId="urn:microsoft.com/office/officeart/2005/8/layout/vList5"/>
    <dgm:cxn modelId="{988E5C20-802B-4553-8E59-ED2437ADA633}" srcId="{E79EC1E7-ACF6-49AC-9D00-7831CAEEB8BC}" destId="{0EC01406-2E08-4512-8411-21B28BE5F6D6}" srcOrd="0" destOrd="0" parTransId="{58333F9D-5A38-4E9C-85C1-B23A2954EE5A}" sibTransId="{AB324B37-6026-4870-950B-E58EC3089710}"/>
    <dgm:cxn modelId="{6D8DBC37-9CA8-4F5A-9193-2DE73245C9F5}" srcId="{0EC01406-2E08-4512-8411-21B28BE5F6D6}" destId="{153B7733-31E6-45AC-87FF-49863BE9D5FC}" srcOrd="0" destOrd="0" parTransId="{C26FA8DA-1E32-45FA-8029-E314DA8D5B70}" sibTransId="{C165106A-1CD7-460F-8C8C-AC07F72A869C}"/>
    <dgm:cxn modelId="{2359DD59-F1AD-4ED0-8EFE-971BDF94CE91}" srcId="{7122365F-CA6B-459D-B575-C2DAB5629751}" destId="{255A4CAE-9D81-4275-BAAF-FBC5AF2C106B}" srcOrd="1" destOrd="0" parTransId="{AC77411D-C3C2-483D-98A2-504EB6DE377F}" sibTransId="{1895251B-9776-490F-A86B-CDC0607A9B8B}"/>
    <dgm:cxn modelId="{E4048664-D782-3749-8E55-7C8A50F9B93D}" type="presOf" srcId="{7122365F-CA6B-459D-B575-C2DAB5629751}" destId="{02704C78-BF05-8648-9501-03ABE931B122}" srcOrd="0" destOrd="0" presId="urn:microsoft.com/office/officeart/2005/8/layout/vList5"/>
    <dgm:cxn modelId="{2F59EA70-665A-41AB-8796-F5875EEC46FC}" srcId="{E79EC1E7-ACF6-49AC-9D00-7831CAEEB8BC}" destId="{7122365F-CA6B-459D-B575-C2DAB5629751}" srcOrd="1" destOrd="0" parTransId="{16298CF7-3C65-4CBE-8926-5E13245433FA}" sibTransId="{84BA4ED1-DC53-4234-9BD6-35BE75057D18}"/>
    <dgm:cxn modelId="{EBBC9F77-3135-0241-97DB-71319F761E23}" type="presOf" srcId="{10D2911C-E31E-4520-8E15-7E48B4FE5916}" destId="{5E25972D-7EE1-4946-937D-C67921060C8D}" srcOrd="0" destOrd="0" presId="urn:microsoft.com/office/officeart/2005/8/layout/vList5"/>
    <dgm:cxn modelId="{1CBE6D7C-BC96-6D4C-83AA-AC5A95F2AB38}" type="presOf" srcId="{153B7733-31E6-45AC-87FF-49863BE9D5FC}" destId="{A4601449-E761-C049-B5EE-A5CFBCC923FC}" srcOrd="0" destOrd="0" presId="urn:microsoft.com/office/officeart/2005/8/layout/vList5"/>
    <dgm:cxn modelId="{63C6E18E-1CB4-4EFB-BD7B-C640F77D545B}" srcId="{7122365F-CA6B-459D-B575-C2DAB5629751}" destId="{10D2911C-E31E-4520-8E15-7E48B4FE5916}" srcOrd="0" destOrd="0" parTransId="{D76B6CFA-F9EE-404F-A708-2DF6E1D3AD98}" sibTransId="{3783F85F-2AFF-464D-8889-34524406E74B}"/>
    <dgm:cxn modelId="{AA91F4BC-C000-734F-8C84-C9152089EB79}" type="presOf" srcId="{255A4CAE-9D81-4275-BAAF-FBC5AF2C106B}" destId="{5E25972D-7EE1-4946-937D-C67921060C8D}" srcOrd="0" destOrd="1" presId="urn:microsoft.com/office/officeart/2005/8/layout/vList5"/>
    <dgm:cxn modelId="{ACC39AF9-DD18-8C4E-9B08-D93E32D663E5}" type="presOf" srcId="{E79EC1E7-ACF6-49AC-9D00-7831CAEEB8BC}" destId="{9269BE0C-CE0D-6B4E-ADD8-E8600A5CEF66}" srcOrd="0" destOrd="0" presId="urn:microsoft.com/office/officeart/2005/8/layout/vList5"/>
    <dgm:cxn modelId="{3999679C-FCB8-E346-BDDE-15D4B0DEE2C2}" type="presParOf" srcId="{9269BE0C-CE0D-6B4E-ADD8-E8600A5CEF66}" destId="{05F33269-A744-574E-8FE2-F9772041E7CE}" srcOrd="0" destOrd="0" presId="urn:microsoft.com/office/officeart/2005/8/layout/vList5"/>
    <dgm:cxn modelId="{17826881-F223-C041-BFBB-A26EEA865477}" type="presParOf" srcId="{05F33269-A744-574E-8FE2-F9772041E7CE}" destId="{2FD62EB7-A29B-F849-A4FB-A1EC56520068}" srcOrd="0" destOrd="0" presId="urn:microsoft.com/office/officeart/2005/8/layout/vList5"/>
    <dgm:cxn modelId="{EFD4EEED-DB1D-0647-AA82-FCC7B8012826}" type="presParOf" srcId="{05F33269-A744-574E-8FE2-F9772041E7CE}" destId="{A4601449-E761-C049-B5EE-A5CFBCC923FC}" srcOrd="1" destOrd="0" presId="urn:microsoft.com/office/officeart/2005/8/layout/vList5"/>
    <dgm:cxn modelId="{C8A9E48F-8FD5-C547-840D-A6537F92C063}" type="presParOf" srcId="{9269BE0C-CE0D-6B4E-ADD8-E8600A5CEF66}" destId="{AA2AAEC3-1232-DD41-9465-8F356E17F1A8}" srcOrd="1" destOrd="0" presId="urn:microsoft.com/office/officeart/2005/8/layout/vList5"/>
    <dgm:cxn modelId="{75A9A387-5AA0-4A44-A13A-E66465E8CD7B}" type="presParOf" srcId="{9269BE0C-CE0D-6B4E-ADD8-E8600A5CEF66}" destId="{08A681D9-CC3A-C64B-93B5-AC5E6DA43C97}" srcOrd="2" destOrd="0" presId="urn:microsoft.com/office/officeart/2005/8/layout/vList5"/>
    <dgm:cxn modelId="{C124332D-AC10-234E-9321-352B4001CB33}" type="presParOf" srcId="{08A681D9-CC3A-C64B-93B5-AC5E6DA43C97}" destId="{02704C78-BF05-8648-9501-03ABE931B122}" srcOrd="0" destOrd="0" presId="urn:microsoft.com/office/officeart/2005/8/layout/vList5"/>
    <dgm:cxn modelId="{655710E4-89FE-9B43-AF87-992639410937}" type="presParOf" srcId="{08A681D9-CC3A-C64B-93B5-AC5E6DA43C97}" destId="{5E25972D-7EE1-4946-937D-C67921060C8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C4A4D-4937-2C4E-B9C8-36BA08C2BB5E}">
      <dsp:nvSpPr>
        <dsp:cNvPr id="0" name=""/>
        <dsp:cNvSpPr/>
      </dsp:nvSpPr>
      <dsp:spPr>
        <a:xfrm>
          <a:off x="0" y="1562"/>
          <a:ext cx="6586489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Semantic memory structure</a:t>
          </a:r>
          <a:endParaRPr lang="en-US" sz="2700" kern="1200"/>
        </a:p>
      </dsp:txBody>
      <dsp:txXfrm>
        <a:off x="31613" y="33175"/>
        <a:ext cx="6523263" cy="584369"/>
      </dsp:txXfrm>
    </dsp:sp>
    <dsp:sp modelId="{2CD817D0-AF2E-5B45-B4BE-4632C1866715}">
      <dsp:nvSpPr>
        <dsp:cNvPr id="0" name=""/>
        <dsp:cNvSpPr/>
      </dsp:nvSpPr>
      <dsp:spPr>
        <a:xfrm>
          <a:off x="0" y="649157"/>
          <a:ext cx="6586489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12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provides access to information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represents relationships between bits of information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supports inference</a:t>
          </a:r>
          <a:endParaRPr lang="en-US" sz="2100" kern="1200"/>
        </a:p>
      </dsp:txBody>
      <dsp:txXfrm>
        <a:off x="0" y="649157"/>
        <a:ext cx="6586489" cy="1089854"/>
      </dsp:txXfrm>
    </dsp:sp>
    <dsp:sp modelId="{E641E8F0-110B-1146-A741-B4ACE582CFBD}">
      <dsp:nvSpPr>
        <dsp:cNvPr id="0" name=""/>
        <dsp:cNvSpPr/>
      </dsp:nvSpPr>
      <dsp:spPr>
        <a:xfrm>
          <a:off x="0" y="1739012"/>
          <a:ext cx="6586489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Model: semantic network</a:t>
          </a:r>
          <a:endParaRPr lang="en-US" sz="2700" kern="1200"/>
        </a:p>
      </dsp:txBody>
      <dsp:txXfrm>
        <a:off x="31613" y="1770625"/>
        <a:ext cx="6523263" cy="584369"/>
      </dsp:txXfrm>
    </dsp:sp>
    <dsp:sp modelId="{560BE02F-103B-ED44-BA32-9A4861D7CECA}">
      <dsp:nvSpPr>
        <dsp:cNvPr id="0" name=""/>
        <dsp:cNvSpPr/>
      </dsp:nvSpPr>
      <dsp:spPr>
        <a:xfrm>
          <a:off x="0" y="2386607"/>
          <a:ext cx="6586489" cy="1397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12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inheritance – child nodes inherit properties of parent nodes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relationships between bits of information explicit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supports inference through inheritance</a:t>
          </a:r>
          <a:endParaRPr lang="en-US" sz="2100" kern="1200"/>
        </a:p>
      </dsp:txBody>
      <dsp:txXfrm>
        <a:off x="0" y="2386607"/>
        <a:ext cx="6586489" cy="1397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15E27-87B7-1C43-A2BE-6E37FA15299A}">
      <dsp:nvSpPr>
        <dsp:cNvPr id="0" name=""/>
        <dsp:cNvSpPr/>
      </dsp:nvSpPr>
      <dsp:spPr>
        <a:xfrm rot="5400000">
          <a:off x="4114318" y="-1650163"/>
          <a:ext cx="728988" cy="42153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information moves from STM to LTM</a:t>
          </a:r>
          <a:endParaRPr lang="en-US" sz="2000" kern="1200"/>
        </a:p>
      </dsp:txBody>
      <dsp:txXfrm rot="-5400000">
        <a:off x="2371136" y="128605"/>
        <a:ext cx="4179766" cy="657816"/>
      </dsp:txXfrm>
    </dsp:sp>
    <dsp:sp modelId="{10419315-B0B0-9E48-8FCD-503C5F8455C6}">
      <dsp:nvSpPr>
        <dsp:cNvPr id="0" name=""/>
        <dsp:cNvSpPr/>
      </dsp:nvSpPr>
      <dsp:spPr>
        <a:xfrm>
          <a:off x="0" y="1894"/>
          <a:ext cx="2371136" cy="911236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rehearsal</a:t>
          </a:r>
          <a:endParaRPr lang="en-US" sz="2100" kern="1200"/>
        </a:p>
      </dsp:txBody>
      <dsp:txXfrm>
        <a:off x="44483" y="46377"/>
        <a:ext cx="2282170" cy="822270"/>
      </dsp:txXfrm>
    </dsp:sp>
    <dsp:sp modelId="{E25861E2-D25E-944F-A4CB-5A65A5C180AD}">
      <dsp:nvSpPr>
        <dsp:cNvPr id="0" name=""/>
        <dsp:cNvSpPr/>
      </dsp:nvSpPr>
      <dsp:spPr>
        <a:xfrm rot="5400000">
          <a:off x="4114318" y="-693365"/>
          <a:ext cx="728988" cy="42153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amount retained proportional to rehearsal time</a:t>
          </a:r>
          <a:endParaRPr lang="en-US" sz="2000" kern="1200"/>
        </a:p>
      </dsp:txBody>
      <dsp:txXfrm rot="-5400000">
        <a:off x="2371136" y="1085403"/>
        <a:ext cx="4179766" cy="657816"/>
      </dsp:txXfrm>
    </dsp:sp>
    <dsp:sp modelId="{885110BD-4FE7-504A-9F2F-9E65036E236E}">
      <dsp:nvSpPr>
        <dsp:cNvPr id="0" name=""/>
        <dsp:cNvSpPr/>
      </dsp:nvSpPr>
      <dsp:spPr>
        <a:xfrm>
          <a:off x="0" y="958692"/>
          <a:ext cx="2371136" cy="911236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total time hypothesis</a:t>
          </a:r>
          <a:endParaRPr lang="en-US" sz="2100" kern="1200"/>
        </a:p>
      </dsp:txBody>
      <dsp:txXfrm>
        <a:off x="44483" y="1003175"/>
        <a:ext cx="2282170" cy="822270"/>
      </dsp:txXfrm>
    </dsp:sp>
    <dsp:sp modelId="{191C8300-EBAE-5846-A1E6-1156D72BE454}">
      <dsp:nvSpPr>
        <dsp:cNvPr id="0" name=""/>
        <dsp:cNvSpPr/>
      </dsp:nvSpPr>
      <dsp:spPr>
        <a:xfrm rot="5400000">
          <a:off x="4114318" y="263431"/>
          <a:ext cx="728988" cy="42153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optimized by spreading learning over time</a:t>
          </a:r>
          <a:endParaRPr lang="en-US" sz="2000" kern="1200"/>
        </a:p>
      </dsp:txBody>
      <dsp:txXfrm rot="-5400000">
        <a:off x="2371136" y="2042199"/>
        <a:ext cx="4179766" cy="657816"/>
      </dsp:txXfrm>
    </dsp:sp>
    <dsp:sp modelId="{B6556947-4F90-BE46-B518-E400AEE81F67}">
      <dsp:nvSpPr>
        <dsp:cNvPr id="0" name=""/>
        <dsp:cNvSpPr/>
      </dsp:nvSpPr>
      <dsp:spPr>
        <a:xfrm>
          <a:off x="0" y="1915490"/>
          <a:ext cx="2371136" cy="911236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distribution of practice effect</a:t>
          </a:r>
          <a:endParaRPr lang="en-US" sz="2100" kern="1200"/>
        </a:p>
      </dsp:txBody>
      <dsp:txXfrm>
        <a:off x="44483" y="1959973"/>
        <a:ext cx="2282170" cy="822270"/>
      </dsp:txXfrm>
    </dsp:sp>
    <dsp:sp modelId="{E5DE3552-C68B-984A-90C2-B1AC5A80BA3D}">
      <dsp:nvSpPr>
        <dsp:cNvPr id="0" name=""/>
        <dsp:cNvSpPr/>
      </dsp:nvSpPr>
      <dsp:spPr>
        <a:xfrm rot="5400000">
          <a:off x="4114318" y="1220229"/>
          <a:ext cx="728988" cy="42153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information easier to remember</a:t>
          </a:r>
          <a:endParaRPr lang="en-US" sz="2000" kern="1200"/>
        </a:p>
      </dsp:txBody>
      <dsp:txXfrm rot="-5400000">
        <a:off x="2371136" y="2998997"/>
        <a:ext cx="4179766" cy="657816"/>
      </dsp:txXfrm>
    </dsp:sp>
    <dsp:sp modelId="{A875A0E3-683F-0741-8627-D37A1D50031B}">
      <dsp:nvSpPr>
        <dsp:cNvPr id="0" name=""/>
        <dsp:cNvSpPr/>
      </dsp:nvSpPr>
      <dsp:spPr>
        <a:xfrm>
          <a:off x="0" y="2872288"/>
          <a:ext cx="2371136" cy="911236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structure, meaning and familiarity</a:t>
          </a:r>
          <a:endParaRPr lang="en-US" sz="2100" kern="1200"/>
        </a:p>
      </dsp:txBody>
      <dsp:txXfrm>
        <a:off x="44483" y="2916771"/>
        <a:ext cx="2282170" cy="822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01449-E761-C049-B5EE-A5CFBCC923FC}">
      <dsp:nvSpPr>
        <dsp:cNvPr id="0" name=""/>
        <dsp:cNvSpPr/>
      </dsp:nvSpPr>
      <dsp:spPr>
        <a:xfrm rot="5400000">
          <a:off x="3740212" y="-1184379"/>
          <a:ext cx="1477200" cy="4215352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information reproduced from memory can be assisted by cues, e.g. categories, imagery</a:t>
          </a:r>
          <a:endParaRPr lang="en-US" sz="2100" kern="1200"/>
        </a:p>
      </dsp:txBody>
      <dsp:txXfrm rot="-5400000">
        <a:off x="2371137" y="256807"/>
        <a:ext cx="4143241" cy="1332978"/>
      </dsp:txXfrm>
    </dsp:sp>
    <dsp:sp modelId="{2FD62EB7-A29B-F849-A4FB-A1EC56520068}">
      <dsp:nvSpPr>
        <dsp:cNvPr id="0" name=""/>
        <dsp:cNvSpPr/>
      </dsp:nvSpPr>
      <dsp:spPr>
        <a:xfrm>
          <a:off x="0" y="46"/>
          <a:ext cx="2371136" cy="1846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recall </a:t>
          </a:r>
          <a:endParaRPr lang="en-US" sz="3200" kern="1200"/>
        </a:p>
      </dsp:txBody>
      <dsp:txXfrm>
        <a:off x="90139" y="90185"/>
        <a:ext cx="2190858" cy="1666222"/>
      </dsp:txXfrm>
    </dsp:sp>
    <dsp:sp modelId="{5E25972D-7EE1-4946-937D-C67921060C8D}">
      <dsp:nvSpPr>
        <dsp:cNvPr id="0" name=""/>
        <dsp:cNvSpPr/>
      </dsp:nvSpPr>
      <dsp:spPr>
        <a:xfrm rot="5400000">
          <a:off x="3740212" y="754445"/>
          <a:ext cx="1477200" cy="4215352"/>
        </a:xfrm>
        <a:prstGeom prst="round2SameRect">
          <a:avLst/>
        </a:prstGeom>
        <a:solidFill>
          <a:schemeClr val="accent5">
            <a:tint val="40000"/>
            <a:alpha val="90000"/>
            <a:hueOff val="-6739761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1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information gives knowledge that it has been seen before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less complex than recall - information is cue</a:t>
          </a:r>
          <a:endParaRPr lang="en-US" sz="2100" kern="1200"/>
        </a:p>
      </dsp:txBody>
      <dsp:txXfrm rot="-5400000">
        <a:off x="2371137" y="2195632"/>
        <a:ext cx="4143241" cy="1332978"/>
      </dsp:txXfrm>
    </dsp:sp>
    <dsp:sp modelId="{02704C78-BF05-8648-9501-03ABE931B122}">
      <dsp:nvSpPr>
        <dsp:cNvPr id="0" name=""/>
        <dsp:cNvSpPr/>
      </dsp:nvSpPr>
      <dsp:spPr>
        <a:xfrm>
          <a:off x="0" y="1938872"/>
          <a:ext cx="2371136" cy="18465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recognition</a:t>
          </a:r>
          <a:endParaRPr lang="en-US" sz="3200" kern="1200"/>
        </a:p>
      </dsp:txBody>
      <dsp:txXfrm>
        <a:off x="90139" y="2029011"/>
        <a:ext cx="2190858" cy="1666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7894-2924-CF61-4B8F-66258015C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CF833-297C-063C-C622-370EBF9A2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9250-564B-2375-8FF8-CD99E226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DB452-D1E3-A8C0-D03A-A88EA0D1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269A-4585-B58C-9AD3-9CF33161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2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3A06-BC65-F436-AE76-93A627EB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F469-47BF-E6ED-9721-53983B3E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A9EBE-177A-FC85-E83C-D503CEA3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5F20-6788-EC93-2421-FDC832B0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F890C-84DF-A3AF-0899-A88A036A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8987-A2F9-4612-FA39-108437B6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70541-8B9B-AF57-369B-C790782BC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A605D-A9C2-706F-F174-23ED097D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CEAB1-FC7F-2656-5275-9E694D79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8E10-C751-6AA7-2C9B-6F3F00AC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3D115-4030-4892-7BCA-12372FD1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BABA-DE4D-5B5C-C5D9-8DB653DC1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9A531-8CB6-C1B2-3924-A49846366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183AD-70FD-439F-1896-282CBC2F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5633A-8ED9-F9F8-E3F1-4C7ACC7C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3CF08-2DC0-373A-05BB-49DCA218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0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1F1-71FC-7943-8B65-242BA888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055C6-0B30-E86C-751E-44CE1888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E853D-4206-8B0D-D821-BD6061AC9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62DB4-CB87-123A-FEB1-878644A37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7ACCE-2B21-49BB-CCF4-04D4577DF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A5648-F21E-29A1-2C3E-9E594BB8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3C097-512F-00CC-0BFB-E9095AB9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C9D2A-E8C4-5304-2194-1D321867E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6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604B-15FC-D0C4-E123-AE1DF349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62181-6E1E-27E9-18DF-CCF00264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EB6CA-BA0B-ECB1-D901-E229F6F5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020E0-2B7A-C648-E13D-77A85E77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1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85A53-E92C-DC53-D9A5-7B3254A1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62D7E-58A4-3530-FC3A-4FDFBA2D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87C1C-7E90-970F-F38C-AFF41F2B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6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BCE0-2C99-5EA3-7545-5FAF8F9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98128-8C3D-8725-361C-255D22CC0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2C939-2BD4-DD76-9F45-5A1A18181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3294E-A4D4-7938-35D4-0E574AB7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1071A-E793-DB18-8E01-2805A2E9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86B43-C588-CB6B-0094-B4DD21CA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9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625B-F72A-5564-E9BB-F551E4572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8C931-9617-F710-939E-02FE2E360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7236C-5307-4E47-F378-4D6AC2B5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12E49-9C1B-67B0-294C-7049BC45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69BD-29F5-7902-22E0-EC9AD3B6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360E1-A10C-A04B-360E-555516AD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1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594E-0D50-CCED-62EF-EADE774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67E9F-661F-5258-362B-C0DB1DE03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CE21-67A2-8543-175F-19B992C1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6AB2B-FFFE-9424-C83D-61AF3F27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7ECF-A22B-8EE0-45EC-08803717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9DEC8-2604-209E-632B-9931431AA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8D67E-5557-24A3-0EF8-CA970F45A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ABF3B-B104-6AE8-390B-878A9ED2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71001-114C-2B09-046D-72463F0A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7B47-92A4-D32B-3816-624996D4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1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EA49C-CCBB-D45D-A532-A3F92CA7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572A3-31A9-CAF4-4DAF-E1CC5DB92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E11BE-FE8D-C8CD-8E7B-12C9AFAC8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10/7/25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AFF5-53BB-F145-BD10-E3B53FECB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D3CD-B62E-3234-38A0-A1D065C24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4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abstract burst of blue and pink">
            <a:extLst>
              <a:ext uri="{FF2B5EF4-FFF2-40B4-BE49-F238E27FC236}">
                <a16:creationId xmlns:a16="http://schemas.microsoft.com/office/drawing/2014/main" id="{35B450DD-B97F-1E69-2B47-3AE7F1197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25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67B3D6-997B-2D34-3097-4D81602E9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4583" y="686020"/>
            <a:ext cx="5859787" cy="2742980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</a:rPr>
              <a:t>Human 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3EE99-5ABE-786E-239A-8B1D44194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4583" y="3602038"/>
            <a:ext cx="5859787" cy="2569942"/>
          </a:xfrm>
        </p:spPr>
        <p:txBody>
          <a:bodyPr>
            <a:normAutofit/>
          </a:bodyPr>
          <a:lstStyle/>
          <a:p>
            <a:pPr algn="ctr"/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63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3" name="Rectangle 2">
            <a:extLst>
              <a:ext uri="{FF2B5EF4-FFF2-40B4-BE49-F238E27FC236}">
                <a16:creationId xmlns:a16="http://schemas.microsoft.com/office/drawing/2014/main" id="{D532D7E5-86D6-2F17-ABFC-DBB266275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104" y="-209092"/>
            <a:ext cx="5754896" cy="1667569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US" sz="4000" dirty="0"/>
              <a:t>the human</a:t>
            </a:r>
          </a:p>
        </p:txBody>
      </p:sp>
      <p:pic>
        <p:nvPicPr>
          <p:cNvPr id="3" name="Graphic 2" descr="School girl with solid fill">
            <a:extLst>
              <a:ext uri="{FF2B5EF4-FFF2-40B4-BE49-F238E27FC236}">
                <a16:creationId xmlns:a16="http://schemas.microsoft.com/office/drawing/2014/main" id="{86F76131-2795-8691-54AA-03FC2CC02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77" y="1376987"/>
            <a:ext cx="2153930" cy="2153930"/>
          </a:xfrm>
          <a:prstGeom prst="rect">
            <a:avLst/>
          </a:prstGeom>
        </p:spPr>
      </p:pic>
      <p:sp>
        <p:nvSpPr>
          <p:cNvPr id="3074" name="Rectangle 3">
            <a:extLst>
              <a:ext uri="{FF2B5EF4-FFF2-40B4-BE49-F238E27FC236}">
                <a16:creationId xmlns:a16="http://schemas.microsoft.com/office/drawing/2014/main" id="{BEBE1075-E92D-4F84-2793-8E201A597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93524" y="506627"/>
            <a:ext cx="7557874" cy="5096731"/>
          </a:xfrm>
        </p:spPr>
        <p:txBody>
          <a:bodyPr anchor="t">
            <a:normAutofit fontScale="92500"/>
          </a:bodyPr>
          <a:lstStyle/>
          <a:p>
            <a:pPr eaLnBrk="1" hangingPunct="1"/>
            <a:r>
              <a:rPr lang="en-GB" altLang="en-US" sz="3600" dirty="0"/>
              <a:t>Information </a:t>
            </a:r>
            <a:r>
              <a:rPr lang="en-GB" altLang="en-US" sz="3600" dirty="0" err="1"/>
              <a:t>i</a:t>
            </a:r>
            <a:r>
              <a:rPr lang="en-GB" altLang="en-US" sz="3600" dirty="0"/>
              <a:t>/o …</a:t>
            </a:r>
          </a:p>
          <a:p>
            <a:pPr lvl="1" eaLnBrk="1" hangingPunct="1"/>
            <a:r>
              <a:rPr lang="en-GB" altLang="en-US" sz="3600" dirty="0"/>
              <a:t>visual, auditory, haptic, movement</a:t>
            </a:r>
          </a:p>
          <a:p>
            <a:pPr eaLnBrk="1" hangingPunct="1"/>
            <a:r>
              <a:rPr lang="en-GB" altLang="en-US" sz="3600" dirty="0"/>
              <a:t>Information stored in memory</a:t>
            </a:r>
          </a:p>
          <a:p>
            <a:pPr lvl="1" eaLnBrk="1" hangingPunct="1"/>
            <a:r>
              <a:rPr lang="en-GB" altLang="en-US" sz="3600" dirty="0"/>
              <a:t>sensory, short-term, long-term</a:t>
            </a:r>
          </a:p>
          <a:p>
            <a:pPr eaLnBrk="1" hangingPunct="1"/>
            <a:r>
              <a:rPr lang="en-GB" altLang="en-US" sz="3600" dirty="0"/>
              <a:t>Information processed and applied</a:t>
            </a:r>
          </a:p>
          <a:p>
            <a:pPr lvl="1" eaLnBrk="1" hangingPunct="1"/>
            <a:r>
              <a:rPr lang="en-GB" altLang="en-US" sz="3600" dirty="0"/>
              <a:t>reasoning, problem solving, skill, error</a:t>
            </a:r>
          </a:p>
          <a:p>
            <a:pPr eaLnBrk="1" hangingPunct="1"/>
            <a:r>
              <a:rPr lang="en-GB" altLang="en-US" sz="3600" dirty="0"/>
              <a:t>Emotion influences human capabilities</a:t>
            </a:r>
          </a:p>
          <a:p>
            <a:pPr eaLnBrk="1" hangingPunct="1"/>
            <a:r>
              <a:rPr lang="en-GB" altLang="en-US" sz="3600" dirty="0"/>
              <a:t>Each person is different</a:t>
            </a:r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16A0C63-A811-1905-8A7F-0EE339360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Memory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796EE54-C9DC-4A4D-10F3-8D04F6E86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85122" y="1828800"/>
            <a:ext cx="7772400" cy="4114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altLang="en-PK" dirty="0"/>
              <a:t>There are three types of memory function:</a:t>
            </a:r>
          </a:p>
          <a:p>
            <a:pPr marL="0" indent="0">
              <a:buNone/>
            </a:pPr>
            <a:endParaRPr lang="en-GB" altLang="en-PK" dirty="0"/>
          </a:p>
          <a:p>
            <a:pPr marL="0" indent="0">
              <a:buNone/>
            </a:pPr>
            <a:r>
              <a:rPr lang="en-GB" altLang="en-PK" dirty="0"/>
              <a:t>Sensory memories</a:t>
            </a:r>
          </a:p>
          <a:p>
            <a:pPr marL="0" indent="0">
              <a:buNone/>
            </a:pPr>
            <a:endParaRPr lang="en-GB" altLang="en-PK" dirty="0"/>
          </a:p>
          <a:p>
            <a:pPr marL="0" indent="0">
              <a:buNone/>
            </a:pPr>
            <a:r>
              <a:rPr lang="en-GB" altLang="en-PK" dirty="0"/>
              <a:t>	Short-term memory or working memory</a:t>
            </a:r>
          </a:p>
          <a:p>
            <a:pPr marL="0" indent="0">
              <a:buNone/>
            </a:pPr>
            <a:endParaRPr lang="en-GB" altLang="en-PK" dirty="0"/>
          </a:p>
          <a:p>
            <a:pPr marL="0" indent="0">
              <a:buNone/>
            </a:pPr>
            <a:r>
              <a:rPr lang="en-GB" altLang="en-PK" dirty="0"/>
              <a:t>		</a:t>
            </a:r>
          </a:p>
          <a:p>
            <a:pPr marL="0" indent="0">
              <a:buNone/>
            </a:pPr>
            <a:r>
              <a:rPr lang="en-GB" altLang="en-PK" dirty="0"/>
              <a:t>			Long-term memory</a:t>
            </a:r>
          </a:p>
          <a:p>
            <a:pPr marL="0" indent="0">
              <a:buNone/>
            </a:pPr>
            <a:endParaRPr lang="en-GB" altLang="en-PK" dirty="0"/>
          </a:p>
          <a:p>
            <a:pPr marL="0" indent="0">
              <a:buNone/>
            </a:pPr>
            <a:r>
              <a:rPr lang="en-GB" altLang="en-PK" dirty="0"/>
              <a:t>Selection of stimuli governed by level of arousal.</a:t>
            </a:r>
          </a:p>
          <a:p>
            <a:pPr marL="0" indent="0">
              <a:buNone/>
            </a:pPr>
            <a:endParaRPr lang="en-GB" altLang="en-PK" dirty="0"/>
          </a:p>
        </p:txBody>
      </p:sp>
      <p:grpSp>
        <p:nvGrpSpPr>
          <p:cNvPr id="20484" name="Group 8">
            <a:extLst>
              <a:ext uri="{FF2B5EF4-FFF2-40B4-BE49-F238E27FC236}">
                <a16:creationId xmlns:a16="http://schemas.microsoft.com/office/drawing/2014/main" id="{B3BF9413-8AC8-A20B-3289-E76F18EAC92E}"/>
              </a:ext>
            </a:extLst>
          </p:cNvPr>
          <p:cNvGrpSpPr>
            <a:grpSpLocks/>
          </p:cNvGrpSpPr>
          <p:nvPr/>
        </p:nvGrpSpPr>
        <p:grpSpPr bwMode="auto">
          <a:xfrm>
            <a:off x="3276601" y="2895600"/>
            <a:ext cx="3095625" cy="1524000"/>
            <a:chOff x="1152" y="2016"/>
            <a:chExt cx="1950" cy="960"/>
          </a:xfrm>
        </p:grpSpPr>
        <p:sp>
          <p:nvSpPr>
            <p:cNvPr id="20485" name="Line 4">
              <a:extLst>
                <a:ext uri="{FF2B5EF4-FFF2-40B4-BE49-F238E27FC236}">
                  <a16:creationId xmlns:a16="http://schemas.microsoft.com/office/drawing/2014/main" id="{651D3E3B-5BED-A2D6-975C-9213D24D1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016"/>
              <a:ext cx="336" cy="288"/>
            </a:xfrm>
            <a:prstGeom prst="line">
              <a:avLst/>
            </a:prstGeom>
            <a:noFill/>
            <a:ln w="38100">
              <a:solidFill>
                <a:srgbClr val="251C4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6" name="WordArt 5">
              <a:extLst>
                <a:ext uri="{FF2B5EF4-FFF2-40B4-BE49-F238E27FC236}">
                  <a16:creationId xmlns:a16="http://schemas.microsoft.com/office/drawing/2014/main" id="{B470C2EA-6F9D-7D44-A78F-43CEC448D8B9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80" y="2064"/>
              <a:ext cx="828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2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99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Attention</a:t>
              </a:r>
            </a:p>
          </p:txBody>
        </p:sp>
        <p:sp>
          <p:nvSpPr>
            <p:cNvPr id="20487" name="Line 6">
              <a:extLst>
                <a:ext uri="{FF2B5EF4-FFF2-40B4-BE49-F238E27FC236}">
                  <a16:creationId xmlns:a16="http://schemas.microsoft.com/office/drawing/2014/main" id="{996FD323-79F6-6E3A-F7BF-82A80AC15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640"/>
              <a:ext cx="384" cy="336"/>
            </a:xfrm>
            <a:prstGeom prst="line">
              <a:avLst/>
            </a:prstGeom>
            <a:noFill/>
            <a:ln w="38100">
              <a:solidFill>
                <a:srgbClr val="251C4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88" name="WordArt 7">
              <a:extLst>
                <a:ext uri="{FF2B5EF4-FFF2-40B4-BE49-F238E27FC236}">
                  <a16:creationId xmlns:a16="http://schemas.microsoft.com/office/drawing/2014/main" id="{3A887C70-6C9C-746C-71CC-51926732DF6A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08" y="2688"/>
              <a:ext cx="894" cy="2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20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99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Rehearsal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EBA474C-C0BB-9E15-29BA-AFB1198B6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PK"/>
              <a:t>sensory memory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70A9A25-BD21-64E6-CF52-7F6C726AB7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PK" sz="2000"/>
              <a:t>Buffers for stimuli received through senses</a:t>
            </a:r>
          </a:p>
          <a:p>
            <a:pPr lvl="1" eaLnBrk="1" hangingPunct="1"/>
            <a:r>
              <a:rPr lang="en-GB" altLang="en-PK" sz="2000"/>
              <a:t>iconic memory: visual stimuli</a:t>
            </a:r>
          </a:p>
          <a:p>
            <a:pPr lvl="1" eaLnBrk="1" hangingPunct="1"/>
            <a:r>
              <a:rPr lang="en-GB" altLang="en-PK" sz="2000"/>
              <a:t>echoic memory: aural stimuli</a:t>
            </a:r>
          </a:p>
          <a:p>
            <a:pPr lvl="1" eaLnBrk="1" hangingPunct="1"/>
            <a:r>
              <a:rPr lang="en-GB" altLang="en-PK" sz="2000"/>
              <a:t>haptic memory: tactile stimuli</a:t>
            </a:r>
          </a:p>
          <a:p>
            <a:pPr eaLnBrk="1" hangingPunct="1"/>
            <a:r>
              <a:rPr lang="en-GB" altLang="en-PK" sz="2000"/>
              <a:t>Examples</a:t>
            </a:r>
          </a:p>
          <a:p>
            <a:pPr lvl="1" eaLnBrk="1" hangingPunct="1"/>
            <a:r>
              <a:rPr lang="en-GB" altLang="en-PK" sz="2000"/>
              <a:t>“sparkler” trail</a:t>
            </a:r>
          </a:p>
          <a:p>
            <a:pPr lvl="1" eaLnBrk="1" hangingPunct="1"/>
            <a:r>
              <a:rPr lang="en-GB" altLang="en-PK" sz="2000"/>
              <a:t>stereo sound</a:t>
            </a:r>
          </a:p>
          <a:p>
            <a:pPr eaLnBrk="1" hangingPunct="1"/>
            <a:r>
              <a:rPr lang="en-GB" altLang="en-PK" sz="2000"/>
              <a:t>Continuously overwritten</a:t>
            </a:r>
          </a:p>
        </p:txBody>
      </p:sp>
      <p:pic>
        <p:nvPicPr>
          <p:cNvPr id="21509" name="Picture 21508" descr="Deep blue sound waves">
            <a:extLst>
              <a:ext uri="{FF2B5EF4-FFF2-40B4-BE49-F238E27FC236}">
                <a16:creationId xmlns:a16="http://schemas.microsoft.com/office/drawing/2014/main" id="{6F621857-BAE4-CC91-053E-2C3A148E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89" r="30989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21513" name="Straight Connector 2151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4E8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98AD28A-CEE4-151F-909F-6A9E7D161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PK"/>
              <a:t>Short-term memory (STM)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52BE2E3-DD1A-2707-31D2-8A7F5F392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PK" sz="2000"/>
              <a:t>Scratch-pad for temporary recall</a:t>
            </a:r>
          </a:p>
          <a:p>
            <a:pPr eaLnBrk="1" hangingPunct="1"/>
            <a:endParaRPr lang="en-GB" altLang="en-PK" sz="2000"/>
          </a:p>
          <a:p>
            <a:pPr lvl="1" eaLnBrk="1" hangingPunct="1"/>
            <a:r>
              <a:rPr lang="en-GB" altLang="en-PK" sz="2000"/>
              <a:t>rapid access ~ 70ms</a:t>
            </a:r>
          </a:p>
          <a:p>
            <a:pPr lvl="1" eaLnBrk="1" hangingPunct="1"/>
            <a:endParaRPr lang="en-GB" altLang="en-PK" sz="2000"/>
          </a:p>
          <a:p>
            <a:pPr lvl="1" eaLnBrk="1" hangingPunct="1"/>
            <a:r>
              <a:rPr lang="en-GB" altLang="en-PK" sz="2000"/>
              <a:t>rapid decay ~ 200ms</a:t>
            </a:r>
          </a:p>
          <a:p>
            <a:pPr lvl="1" eaLnBrk="1" hangingPunct="1"/>
            <a:endParaRPr lang="en-GB" altLang="en-PK" sz="2000"/>
          </a:p>
          <a:p>
            <a:pPr lvl="1" eaLnBrk="1" hangingPunct="1"/>
            <a:r>
              <a:rPr lang="en-GB" altLang="en-PK" sz="2000"/>
              <a:t>limited capacity - 7± 2 chunks</a:t>
            </a:r>
          </a:p>
          <a:p>
            <a:pPr eaLnBrk="1" hangingPunct="1"/>
            <a:endParaRPr lang="en-GB" altLang="en-PK" sz="2000"/>
          </a:p>
        </p:txBody>
      </p:sp>
      <p:pic>
        <p:nvPicPr>
          <p:cNvPr id="22533" name="Picture 22532" descr="Close up of ruler">
            <a:extLst>
              <a:ext uri="{FF2B5EF4-FFF2-40B4-BE49-F238E27FC236}">
                <a16:creationId xmlns:a16="http://schemas.microsoft.com/office/drawing/2014/main" id="{8DF89304-C136-B028-7230-6DA8405D33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46" r="30134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22537" name="Straight Connector 2253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14CB349-D352-F5CE-C87B-507AA0A3F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Examples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9944E43-6DC1-10BC-8A79-F7638DAF8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altLang="en-PK"/>
          </a:p>
          <a:p>
            <a:pPr marL="0" indent="0" algn="ctr">
              <a:buNone/>
            </a:pPr>
            <a:r>
              <a:rPr lang="en-GB" altLang="en-PK"/>
              <a:t>212348278493202</a:t>
            </a:r>
          </a:p>
          <a:p>
            <a:pPr marL="0" indent="0" algn="ctr">
              <a:buNone/>
            </a:pPr>
            <a:endParaRPr lang="en-GB" altLang="en-PK"/>
          </a:p>
          <a:p>
            <a:pPr marL="0" indent="0" algn="ctr">
              <a:buNone/>
            </a:pPr>
            <a:r>
              <a:rPr lang="en-GB" altLang="en-PK"/>
              <a:t>0121 414 2626</a:t>
            </a:r>
          </a:p>
          <a:p>
            <a:pPr marL="0" indent="0" algn="ctr">
              <a:buNone/>
            </a:pPr>
            <a:endParaRPr lang="en-GB" altLang="en-PK"/>
          </a:p>
          <a:p>
            <a:pPr marL="0" indent="0" algn="ctr">
              <a:buNone/>
            </a:pPr>
            <a:r>
              <a:rPr lang="en-GB" altLang="en-PK"/>
              <a:t>HEC ATR ANU PTH ETR 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662A53F-6032-F456-C8CC-B22BAF57E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Long-term memory (LTM)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22D07B8-3D13-2FD8-AF09-17B2DD2B1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2095500" algn="l"/>
              </a:tabLst>
            </a:pPr>
            <a:r>
              <a:rPr lang="en-GB" altLang="en-PK" sz="2400"/>
              <a:t>Repository for all our knowledge</a:t>
            </a:r>
          </a:p>
          <a:p>
            <a:pPr lvl="1">
              <a:tabLst>
                <a:tab pos="2095500" algn="l"/>
              </a:tabLst>
            </a:pPr>
            <a:r>
              <a:rPr lang="en-GB" altLang="en-PK"/>
              <a:t>slow access ~ 1/10 second</a:t>
            </a:r>
          </a:p>
          <a:p>
            <a:pPr lvl="1">
              <a:tabLst>
                <a:tab pos="2095500" algn="l"/>
              </a:tabLst>
            </a:pPr>
            <a:r>
              <a:rPr lang="en-GB" altLang="en-PK"/>
              <a:t>slow decay, if any</a:t>
            </a:r>
          </a:p>
          <a:p>
            <a:pPr lvl="1">
              <a:tabLst>
                <a:tab pos="2095500" algn="l"/>
              </a:tabLst>
            </a:pPr>
            <a:r>
              <a:rPr lang="en-GB" altLang="en-PK"/>
              <a:t>huge or unlimited capacity</a:t>
            </a:r>
          </a:p>
          <a:p>
            <a:pPr>
              <a:tabLst>
                <a:tab pos="2095500" algn="l"/>
              </a:tabLst>
            </a:pPr>
            <a:endParaRPr lang="en-GB" altLang="en-PK" sz="2400"/>
          </a:p>
          <a:p>
            <a:pPr>
              <a:tabLst>
                <a:tab pos="2095500" algn="l"/>
              </a:tabLst>
            </a:pPr>
            <a:r>
              <a:rPr lang="en-GB" altLang="en-PK" sz="2400"/>
              <a:t>Two types</a:t>
            </a:r>
          </a:p>
          <a:p>
            <a:pPr lvl="1">
              <a:tabLst>
                <a:tab pos="2095500" algn="l"/>
              </a:tabLst>
            </a:pPr>
            <a:r>
              <a:rPr lang="en-GB" altLang="en-PK"/>
              <a:t>episodic	– </a:t>
            </a:r>
            <a:r>
              <a:rPr lang="en-GB" altLang="en-PK" sz="1800"/>
              <a:t>serial memory of events</a:t>
            </a:r>
            <a:endParaRPr lang="en-GB" altLang="en-PK"/>
          </a:p>
          <a:p>
            <a:pPr lvl="1">
              <a:tabLst>
                <a:tab pos="2095500" algn="l"/>
              </a:tabLst>
            </a:pPr>
            <a:r>
              <a:rPr lang="en-GB" altLang="en-PK"/>
              <a:t>semantic	– </a:t>
            </a:r>
            <a:r>
              <a:rPr lang="en-GB" altLang="en-PK" sz="1800"/>
              <a:t>structured memory of facts,concepts, skills</a:t>
            </a:r>
          </a:p>
          <a:p>
            <a:pPr lvl="1">
              <a:tabLst>
                <a:tab pos="2095500" algn="l"/>
              </a:tabLst>
            </a:pPr>
            <a:endParaRPr lang="en-GB" altLang="en-PK" sz="1800"/>
          </a:p>
          <a:p>
            <a:pPr lvl="1">
              <a:buNone/>
              <a:tabLst>
                <a:tab pos="2095500" algn="l"/>
              </a:tabLst>
            </a:pPr>
            <a:r>
              <a:rPr lang="en-GB" altLang="en-PK"/>
              <a:t>semantic LTM derived from episodic LTM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FDBA96B-F0F2-3B75-CCD0-58012E1BD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PK"/>
              <a:t>Long-term memory (cont.)</a:t>
            </a:r>
          </a:p>
        </p:txBody>
      </p:sp>
      <p:cxnSp>
        <p:nvCxnSpPr>
          <p:cNvPr id="25610" name="Straight Connector 2560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68A8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605" name="Rectangle 3">
            <a:extLst>
              <a:ext uri="{FF2B5EF4-FFF2-40B4-BE49-F238E27FC236}">
                <a16:creationId xmlns:a16="http://schemas.microsoft.com/office/drawing/2014/main" id="{AA64D77E-A64B-6C34-F18C-8944CE931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097086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Left Brain with solid fill">
            <a:extLst>
              <a:ext uri="{FF2B5EF4-FFF2-40B4-BE49-F238E27FC236}">
                <a16:creationId xmlns:a16="http://schemas.microsoft.com/office/drawing/2014/main" id="{181EB347-DCB3-DE49-09A6-EFD40DF30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80" y="1606385"/>
            <a:ext cx="4355750" cy="435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6">
            <a:extLst>
              <a:ext uri="{FF2B5EF4-FFF2-40B4-BE49-F238E27FC236}">
                <a16:creationId xmlns:a16="http://schemas.microsoft.com/office/drawing/2014/main" id="{1CE058AC-B465-4150-9752-840039CB7D9A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68450"/>
            <a:ext cx="70866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>
            <a:extLst>
              <a:ext uri="{FF2B5EF4-FFF2-40B4-BE49-F238E27FC236}">
                <a16:creationId xmlns:a16="http://schemas.microsoft.com/office/drawing/2014/main" id="{656D58E0-5F2D-1854-5F44-BB6D98FED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LTM - semantic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92FF45C-06AE-D963-19F6-95FD455E2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Models of LTM - Frames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C325C89-C855-E5BF-2EBF-FCE57B6324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1600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GB" altLang="en-PK"/>
              <a:t>Information organized in data structures</a:t>
            </a:r>
          </a:p>
          <a:p>
            <a:pPr eaLnBrk="1" hangingPunct="1"/>
            <a:r>
              <a:rPr lang="en-GB" altLang="en-PK"/>
              <a:t>Slots in structure instantiated with values for instance of data</a:t>
            </a:r>
          </a:p>
          <a:p>
            <a:pPr eaLnBrk="1" hangingPunct="1"/>
            <a:r>
              <a:rPr lang="en-GB" altLang="en-PK"/>
              <a:t>Type–subtype relationships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87D86D36-A486-BD67-C2D5-953086598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657600"/>
            <a:ext cx="2438400" cy="25908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/>
            <a:r>
              <a:rPr lang="en-US" altLang="en-PK" sz="1600">
                <a:latin typeface="Times New Roman" panose="02020603050405020304" pitchFamily="18" charset="0"/>
              </a:rPr>
              <a:t>                  </a:t>
            </a:r>
            <a:r>
              <a:rPr lang="en-US" altLang="en-PK" sz="1600" b="1">
                <a:latin typeface="Times New Roman" panose="02020603050405020304" pitchFamily="18" charset="0"/>
              </a:rPr>
              <a:t>DOG</a:t>
            </a:r>
            <a:endParaRPr lang="en-US" altLang="en-PK" sz="1400">
              <a:latin typeface="Times New Roman" panose="02020603050405020304" pitchFamily="18" charset="0"/>
            </a:endParaRPr>
          </a:p>
          <a:p>
            <a:pPr eaLnBrk="1" hangingPunct="1"/>
            <a:endParaRPr lang="en-US" altLang="en-PK" sz="1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Fixed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legs: 4</a:t>
            </a:r>
          </a:p>
          <a:p>
            <a:pPr eaLnBrk="1" hangingPunct="1"/>
            <a:endParaRPr lang="en-US" altLang="en-PK" sz="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Default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diet:  carniverous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sound:  bark</a:t>
            </a:r>
          </a:p>
          <a:p>
            <a:pPr eaLnBrk="1" hangingPunct="1"/>
            <a:endParaRPr lang="en-US" altLang="en-PK" sz="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Variable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size:</a:t>
            </a:r>
            <a:br>
              <a:rPr lang="en-US" altLang="en-PK" sz="1400">
                <a:latin typeface="Times New Roman" panose="02020603050405020304" pitchFamily="18" charset="0"/>
              </a:rPr>
            </a:br>
            <a:r>
              <a:rPr lang="en-US" altLang="en-PK" sz="1400">
                <a:latin typeface="Times New Roman" panose="02020603050405020304" pitchFamily="18" charset="0"/>
              </a:rPr>
              <a:t>       colour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EE132A6-6ECF-CA76-E958-D5C75CF4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657600"/>
            <a:ext cx="2438400" cy="25908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/>
            <a:r>
              <a:rPr lang="en-US" altLang="en-PK" sz="1600">
                <a:latin typeface="Times New Roman" panose="02020603050405020304" pitchFamily="18" charset="0"/>
              </a:rPr>
              <a:t>               </a:t>
            </a:r>
            <a:r>
              <a:rPr lang="en-US" altLang="en-PK" sz="1600" b="1">
                <a:latin typeface="Times New Roman" panose="02020603050405020304" pitchFamily="18" charset="0"/>
              </a:rPr>
              <a:t>COLLIE</a:t>
            </a:r>
            <a:endParaRPr lang="en-US" altLang="en-PK" sz="1400" b="1">
              <a:latin typeface="Times New Roman" panose="02020603050405020304" pitchFamily="18" charset="0"/>
            </a:endParaRPr>
          </a:p>
          <a:p>
            <a:pPr eaLnBrk="1" hangingPunct="1"/>
            <a:endParaRPr lang="en-US" altLang="en-PK" sz="1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Fixed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breed of:  DOG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type:  sheepdog</a:t>
            </a:r>
          </a:p>
          <a:p>
            <a:pPr eaLnBrk="1" hangingPunct="1"/>
            <a:endParaRPr lang="en-US" altLang="en-PK" sz="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Default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size:  65 cm</a:t>
            </a:r>
          </a:p>
          <a:p>
            <a:pPr eaLnBrk="1" hangingPunct="1"/>
            <a:endParaRPr lang="en-US" altLang="en-PK" sz="8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Variable</a:t>
            </a:r>
          </a:p>
          <a:p>
            <a:pPr eaLnBrk="1" hangingPunct="1"/>
            <a:r>
              <a:rPr lang="en-US" altLang="en-PK" sz="1400">
                <a:latin typeface="Times New Roman" panose="02020603050405020304" pitchFamily="18" charset="0"/>
              </a:rPr>
              <a:t>       colour</a:t>
            </a:r>
          </a:p>
          <a:p>
            <a:pPr eaLnBrk="1" hangingPunct="1"/>
            <a:endParaRPr lang="en-US" altLang="en-PK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D72065A-874D-0279-5F34-8A88A7ACF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Models of LTM - Scripts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00882FA-8A0C-17AD-80D2-CEA77A3DE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905000"/>
            <a:ext cx="8077200" cy="106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PK" sz="1800"/>
              <a:t>Model of stereotypical information required to interpret situation</a:t>
            </a:r>
          </a:p>
          <a:p>
            <a:pPr eaLnBrk="1" hangingPunct="1">
              <a:buFontTx/>
              <a:buNone/>
            </a:pPr>
            <a:endParaRPr lang="en-GB" altLang="en-PK" sz="900"/>
          </a:p>
          <a:p>
            <a:pPr eaLnBrk="1" hangingPunct="1">
              <a:buFontTx/>
              <a:buNone/>
            </a:pPr>
            <a:r>
              <a:rPr lang="en-GB" altLang="en-PK" sz="1800"/>
              <a:t>Script has elements that can be instantiated with values for context</a:t>
            </a:r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69F0697-2155-C97C-4F3C-784A1DAB156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895600"/>
            <a:ext cx="6705600" cy="3733800"/>
            <a:chOff x="768" y="1728"/>
            <a:chExt cx="4224" cy="2352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AB0978B6-6EEE-9484-FA75-F8D3B2177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728"/>
              <a:ext cx="4224" cy="235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PK"/>
            </a:p>
          </p:txBody>
        </p:sp>
        <p:sp>
          <p:nvSpPr>
            <p:cNvPr id="28678" name="Text Box 6">
              <a:extLst>
                <a:ext uri="{FF2B5EF4-FFF2-40B4-BE49-F238E27FC236}">
                  <a16:creationId xmlns:a16="http://schemas.microsoft.com/office/drawing/2014/main" id="{8BCAC896-EAE2-9292-3C5A-8F77C0F32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824"/>
              <a:ext cx="1584" cy="21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PK" sz="1600" b="1">
                  <a:latin typeface="Times New Roman" panose="02020603050405020304" pitchFamily="18" charset="0"/>
                </a:rPr>
                <a:t>Script for a visit to the vet</a:t>
              </a:r>
              <a:endParaRPr lang="en-US" altLang="en-PK" sz="1600">
                <a:latin typeface="Times New Roman" panose="02020603050405020304" pitchFamily="18" charset="0"/>
              </a:endParaRPr>
            </a:p>
          </p:txBody>
        </p:sp>
        <p:sp>
          <p:nvSpPr>
            <p:cNvPr id="28679" name="Text Box 7">
              <a:extLst>
                <a:ext uri="{FF2B5EF4-FFF2-40B4-BE49-F238E27FC236}">
                  <a16:creationId xmlns:a16="http://schemas.microsoft.com/office/drawing/2014/main" id="{58BA9A9E-4807-2A36-25A3-4537EE084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160"/>
              <a:ext cx="1872" cy="1435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33500" algn="l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Entry conditions: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dog ill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vet open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owner has money</a:t>
              </a:r>
              <a:endParaRPr lang="en-US" altLang="en-PK" sz="140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en-PK" sz="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Result: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dog better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owner poorer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vet richer</a:t>
              </a:r>
              <a:endParaRPr lang="en-US" altLang="en-PK" sz="1400"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en-PK" sz="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Props: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examination table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medicine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instruments</a:t>
              </a:r>
            </a:p>
          </p:txBody>
        </p:sp>
        <p:sp>
          <p:nvSpPr>
            <p:cNvPr id="28680" name="Text Box 8">
              <a:extLst>
                <a:ext uri="{FF2B5EF4-FFF2-40B4-BE49-F238E27FC236}">
                  <a16:creationId xmlns:a16="http://schemas.microsoft.com/office/drawing/2014/main" id="{149A80C1-68D9-5465-2536-EAD4E26D4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160"/>
              <a:ext cx="1638" cy="184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Roles: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vet examines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      diagnoses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      treats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owner brings dog in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           pays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           takes dog out</a:t>
              </a:r>
            </a:p>
            <a:p>
              <a:pPr eaLnBrk="1" hangingPunct="1"/>
              <a:endParaRPr lang="en-US" altLang="en-PK" sz="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Scenes: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arriving at reception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waiting in room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examination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paying</a:t>
              </a:r>
            </a:p>
            <a:p>
              <a:pPr eaLnBrk="1" hangingPunct="1"/>
              <a:endParaRPr lang="en-US" altLang="en-PK" sz="80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en-PK" sz="1400">
                  <a:latin typeface="Times New Roman" panose="02020603050405020304" pitchFamily="18" charset="0"/>
                </a:rPr>
                <a:t>Tracks:	</a:t>
              </a:r>
              <a:r>
                <a:rPr lang="en-US" altLang="en-PK" sz="1400" i="1">
                  <a:latin typeface="Times New Roman" panose="02020603050405020304" pitchFamily="18" charset="0"/>
                </a:rPr>
                <a:t>dog needs medicine</a:t>
              </a:r>
            </a:p>
            <a:p>
              <a:pPr eaLnBrk="1" hangingPunct="1"/>
              <a:r>
                <a:rPr lang="en-US" altLang="en-PK" sz="1400" i="1">
                  <a:latin typeface="Times New Roman" panose="02020603050405020304" pitchFamily="18" charset="0"/>
                </a:rPr>
                <a:t>	dog needs operation</a:t>
              </a:r>
              <a:endParaRPr lang="en-US" altLang="en-PK" sz="1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02B9971-EDA9-2338-5209-59484E9CA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543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PK"/>
              <a:t>Models of LTM - Production rules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022B962-96B0-7FA6-A37E-743ED9340B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2590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PK"/>
              <a:t>Representation of procedural knowledge. </a:t>
            </a:r>
          </a:p>
          <a:p>
            <a:pPr eaLnBrk="1" hangingPunct="1">
              <a:buFontTx/>
              <a:buNone/>
            </a:pPr>
            <a:endParaRPr lang="en-GB" altLang="en-PK" sz="1600"/>
          </a:p>
          <a:p>
            <a:pPr eaLnBrk="1" hangingPunct="1">
              <a:buFontTx/>
              <a:buNone/>
            </a:pPr>
            <a:r>
              <a:rPr lang="en-GB" altLang="en-PK"/>
              <a:t>Condition/action rules </a:t>
            </a:r>
          </a:p>
          <a:p>
            <a:pPr lvl="1" eaLnBrk="1" hangingPunct="1">
              <a:buFontTx/>
              <a:buNone/>
            </a:pPr>
            <a:r>
              <a:rPr lang="en-GB" altLang="en-PK"/>
              <a:t>if condition is matched</a:t>
            </a:r>
          </a:p>
          <a:p>
            <a:pPr lvl="1" eaLnBrk="1" hangingPunct="1">
              <a:buFontTx/>
              <a:buNone/>
            </a:pPr>
            <a:r>
              <a:rPr lang="en-GB" altLang="en-PK"/>
              <a:t>then use rule to determine action.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E03CBA3-6423-FDF1-36CE-034E1ED20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00600"/>
            <a:ext cx="3429000" cy="17526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810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/>
            <a:r>
              <a:rPr lang="en-US" altLang="en-PK" sz="1800">
                <a:latin typeface="Arial" panose="020B0604020202020204" pitchFamily="34" charset="0"/>
              </a:rPr>
              <a:t>IF dog is wagging tail</a:t>
            </a:r>
          </a:p>
          <a:p>
            <a:pPr eaLnBrk="1" hangingPunct="1"/>
            <a:r>
              <a:rPr lang="en-US" altLang="en-PK" sz="1800">
                <a:latin typeface="Arial" panose="020B0604020202020204" pitchFamily="34" charset="0"/>
              </a:rPr>
              <a:t>THEN pat dog</a:t>
            </a:r>
          </a:p>
          <a:p>
            <a:pPr eaLnBrk="1" hangingPunct="1"/>
            <a:endParaRPr lang="en-US" altLang="en-PK" sz="180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PK" sz="1800">
                <a:latin typeface="Arial" panose="020B0604020202020204" pitchFamily="34" charset="0"/>
              </a:rPr>
              <a:t>IF dog is growling</a:t>
            </a:r>
          </a:p>
          <a:p>
            <a:pPr eaLnBrk="1" hangingPunct="1"/>
            <a:r>
              <a:rPr lang="en-US" altLang="en-PK" sz="1800">
                <a:latin typeface="Arial" panose="020B0604020202020204" pitchFamily="34" charset="0"/>
              </a:rPr>
              <a:t>THEN run away</a:t>
            </a:r>
            <a:endParaRPr lang="en-US" altLang="en-PK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0A2E588-3C91-C39C-F9EA-E4CD9269D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PK" sz="4100"/>
              <a:t>LTM - Storage of information</a:t>
            </a:r>
          </a:p>
        </p:txBody>
      </p:sp>
      <p:pic>
        <p:nvPicPr>
          <p:cNvPr id="30726" name="Picture 30725" descr="Ballpen inside cassette tape">
            <a:extLst>
              <a:ext uri="{FF2B5EF4-FFF2-40B4-BE49-F238E27FC236}">
                <a16:creationId xmlns:a16="http://schemas.microsoft.com/office/drawing/2014/main" id="{1D5A8C19-BF8D-7E42-7C1B-E8458942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50" r="2465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30730" name="Straight Connector 3072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DBE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25" name="Rectangle 3">
            <a:extLst>
              <a:ext uri="{FF2B5EF4-FFF2-40B4-BE49-F238E27FC236}">
                <a16:creationId xmlns:a16="http://schemas.microsoft.com/office/drawing/2014/main" id="{2AC1B3F5-5607-D2AB-D660-900803802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36357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D252D7E-96E7-7C82-525D-58A8A0707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LTM - Forgetting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71B7611-2F5C-CE2B-00B4-8977F9A4A9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PK" sz="2400"/>
              <a:t>decay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information is lost gradually but very slowly</a:t>
            </a:r>
          </a:p>
          <a:p>
            <a:pPr eaLnBrk="1" hangingPunct="1">
              <a:lnSpc>
                <a:spcPct val="90000"/>
              </a:lnSpc>
            </a:pPr>
            <a:endParaRPr lang="en-GB" altLang="en-PK" sz="1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PK" sz="2400"/>
              <a:t>interference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new information replaces old: retroactive interference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old may interfere with new: proactive inhibition </a:t>
            </a:r>
          </a:p>
          <a:p>
            <a:pPr eaLnBrk="1" hangingPunct="1">
              <a:lnSpc>
                <a:spcPct val="90000"/>
              </a:lnSpc>
            </a:pPr>
            <a:endParaRPr lang="en-GB" altLang="en-PK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PK"/>
              <a:t>so may not forget at all memory is selective 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PK" sz="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PK"/>
              <a:t>… affected by emotion – can subconsciously `choose' to forget</a:t>
            </a:r>
            <a:endParaRPr lang="en-GB" altLang="en-PK" sz="2400"/>
          </a:p>
          <a:p>
            <a:pPr eaLnBrk="1" hangingPunct="1">
              <a:lnSpc>
                <a:spcPct val="90000"/>
              </a:lnSpc>
            </a:pPr>
            <a:endParaRPr lang="en-GB" altLang="en-PK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02CCA9C-987D-DCE3-BDB0-519C93AD0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GB" altLang="en-PK"/>
              <a:t>LTM - retrieval</a:t>
            </a:r>
          </a:p>
        </p:txBody>
      </p:sp>
      <p:cxnSp>
        <p:nvCxnSpPr>
          <p:cNvPr id="32778" name="Straight Connector 32777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A6C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773" name="Rectangle 3">
            <a:extLst>
              <a:ext uri="{FF2B5EF4-FFF2-40B4-BE49-F238E27FC236}">
                <a16:creationId xmlns:a16="http://schemas.microsoft.com/office/drawing/2014/main" id="{713575D2-C307-0A25-A246-AB617DEC3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327306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314" name="Picture 2" descr="Retrieval Practice: A Teachers' Definition and Video Examples | Teach Like  a Champion">
            <a:extLst>
              <a:ext uri="{FF2B5EF4-FFF2-40B4-BE49-F238E27FC236}">
                <a16:creationId xmlns:a16="http://schemas.microsoft.com/office/drawing/2014/main" id="{FDD6A8DF-B478-C300-0497-73B7D8425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9" r="21119"/>
          <a:stretch/>
        </p:blipFill>
        <p:spPr bwMode="auto">
          <a:xfrm>
            <a:off x="-86496" y="-1"/>
            <a:ext cx="4868562" cy="694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809" name="Rectangle 3380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11" name="Right Triangle 338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813" name="Rectangle 338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F11D6C30-B567-8B0C-2B71-F8A58874F7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 eaLnBrk="1" hangingPunct="1"/>
            <a:r>
              <a:rPr lang="en-GB" altLang="en-PK" sz="11500"/>
              <a:t>Thinking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7E4EB5F-3D33-EC2D-B31F-E8DC9212F2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marL="381000" algn="l">
              <a:tabLst>
                <a:tab pos="1333500" algn="l"/>
              </a:tabLst>
            </a:pPr>
            <a:r>
              <a:rPr lang="en-GB" altLang="en-PK" sz="2200"/>
              <a:t>Reasoning</a:t>
            </a:r>
          </a:p>
          <a:p>
            <a:pPr marL="381000" algn="l">
              <a:tabLst>
                <a:tab pos="1333500" algn="l"/>
              </a:tabLst>
            </a:pPr>
            <a:r>
              <a:rPr lang="en-GB" altLang="en-PK" sz="2200"/>
              <a:t>	</a:t>
            </a:r>
            <a:r>
              <a:rPr lang="en-GB" altLang="en-PK" sz="2200" i="1"/>
              <a:t>deduction, induction, abduction</a:t>
            </a:r>
          </a:p>
          <a:p>
            <a:pPr marL="381000" algn="l">
              <a:tabLst>
                <a:tab pos="1333500" algn="l"/>
              </a:tabLst>
            </a:pPr>
            <a:r>
              <a:rPr lang="en-GB" altLang="en-PK" sz="2200"/>
              <a:t>Problem solving</a:t>
            </a:r>
            <a:endParaRPr lang="en-GB" altLang="en-PK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24" name="Rectangle 3482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26" name="Right Triangle 3482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28" name="Rectangle 3482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E74794CB-B985-8E35-FD11-BC89EC195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 eaLnBrk="1" hangingPunct="1"/>
            <a:r>
              <a:rPr lang="en-GB" altLang="en-PK" sz="5100"/>
              <a:t>Deductive Reasoning</a:t>
            </a:r>
          </a:p>
        </p:txBody>
      </p:sp>
      <p:cxnSp>
        <p:nvCxnSpPr>
          <p:cNvPr id="34830" name="Straight Connector 3482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1C0F4F6-4BFA-3E1D-C7E4-35BEC76CF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4295" y="1188637"/>
            <a:ext cx="6892531" cy="4816747"/>
          </a:xfrm>
        </p:spPr>
        <p:txBody>
          <a:bodyPr anchor="ctr">
            <a:normAutofit/>
          </a:bodyPr>
          <a:lstStyle/>
          <a:p>
            <a:pPr>
              <a:tabLst>
                <a:tab pos="1714500" algn="l"/>
              </a:tabLst>
            </a:pPr>
            <a:r>
              <a:rPr lang="en-GB" altLang="en-PK" sz="2400" dirty="0"/>
              <a:t>Deduction:</a:t>
            </a:r>
          </a:p>
          <a:p>
            <a:pPr marL="1054100" lvl="1" indent="-381000">
              <a:tabLst>
                <a:tab pos="1714500" algn="l"/>
              </a:tabLst>
            </a:pPr>
            <a:r>
              <a:rPr lang="en-GB" altLang="en-PK" dirty="0">
                <a:solidFill>
                  <a:srgbClr val="FF0000"/>
                </a:solidFill>
              </a:rPr>
              <a:t>drive logically necessary conclusion from given premises</a:t>
            </a:r>
            <a:r>
              <a:rPr lang="en-GB" altLang="en-PK" dirty="0"/>
              <a:t>.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e.g.	If it is Friday, then she will go to work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	It is Friday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	Therefore, she will go to work.</a:t>
            </a:r>
          </a:p>
          <a:p>
            <a:pPr>
              <a:tabLst>
                <a:tab pos="1714500" algn="l"/>
              </a:tabLst>
            </a:pPr>
            <a:endParaRPr lang="en-GB" altLang="en-PK" sz="2400" dirty="0"/>
          </a:p>
          <a:p>
            <a:pPr>
              <a:tabLst>
                <a:tab pos="1714500" algn="l"/>
              </a:tabLst>
            </a:pPr>
            <a:r>
              <a:rPr lang="en-GB" altLang="en-PK" sz="2400" dirty="0"/>
              <a:t>Logical conclusion not necessarily true: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e.g.	If it is raining, then the ground is dry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	It is raining</a:t>
            </a:r>
          </a:p>
          <a:p>
            <a:pPr marL="1054100" lvl="1" indent="-381000">
              <a:buNone/>
              <a:tabLst>
                <a:tab pos="1714500" algn="l"/>
              </a:tabLst>
            </a:pPr>
            <a:r>
              <a:rPr lang="en-GB" altLang="en-PK" dirty="0"/>
              <a:t>		Therefore, the ground is dry.</a:t>
            </a:r>
          </a:p>
          <a:p>
            <a:pPr>
              <a:tabLst>
                <a:tab pos="1714500" algn="l"/>
              </a:tabLst>
            </a:pPr>
            <a:endParaRPr lang="en-GB" altLang="en-PK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75E4520-E101-163D-C4D5-F9A8968FC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Deduction (cont.)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D1BFCEF-9DEB-8EA9-922E-591D0CCB6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816100" algn="l"/>
              </a:tabLst>
            </a:pPr>
            <a:r>
              <a:rPr lang="en-GB" altLang="en-PK"/>
              <a:t>When truth and logical validity clash …</a:t>
            </a:r>
          </a:p>
          <a:p>
            <a:pPr marL="1047750" lvl="1" indent="-374650">
              <a:buNone/>
              <a:tabLst>
                <a:tab pos="1816100" algn="l"/>
              </a:tabLst>
            </a:pPr>
            <a:r>
              <a:rPr lang="en-GB" altLang="en-PK"/>
              <a:t>	e.g.	Some people are babies</a:t>
            </a:r>
          </a:p>
          <a:p>
            <a:pPr marL="1047750" lvl="1" indent="-374650">
              <a:buNone/>
              <a:tabLst>
                <a:tab pos="1816100" algn="l"/>
              </a:tabLst>
            </a:pPr>
            <a:r>
              <a:rPr lang="en-GB" altLang="en-PK"/>
              <a:t>		Some babies cry</a:t>
            </a:r>
          </a:p>
          <a:p>
            <a:pPr marL="1047750" lvl="1" indent="-374650">
              <a:buNone/>
              <a:tabLst>
                <a:tab pos="1816100" algn="l"/>
              </a:tabLst>
            </a:pPr>
            <a:r>
              <a:rPr lang="en-GB" altLang="en-PK"/>
              <a:t>		Inference - Some people cry</a:t>
            </a:r>
          </a:p>
          <a:p>
            <a:pPr>
              <a:buFontTx/>
              <a:buChar char=" "/>
              <a:tabLst>
                <a:tab pos="1816100" algn="l"/>
              </a:tabLst>
            </a:pPr>
            <a:r>
              <a:rPr lang="en-GB" altLang="en-PK"/>
              <a:t>Correct?</a:t>
            </a:r>
          </a:p>
          <a:p>
            <a:pPr>
              <a:tabLst>
                <a:tab pos="1816100" algn="l"/>
              </a:tabLst>
            </a:pPr>
            <a:endParaRPr lang="en-GB" altLang="en-PK"/>
          </a:p>
          <a:p>
            <a:pPr>
              <a:tabLst>
                <a:tab pos="1816100" algn="l"/>
              </a:tabLst>
            </a:pPr>
            <a:r>
              <a:rPr lang="en-GB" altLang="en-PK"/>
              <a:t>People bring world knowledge to bear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99A3140-E83A-D913-F84B-B1E423F21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Inductive Reasoning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85B3896-B2DE-5DB9-AAFC-CAEC6CC7D6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1524000" algn="l"/>
              </a:tabLst>
            </a:pPr>
            <a:r>
              <a:rPr lang="en-GB" altLang="en-PK" sz="2400" dirty="0"/>
              <a:t>Induction:</a:t>
            </a:r>
          </a:p>
          <a:p>
            <a:pPr lvl="1">
              <a:tabLst>
                <a:tab pos="1524000" algn="l"/>
              </a:tabLst>
            </a:pPr>
            <a:r>
              <a:rPr lang="en-GB" altLang="en-PK" dirty="0"/>
              <a:t>generalize from cases seen to cases unseen</a:t>
            </a:r>
          </a:p>
          <a:p>
            <a:pPr lvl="1">
              <a:buFontTx/>
              <a:buChar char=" "/>
              <a:tabLst>
                <a:tab pos="1524000" algn="l"/>
              </a:tabLst>
            </a:pPr>
            <a:r>
              <a:rPr lang="en-GB" altLang="en-PK" dirty="0"/>
              <a:t>e.g.	all elephants we have seen have trunks</a:t>
            </a:r>
            <a:br>
              <a:rPr lang="en-GB" altLang="en-PK" dirty="0"/>
            </a:br>
            <a:r>
              <a:rPr lang="en-GB" altLang="en-PK" dirty="0"/>
              <a:t>	therefore, all elephants have trunks.</a:t>
            </a:r>
          </a:p>
          <a:p>
            <a:pPr>
              <a:tabLst>
                <a:tab pos="1524000" algn="l"/>
              </a:tabLst>
            </a:pPr>
            <a:endParaRPr lang="en-GB" altLang="en-PK" sz="1200" dirty="0"/>
          </a:p>
          <a:p>
            <a:pPr>
              <a:tabLst>
                <a:tab pos="1524000" algn="l"/>
              </a:tabLst>
            </a:pPr>
            <a:r>
              <a:rPr lang="en-GB" altLang="en-PK" sz="2400" dirty="0"/>
              <a:t>Unreliable:</a:t>
            </a:r>
          </a:p>
          <a:p>
            <a:pPr lvl="1">
              <a:tabLst>
                <a:tab pos="1524000" algn="l"/>
              </a:tabLst>
            </a:pPr>
            <a:r>
              <a:rPr lang="en-GB" altLang="en-PK" dirty="0"/>
              <a:t>can only prove false not true</a:t>
            </a:r>
          </a:p>
          <a:p>
            <a:pPr>
              <a:tabLst>
                <a:tab pos="1524000" algn="l"/>
              </a:tabLst>
            </a:pPr>
            <a:endParaRPr lang="en-GB" altLang="en-PK" sz="1200" dirty="0"/>
          </a:p>
          <a:p>
            <a:pPr>
              <a:buFontTx/>
              <a:buChar char=" "/>
              <a:tabLst>
                <a:tab pos="1524000" algn="l"/>
              </a:tabLst>
            </a:pPr>
            <a:r>
              <a:rPr lang="en-GB" altLang="en-PK" sz="2400" dirty="0"/>
              <a:t>… but useful!</a:t>
            </a:r>
          </a:p>
          <a:p>
            <a:pPr>
              <a:tabLst>
                <a:tab pos="1524000" algn="l"/>
              </a:tabLst>
            </a:pPr>
            <a:endParaRPr lang="en-GB" altLang="en-PK" sz="1200" dirty="0"/>
          </a:p>
          <a:p>
            <a:pPr>
              <a:tabLst>
                <a:tab pos="1524000" algn="l"/>
              </a:tabLst>
            </a:pPr>
            <a:r>
              <a:rPr lang="en-GB" altLang="en-PK" sz="2400" dirty="0"/>
              <a:t>Humans not good at using negative evidence</a:t>
            </a:r>
          </a:p>
          <a:p>
            <a:pPr lvl="1">
              <a:buFontTx/>
              <a:buChar char=" "/>
              <a:tabLst>
                <a:tab pos="1524000" algn="l"/>
              </a:tabLst>
            </a:pPr>
            <a:r>
              <a:rPr lang="en-GB" altLang="en-PK" dirty="0"/>
              <a:t>e.g. </a:t>
            </a:r>
            <a:r>
              <a:rPr lang="en-GB" altLang="en-PK" dirty="0" err="1"/>
              <a:t>Wason's</a:t>
            </a:r>
            <a:r>
              <a:rPr lang="en-GB" altLang="en-PK" dirty="0"/>
              <a:t> cards.</a:t>
            </a:r>
          </a:p>
          <a:p>
            <a:pPr>
              <a:tabLst>
                <a:tab pos="1524000" algn="l"/>
              </a:tabLst>
            </a:pPr>
            <a:endParaRPr lang="en-GB" altLang="en-PK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2F01914-FE4B-29EF-D5F1-F338ACDA1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Wason's cards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A77B582-41FE-8000-E9CC-70199C259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4572000"/>
            <a:ext cx="7772400" cy="1752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altLang="en-PK"/>
              <a:t>Is this true?</a:t>
            </a:r>
          </a:p>
          <a:p>
            <a:pPr marL="0" indent="0" algn="ctr">
              <a:buNone/>
            </a:pPr>
            <a:endParaRPr lang="en-GB" altLang="en-PK" sz="1400"/>
          </a:p>
          <a:p>
            <a:pPr marL="0" indent="0" algn="ctr">
              <a:buNone/>
            </a:pPr>
            <a:r>
              <a:rPr lang="en-GB" altLang="en-PK"/>
              <a:t>How many cards do you need to turn over to find out?</a:t>
            </a:r>
          </a:p>
          <a:p>
            <a:pPr marL="0" indent="0" algn="ctr">
              <a:buNone/>
            </a:pPr>
            <a:endParaRPr lang="en-GB" altLang="en-PK" sz="1200"/>
          </a:p>
          <a:p>
            <a:pPr marL="0" indent="0" algn="ctr">
              <a:buNone/>
            </a:pPr>
            <a:r>
              <a:rPr lang="en-GB" altLang="en-PK"/>
              <a:t>…. and which cards?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8CF03106-40AB-0F68-8E7F-651AE7554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717925"/>
            <a:ext cx="8077200" cy="40005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PK" sz="2000" dirty="0">
                <a:latin typeface="Arial" panose="020B0604020202020204" pitchFamily="34" charset="0"/>
              </a:rPr>
              <a:t>If a card has a vowel on one side, it has an even number on the other</a:t>
            </a:r>
          </a:p>
        </p:txBody>
      </p:sp>
      <p:grpSp>
        <p:nvGrpSpPr>
          <p:cNvPr id="37893" name="Group 5">
            <a:extLst>
              <a:ext uri="{FF2B5EF4-FFF2-40B4-BE49-F238E27FC236}">
                <a16:creationId xmlns:a16="http://schemas.microsoft.com/office/drawing/2014/main" id="{8A10EF69-3F91-8877-4E60-3E71468879C7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965326"/>
            <a:ext cx="4343400" cy="1311275"/>
            <a:chOff x="768" y="3264"/>
            <a:chExt cx="2736" cy="826"/>
          </a:xfrm>
        </p:grpSpPr>
        <p:sp>
          <p:nvSpPr>
            <p:cNvPr id="37894" name="Rectangle 6">
              <a:extLst>
                <a:ext uri="{FF2B5EF4-FFF2-40B4-BE49-F238E27FC236}">
                  <a16:creationId xmlns:a16="http://schemas.microsoft.com/office/drawing/2014/main" id="{BF494103-B58B-F7CC-7F6B-C46803A4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312"/>
              <a:ext cx="576" cy="76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PK"/>
            </a:p>
          </p:txBody>
        </p:sp>
        <p:sp>
          <p:nvSpPr>
            <p:cNvPr id="37895" name="Rectangle 7">
              <a:extLst>
                <a:ext uri="{FF2B5EF4-FFF2-40B4-BE49-F238E27FC236}">
                  <a16:creationId xmlns:a16="http://schemas.microsoft.com/office/drawing/2014/main" id="{2EA29FA0-CD3A-1259-DEC1-8BE91C59A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312"/>
              <a:ext cx="576" cy="76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PK"/>
            </a:p>
          </p:txBody>
        </p:sp>
        <p:sp>
          <p:nvSpPr>
            <p:cNvPr id="37896" name="Rectangle 8">
              <a:extLst>
                <a:ext uri="{FF2B5EF4-FFF2-40B4-BE49-F238E27FC236}">
                  <a16:creationId xmlns:a16="http://schemas.microsoft.com/office/drawing/2014/main" id="{33F89FED-D246-E1E5-78CE-B6C9D6B2D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312"/>
              <a:ext cx="576" cy="76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PK"/>
            </a:p>
          </p:txBody>
        </p:sp>
        <p:sp>
          <p:nvSpPr>
            <p:cNvPr id="37897" name="Rectangle 9">
              <a:extLst>
                <a:ext uri="{FF2B5EF4-FFF2-40B4-BE49-F238E27FC236}">
                  <a16:creationId xmlns:a16="http://schemas.microsoft.com/office/drawing/2014/main" id="{0FA5DBE0-D44B-7EC2-A240-B4D4B0C30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312"/>
              <a:ext cx="576" cy="76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endParaRPr lang="en-US" altLang="en-PK"/>
            </a:p>
          </p:txBody>
        </p:sp>
        <p:sp>
          <p:nvSpPr>
            <p:cNvPr id="37898" name="Text Box 10">
              <a:extLst>
                <a:ext uri="{FF2B5EF4-FFF2-40B4-BE49-F238E27FC236}">
                  <a16:creationId xmlns:a16="http://schemas.microsoft.com/office/drawing/2014/main" id="{A2964BC5-5C22-E89E-18EF-C21FCC5CE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" y="3264"/>
              <a:ext cx="2641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eaLnBrk="1" hangingPunct="1"/>
              <a:r>
                <a:rPr lang="en-US" altLang="en-PK" sz="8000" b="1">
                  <a:latin typeface="Times New Roman" panose="02020603050405020304" pitchFamily="18" charset="0"/>
                </a:rPr>
                <a:t>7</a:t>
              </a:r>
              <a:r>
                <a:rPr lang="en-GB" altLang="en-PK" sz="8000" b="1">
                  <a:latin typeface="Times New Roman" panose="02020603050405020304" pitchFamily="18" charset="0"/>
                </a:rPr>
                <a:t>  </a:t>
              </a:r>
              <a:r>
                <a:rPr lang="en-US" altLang="en-PK" sz="8000" b="1">
                  <a:latin typeface="Times New Roman" panose="02020603050405020304" pitchFamily="18" charset="0"/>
                </a:rPr>
                <a:t>E  4  K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7DF064C-930A-7ED4-19A1-37FDF6A96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Abductive reasoning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7C80FD7-0CDC-494B-0AAA-BC7D9FE60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625600" algn="l"/>
              </a:tabLst>
            </a:pPr>
            <a:r>
              <a:rPr lang="en-GB" altLang="en-PK"/>
              <a:t>reasoning from event to cause</a:t>
            </a:r>
          </a:p>
          <a:p>
            <a:pPr lvl="1">
              <a:buFontTx/>
              <a:buChar char=" "/>
              <a:tabLst>
                <a:tab pos="1625600" algn="l"/>
              </a:tabLst>
            </a:pPr>
            <a:r>
              <a:rPr lang="en-GB" altLang="en-PK"/>
              <a:t>e.g.	Sam drives fast when drunk.</a:t>
            </a:r>
          </a:p>
          <a:p>
            <a:pPr lvl="1">
              <a:buFontTx/>
              <a:buChar char=" "/>
              <a:tabLst>
                <a:tab pos="1625600" algn="l"/>
              </a:tabLst>
            </a:pPr>
            <a:r>
              <a:rPr lang="en-GB" altLang="en-PK"/>
              <a:t>	If I see Sam driving fast, assume drunk.</a:t>
            </a:r>
          </a:p>
          <a:p>
            <a:pPr>
              <a:tabLst>
                <a:tab pos="1625600" algn="l"/>
              </a:tabLst>
            </a:pPr>
            <a:endParaRPr lang="en-GB" altLang="en-PK"/>
          </a:p>
          <a:p>
            <a:pPr>
              <a:tabLst>
                <a:tab pos="1625600" algn="l"/>
              </a:tabLst>
            </a:pPr>
            <a:r>
              <a:rPr lang="en-GB" altLang="en-PK"/>
              <a:t>Unreliable:</a:t>
            </a:r>
          </a:p>
          <a:p>
            <a:pPr lvl="1">
              <a:tabLst>
                <a:tab pos="1625600" algn="l"/>
              </a:tabLst>
            </a:pPr>
            <a:r>
              <a:rPr lang="en-GB" altLang="en-PK"/>
              <a:t>can lead to false explanations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FCB9B00-09E3-2097-5F9B-74090DB07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Problem solving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3082483-D376-C023-7027-39A3947C82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PK" sz="2400"/>
              <a:t>Process of finding solution to unfamiliar task using knowledge.</a:t>
            </a:r>
          </a:p>
          <a:p>
            <a:pPr eaLnBrk="1" hangingPunct="1">
              <a:lnSpc>
                <a:spcPct val="90000"/>
              </a:lnSpc>
            </a:pPr>
            <a:endParaRPr lang="en-GB" altLang="en-PK" sz="1200"/>
          </a:p>
          <a:p>
            <a:pPr eaLnBrk="1" hangingPunct="1">
              <a:lnSpc>
                <a:spcPct val="90000"/>
              </a:lnSpc>
            </a:pPr>
            <a:r>
              <a:rPr lang="en-GB" altLang="en-PK" sz="2400"/>
              <a:t>Several theories.</a:t>
            </a:r>
          </a:p>
          <a:p>
            <a:pPr eaLnBrk="1" hangingPunct="1">
              <a:lnSpc>
                <a:spcPct val="90000"/>
              </a:lnSpc>
            </a:pPr>
            <a:endParaRPr lang="en-GB" altLang="en-PK" sz="1200"/>
          </a:p>
          <a:p>
            <a:pPr eaLnBrk="1" hangingPunct="1">
              <a:lnSpc>
                <a:spcPct val="90000"/>
              </a:lnSpc>
            </a:pPr>
            <a:r>
              <a:rPr lang="en-GB" altLang="en-PK" sz="2400"/>
              <a:t>Gestalt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problem solving both productive and reproductive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productive draws on insight and restructuring of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attractive but not enough evidence to explain `insight' etc.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move away from behaviourism and led towards information processing theories</a:t>
            </a:r>
          </a:p>
          <a:p>
            <a:pPr eaLnBrk="1" hangingPunct="1">
              <a:lnSpc>
                <a:spcPct val="90000"/>
              </a:lnSpc>
            </a:pPr>
            <a:endParaRPr lang="en-GB" altLang="en-PK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E65A374-4569-4B3E-2BBF-301D8DEF3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Problem solving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84F801F-B2B5-BBDB-5DD8-AAEEEDA86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PK" sz="2400"/>
              <a:t>Problem space theory</a:t>
            </a:r>
          </a:p>
          <a:p>
            <a:pPr marL="476250" lvl="1"/>
            <a:r>
              <a:rPr lang="en-GB" altLang="en-PK"/>
              <a:t>problem space comprises problem states</a:t>
            </a:r>
          </a:p>
          <a:p>
            <a:pPr marL="476250" lvl="1"/>
            <a:r>
              <a:rPr lang="en-GB" altLang="en-PK"/>
              <a:t>problem solving involves generating states using legal operators</a:t>
            </a:r>
          </a:p>
          <a:p>
            <a:pPr marL="476250" lvl="1"/>
            <a:r>
              <a:rPr lang="en-GB" altLang="en-PK"/>
              <a:t>heuristics may be employed to select operators</a:t>
            </a:r>
            <a:br>
              <a:rPr lang="en-GB" altLang="en-PK"/>
            </a:br>
            <a:r>
              <a:rPr lang="en-GB" altLang="en-PK"/>
              <a:t>	e.g. means-ends analysis</a:t>
            </a:r>
          </a:p>
          <a:p>
            <a:pPr marL="476250" lvl="1"/>
            <a:r>
              <a:rPr lang="en-GB" altLang="en-PK"/>
              <a:t>operates within human information processing system</a:t>
            </a:r>
            <a:br>
              <a:rPr lang="en-GB" altLang="en-PK"/>
            </a:br>
            <a:r>
              <a:rPr lang="en-GB" altLang="en-PK"/>
              <a:t>	e.g. STM limits etc.</a:t>
            </a:r>
          </a:p>
          <a:p>
            <a:pPr marL="476250" lvl="1"/>
            <a:r>
              <a:rPr lang="en-GB" altLang="en-PK"/>
              <a:t>largely applied to problem solving in well-defined areas</a:t>
            </a:r>
            <a:br>
              <a:rPr lang="en-GB" altLang="en-PK"/>
            </a:br>
            <a:r>
              <a:rPr lang="en-GB" altLang="en-PK"/>
              <a:t>	e.g. puzzles rather than knowledge intensive areas</a:t>
            </a:r>
          </a:p>
          <a:p>
            <a:pPr marL="0" indent="0"/>
            <a:endParaRPr lang="en-GB" altLang="en-PK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EF1C337-292F-43D1-4140-E74D311BD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Problem solving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483D258-4D5A-5BBB-719F-AE5794B06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PK" sz="2400"/>
              <a:t>Analogy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analogical mapping: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PK" sz="1600"/>
              <a:t>novel problems in new domain?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PK" sz="1600"/>
              <a:t>use knowledge of similar problem from similar domain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analogical mapping difficult if domains are semantically different</a:t>
            </a:r>
          </a:p>
          <a:p>
            <a:pPr eaLnBrk="1" hangingPunct="1">
              <a:lnSpc>
                <a:spcPct val="90000"/>
              </a:lnSpc>
            </a:pPr>
            <a:endParaRPr lang="en-GB" altLang="en-PK" sz="1800"/>
          </a:p>
          <a:p>
            <a:pPr eaLnBrk="1" hangingPunct="1">
              <a:lnSpc>
                <a:spcPct val="90000"/>
              </a:lnSpc>
            </a:pPr>
            <a:r>
              <a:rPr lang="en-GB" altLang="en-PK" sz="2400"/>
              <a:t>Skill acquisition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skilled activity characterized by chunking</a:t>
            </a:r>
            <a:endParaRPr lang="en-GB" altLang="en-PK"/>
          </a:p>
          <a:p>
            <a:pPr lvl="2" eaLnBrk="1" hangingPunct="1">
              <a:lnSpc>
                <a:spcPct val="90000"/>
              </a:lnSpc>
            </a:pPr>
            <a:r>
              <a:rPr lang="en-GB" altLang="en-PK" sz="1600"/>
              <a:t>lot of information is chunked to optimize STM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conceptual rather than superficial grouping of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 sz="1800"/>
              <a:t>information is structured more effectively</a:t>
            </a:r>
          </a:p>
          <a:p>
            <a:pPr eaLnBrk="1" hangingPunct="1">
              <a:lnSpc>
                <a:spcPct val="90000"/>
              </a:lnSpc>
            </a:pPr>
            <a:endParaRPr lang="en-GB" altLang="en-PK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29EA3C7-ECA0-D19B-099F-91CC88E7D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Errors and mental models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88BA990-8E56-1F22-ED9C-55141A860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PK" sz="2400"/>
              <a:t>Types of error</a:t>
            </a:r>
          </a:p>
          <a:p>
            <a:pPr eaLnBrk="1" hangingPunct="1">
              <a:lnSpc>
                <a:spcPct val="90000"/>
              </a:lnSpc>
            </a:pPr>
            <a:endParaRPr lang="en-GB" altLang="en-PK" sz="1200"/>
          </a:p>
          <a:p>
            <a:pPr eaLnBrk="1" hangingPunct="1">
              <a:lnSpc>
                <a:spcPct val="90000"/>
              </a:lnSpc>
            </a:pPr>
            <a:r>
              <a:rPr lang="en-GB" altLang="en-PK" sz="2400"/>
              <a:t>slips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	right intention, but failed to do it right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	causes: poor physical skill,inattention etc.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	change to aspect of skilled behaviour can cause slip</a:t>
            </a:r>
          </a:p>
          <a:p>
            <a:pPr eaLnBrk="1" hangingPunct="1">
              <a:lnSpc>
                <a:spcPct val="90000"/>
              </a:lnSpc>
            </a:pPr>
            <a:endParaRPr lang="en-GB" altLang="en-PK" sz="1200"/>
          </a:p>
          <a:p>
            <a:pPr eaLnBrk="1" hangingPunct="1">
              <a:lnSpc>
                <a:spcPct val="90000"/>
              </a:lnSpc>
            </a:pPr>
            <a:r>
              <a:rPr lang="en-GB" altLang="en-PK" sz="2400"/>
              <a:t>mistakes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	wrong intention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PK"/>
              <a:t>	cause: incorrect understanding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altLang="en-PK" sz="1600"/>
              <a:t>humans create mental models to explain behaviour.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GB" altLang="en-PK" sz="1600"/>
              <a:t>if wrong (different from actual system) errors can occur</a:t>
            </a:r>
            <a:endParaRPr lang="en-GB" altLang="en-PK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EF371A6-8EE0-FD55-2DFD-DD81462C4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Emotion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7FFF6BC-D9DA-825D-22FF-0025F390B3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828800"/>
            <a:ext cx="7772400" cy="4114800"/>
          </a:xfrm>
        </p:spPr>
        <p:txBody>
          <a:bodyPr/>
          <a:lstStyle/>
          <a:p>
            <a:pPr eaLnBrk="1" hangingPunct="1"/>
            <a:r>
              <a:rPr lang="en-GB" altLang="en-PK" sz="2400"/>
              <a:t>Various theories of how emotion works</a:t>
            </a:r>
            <a:endParaRPr lang="en-GB" altLang="en-PK"/>
          </a:p>
          <a:p>
            <a:pPr lvl="1" eaLnBrk="1" hangingPunct="1"/>
            <a:r>
              <a:rPr lang="en-GB" altLang="en-PK"/>
              <a:t>James-Lange: emotion is our interpretation of a physiological response to a stimuli</a:t>
            </a:r>
          </a:p>
          <a:p>
            <a:pPr lvl="1" eaLnBrk="1" hangingPunct="1"/>
            <a:r>
              <a:rPr lang="en-GB" altLang="en-PK"/>
              <a:t>Cannon: emotion is a psychological response to a stimuli</a:t>
            </a:r>
          </a:p>
          <a:p>
            <a:pPr lvl="1" eaLnBrk="1" hangingPunct="1"/>
            <a:r>
              <a:rPr lang="en-GB" altLang="en-PK"/>
              <a:t>Schacter-Singer: emotion is the result of our evaluation of our physiological responses, in the light of the whole situation we are in</a:t>
            </a:r>
          </a:p>
          <a:p>
            <a:pPr eaLnBrk="1" hangingPunct="1"/>
            <a:r>
              <a:rPr lang="en-GB" altLang="en-PK" sz="2400"/>
              <a:t>Emotion clearly involves both cognitive and physical responses to stimuli</a:t>
            </a:r>
            <a:endParaRPr lang="en-GB" altLang="en-PK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079A836-B126-B33E-3D11-08169C0FC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Emotion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AD77416-1476-8856-B105-C612093F1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828800"/>
            <a:ext cx="7772400" cy="4114800"/>
          </a:xfrm>
        </p:spPr>
        <p:txBody>
          <a:bodyPr/>
          <a:lstStyle/>
          <a:p>
            <a:pPr eaLnBrk="1" hangingPunct="1"/>
            <a:r>
              <a:rPr lang="en-GB" altLang="en-PK" sz="2400"/>
              <a:t>The biological response to physical stimuli is called </a:t>
            </a:r>
            <a:r>
              <a:rPr lang="en-GB" altLang="en-PK" sz="2400" i="1"/>
              <a:t>affect</a:t>
            </a:r>
          </a:p>
          <a:p>
            <a:pPr eaLnBrk="1" hangingPunct="1">
              <a:buFontTx/>
              <a:buNone/>
            </a:pPr>
            <a:r>
              <a:rPr lang="en-GB" altLang="en-PK" sz="2400"/>
              <a:t> </a:t>
            </a:r>
          </a:p>
          <a:p>
            <a:pPr eaLnBrk="1" hangingPunct="1"/>
            <a:r>
              <a:rPr lang="en-GB" altLang="en-PK" sz="2400"/>
              <a:t>Affect influences how we respond to situations</a:t>
            </a:r>
          </a:p>
          <a:p>
            <a:pPr lvl="1" eaLnBrk="1" hangingPunct="1"/>
            <a:r>
              <a:rPr lang="en-GB" altLang="en-PK"/>
              <a:t>positive </a:t>
            </a:r>
            <a:r>
              <a:rPr lang="en-GB" altLang="en-PK">
                <a:sym typeface="Symbol" pitchFamily="2" charset="2"/>
              </a:rPr>
              <a:t> creative problem solving</a:t>
            </a:r>
          </a:p>
          <a:p>
            <a:pPr lvl="1" eaLnBrk="1" hangingPunct="1"/>
            <a:r>
              <a:rPr lang="en-GB" altLang="en-PK">
                <a:sym typeface="Symbol" pitchFamily="2" charset="2"/>
              </a:rPr>
              <a:t>negative  narrow thinking</a:t>
            </a:r>
            <a:endParaRPr lang="en-GB" altLang="en-PK"/>
          </a:p>
          <a:p>
            <a:pPr lvl="1" eaLnBrk="1" hangingPunct="1">
              <a:buFontTx/>
              <a:buNone/>
            </a:pPr>
            <a:endParaRPr lang="en-GB" altLang="en-PK"/>
          </a:p>
          <a:p>
            <a:pPr lvl="1" eaLnBrk="1" hangingPunct="1">
              <a:buFontTx/>
              <a:buNone/>
            </a:pPr>
            <a:r>
              <a:rPr lang="en-GB" altLang="en-PK"/>
              <a:t>“Negative affect can make it harder to do even easy tasks; positive affect can make it easier to do difficult tasks” </a:t>
            </a:r>
          </a:p>
          <a:p>
            <a:pPr lvl="4" algn="r" eaLnBrk="1" hangingPunct="1">
              <a:buFontTx/>
              <a:buNone/>
            </a:pPr>
            <a:r>
              <a:rPr lang="en-GB" altLang="en-PK" sz="1600"/>
              <a:t>(Donald Norman)</a:t>
            </a:r>
            <a:endParaRPr lang="en-GB" altLang="en-PK" sz="1800"/>
          </a:p>
          <a:p>
            <a:pPr eaLnBrk="1" hangingPunct="1"/>
            <a:endParaRPr lang="en-GB" altLang="en-PK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27D8335-B3E1-744C-796C-F2A4EA66F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Emotion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1ADC4E9-4728-0FF6-7680-6CE6AA7A8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Implications for interface design</a:t>
            </a:r>
          </a:p>
          <a:p>
            <a:pPr lvl="1" eaLnBrk="1" hangingPunct="1"/>
            <a:r>
              <a:rPr lang="en-GB" altLang="en-PK"/>
              <a:t>stress will increase the difficulty of problem solving</a:t>
            </a:r>
          </a:p>
          <a:p>
            <a:pPr lvl="1" eaLnBrk="1" hangingPunct="1"/>
            <a:r>
              <a:rPr lang="en-GB" altLang="en-PK"/>
              <a:t>relaxed users will be more forgiving of shortcomings in design</a:t>
            </a:r>
          </a:p>
          <a:p>
            <a:pPr lvl="1" eaLnBrk="1" hangingPunct="1"/>
            <a:r>
              <a:rPr lang="en-GB" altLang="en-PK"/>
              <a:t>aesthetically pleasing and rewarding interfaces will increase positive affect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566DDDC-7669-DE55-7074-C432888C7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Individual differences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F48D2E8-5960-2DF6-DBF9-4A8320DDA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PK" sz="2400"/>
              <a:t>long term</a:t>
            </a:r>
            <a:br>
              <a:rPr lang="en-GB" altLang="en-PK" sz="2400"/>
            </a:br>
            <a:r>
              <a:rPr lang="en-GB" altLang="en-PK" sz="2400"/>
              <a:t>	–  sex, physical and intellectual abilities</a:t>
            </a:r>
          </a:p>
          <a:p>
            <a:pPr eaLnBrk="1" hangingPunct="1"/>
            <a:r>
              <a:rPr lang="en-GB" altLang="en-PK" sz="2400"/>
              <a:t>short term</a:t>
            </a:r>
            <a:br>
              <a:rPr lang="en-GB" altLang="en-PK" sz="2400"/>
            </a:br>
            <a:r>
              <a:rPr lang="en-GB" altLang="en-PK" sz="2400"/>
              <a:t>	–  effect of stress or fatigue</a:t>
            </a:r>
          </a:p>
          <a:p>
            <a:pPr eaLnBrk="1" hangingPunct="1"/>
            <a:r>
              <a:rPr lang="en-GB" altLang="en-PK" sz="2400"/>
              <a:t>changing</a:t>
            </a:r>
            <a:br>
              <a:rPr lang="en-GB" altLang="en-PK" sz="2400"/>
            </a:br>
            <a:r>
              <a:rPr lang="en-GB" altLang="en-PK" sz="2400"/>
              <a:t>	–  age</a:t>
            </a:r>
          </a:p>
          <a:p>
            <a:pPr eaLnBrk="1" hangingPunct="1"/>
            <a:endParaRPr lang="en-GB" altLang="en-PK" sz="1200"/>
          </a:p>
          <a:p>
            <a:pPr eaLnBrk="1" hangingPunct="1">
              <a:buFontTx/>
              <a:buNone/>
            </a:pPr>
            <a:r>
              <a:rPr lang="en-GB" altLang="en-PK" sz="2400"/>
              <a:t>Ask yourself:</a:t>
            </a:r>
            <a:br>
              <a:rPr lang="en-GB" altLang="en-PK" sz="2400"/>
            </a:br>
            <a:r>
              <a:rPr lang="en-GB" altLang="en-PK" sz="2400"/>
              <a:t>will design decision exclude section of user population?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94FAB23-2895-7C8A-C9E5-870C04834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PK"/>
              <a:t>Psychology and the Design of Interactive System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F502346-2701-3E9A-F163-6003FF057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tabLst>
                <a:tab pos="1435100" algn="l"/>
              </a:tabLst>
            </a:pPr>
            <a:r>
              <a:rPr lang="en-GB" altLang="en-PK" dirty="0"/>
              <a:t>Some direct applications</a:t>
            </a:r>
          </a:p>
          <a:p>
            <a:pPr lvl="1">
              <a:tabLst>
                <a:tab pos="1435100" algn="l"/>
              </a:tabLst>
            </a:pPr>
            <a:r>
              <a:rPr lang="en-GB" altLang="en-PK" sz="1800" dirty="0"/>
              <a:t>e.g.	blue acuity is poor</a:t>
            </a:r>
            <a:br>
              <a:rPr lang="en-GB" altLang="en-PK" sz="1800" dirty="0"/>
            </a:br>
            <a:r>
              <a:rPr lang="en-GB" altLang="en-PK" sz="1800" dirty="0"/>
              <a:t>	</a:t>
            </a:r>
            <a:r>
              <a:rPr lang="en-GB" altLang="en-PK" sz="1800" dirty="0">
                <a:sym typeface="Symbol" pitchFamily="2" charset="2"/>
              </a:rPr>
              <a:t></a:t>
            </a:r>
            <a:r>
              <a:rPr lang="en-GB" altLang="en-PK" sz="1800" dirty="0"/>
              <a:t> Blue should not be used for important details</a:t>
            </a:r>
          </a:p>
          <a:p>
            <a:pPr>
              <a:tabLst>
                <a:tab pos="1435100" algn="l"/>
              </a:tabLst>
            </a:pPr>
            <a:endParaRPr lang="en-GB" altLang="en-PK" dirty="0"/>
          </a:p>
          <a:p>
            <a:pPr>
              <a:tabLst>
                <a:tab pos="1435100" algn="l"/>
              </a:tabLst>
            </a:pPr>
            <a:r>
              <a:rPr lang="en-GB" altLang="en-PK" dirty="0"/>
              <a:t>However, correct application generally requires an understanding of context in psychology and an understanding of particular experimental conditions</a:t>
            </a:r>
          </a:p>
          <a:p>
            <a:pPr>
              <a:tabLst>
                <a:tab pos="1435100" algn="l"/>
              </a:tabLst>
            </a:pPr>
            <a:endParaRPr lang="en-GB" altLang="en-PK" dirty="0"/>
          </a:p>
          <a:p>
            <a:pPr>
              <a:tabLst>
                <a:tab pos="1435100" algn="l"/>
              </a:tabLst>
            </a:pPr>
            <a:r>
              <a:rPr lang="en-GB" altLang="en-PK" dirty="0"/>
              <a:t>A lot of knowledge has been distilled in</a:t>
            </a:r>
          </a:p>
          <a:p>
            <a:pPr lvl="1">
              <a:tabLst>
                <a:tab pos="1435100" algn="l"/>
              </a:tabLst>
            </a:pPr>
            <a:r>
              <a:rPr lang="en-GB" altLang="en-PK" sz="1800" dirty="0"/>
              <a:t>guidelines </a:t>
            </a:r>
          </a:p>
          <a:p>
            <a:pPr lvl="1">
              <a:tabLst>
                <a:tab pos="1435100" algn="l"/>
              </a:tabLst>
            </a:pPr>
            <a:r>
              <a:rPr lang="en-GB" altLang="en-PK" sz="1800" dirty="0"/>
              <a:t>cognitive models </a:t>
            </a:r>
          </a:p>
          <a:p>
            <a:pPr lvl="1">
              <a:tabLst>
                <a:tab pos="1435100" algn="l"/>
              </a:tabLst>
            </a:pPr>
            <a:r>
              <a:rPr lang="en-GB" altLang="en-PK" sz="1800" dirty="0"/>
              <a:t>experimental and analytic evaluation techniques </a:t>
            </a:r>
          </a:p>
          <a:p>
            <a:pPr>
              <a:tabLst>
                <a:tab pos="1435100" algn="l"/>
              </a:tabLst>
            </a:pPr>
            <a:endParaRPr lang="en-GB" altLang="en-PK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392A2E9E-75B1-474B-B43D-1415752F59A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1381</Words>
  <Application>Microsoft Macintosh PowerPoint</Application>
  <PresentationFormat>Widescreen</PresentationFormat>
  <Paragraphs>289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Symbol</vt:lpstr>
      <vt:lpstr>Times New Roman</vt:lpstr>
      <vt:lpstr>Office Theme</vt:lpstr>
      <vt:lpstr>Human Memory</vt:lpstr>
      <vt:lpstr>the human</vt:lpstr>
      <vt:lpstr>Memory</vt:lpstr>
      <vt:lpstr>sensory memory</vt:lpstr>
      <vt:lpstr>Short-term memory (STM)</vt:lpstr>
      <vt:lpstr>Examples</vt:lpstr>
      <vt:lpstr>Long-term memory (LTM)</vt:lpstr>
      <vt:lpstr>Long-term memory (cont.)</vt:lpstr>
      <vt:lpstr>LTM - semantic network</vt:lpstr>
      <vt:lpstr>Models of LTM - Frames</vt:lpstr>
      <vt:lpstr>Models of LTM - Scripts</vt:lpstr>
      <vt:lpstr>Models of LTM - Production rules</vt:lpstr>
      <vt:lpstr>LTM - Storage of information</vt:lpstr>
      <vt:lpstr>LTM - Forgetting</vt:lpstr>
      <vt:lpstr>LTM - retrieval</vt:lpstr>
      <vt:lpstr>Thinking</vt:lpstr>
      <vt:lpstr>Deductive Reasoning</vt:lpstr>
      <vt:lpstr>Deduction (cont.)</vt:lpstr>
      <vt:lpstr>Inductive Reasoning</vt:lpstr>
      <vt:lpstr>Wason's cards</vt:lpstr>
      <vt:lpstr>Abductive reasoning</vt:lpstr>
      <vt:lpstr>Problem solving</vt:lpstr>
      <vt:lpstr>Problem solving (cont.)</vt:lpstr>
      <vt:lpstr>Problem solving (cont.)</vt:lpstr>
      <vt:lpstr>Errors and mental models</vt:lpstr>
      <vt:lpstr>Emotion</vt:lpstr>
      <vt:lpstr>Emotion (cont.)</vt:lpstr>
      <vt:lpstr>Emotion (cont.)</vt:lpstr>
      <vt:lpstr>Individual differences</vt:lpstr>
      <vt:lpstr>Psychology and the Design of Interactive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Memory</dc:title>
  <dc:creator>Shakeel A. Khoja</dc:creator>
  <cp:lastModifiedBy>Dr. Shakeel Ahmed Khoja / Professor and Dean School of Mathematics and Computer Science</cp:lastModifiedBy>
  <cp:revision>3</cp:revision>
  <dcterms:created xsi:type="dcterms:W3CDTF">2022-11-14T04:16:12Z</dcterms:created>
  <dcterms:modified xsi:type="dcterms:W3CDTF">2025-10-07T17:38:28Z</dcterms:modified>
</cp:coreProperties>
</file>