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9" r:id="rId5"/>
    <p:sldId id="259" r:id="rId6"/>
    <p:sldId id="270" r:id="rId7"/>
    <p:sldId id="260" r:id="rId8"/>
    <p:sldId id="268" r:id="rId9"/>
    <p:sldId id="261" r:id="rId10"/>
    <p:sldId id="272" r:id="rId11"/>
    <p:sldId id="262" r:id="rId12"/>
    <p:sldId id="273" r:id="rId13"/>
    <p:sldId id="274" r:id="rId14"/>
    <p:sldId id="275" r:id="rId15"/>
    <p:sldId id="276" r:id="rId16"/>
    <p:sldId id="277" r:id="rId17"/>
    <p:sldId id="278" r:id="rId18"/>
    <p:sldId id="279" r:id="rId19"/>
    <p:sldId id="280" r:id="rId20"/>
    <p:sldId id="271" r:id="rId21"/>
    <p:sldId id="263" r:id="rId22"/>
    <p:sldId id="264" r:id="rId23"/>
    <p:sldId id="265" r:id="rId24"/>
    <p:sldId id="266" r:id="rId25"/>
    <p:sldId id="267"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449" autoAdjust="0"/>
    <p:restoredTop sz="94660"/>
  </p:normalViewPr>
  <p:slideViewPr>
    <p:cSldViewPr snapToGrid="0">
      <p:cViewPr varScale="1">
        <p:scale>
          <a:sx n="78" d="100"/>
          <a:sy n="78" d="100"/>
        </p:scale>
        <p:origin x="98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BFD3CA9-440D-481E-8865-32D5749BEF90}" type="datetimeFigureOut">
              <a:rPr lang="en-US" smtClean="0"/>
              <a:t>10/5/25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00AC01-B4EB-45E6-B7A1-439BB4146075}" type="slidenum">
              <a:rPr lang="en-US" smtClean="0"/>
              <a:t>‹#›</a:t>
            </a:fld>
            <a:endParaRPr lang="en-US"/>
          </a:p>
        </p:txBody>
      </p:sp>
    </p:spTree>
    <p:extLst>
      <p:ext uri="{BB962C8B-B14F-4D97-AF65-F5344CB8AC3E}">
        <p14:creationId xmlns:p14="http://schemas.microsoft.com/office/powerpoint/2010/main" val="8090955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BFD3CA9-440D-481E-8865-32D5749BEF90}" type="datetimeFigureOut">
              <a:rPr lang="en-US" smtClean="0"/>
              <a:t>10/5/25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00AC01-B4EB-45E6-B7A1-439BB4146075}" type="slidenum">
              <a:rPr lang="en-US" smtClean="0"/>
              <a:t>‹#›</a:t>
            </a:fld>
            <a:endParaRPr lang="en-US"/>
          </a:p>
        </p:txBody>
      </p:sp>
    </p:spTree>
    <p:extLst>
      <p:ext uri="{BB962C8B-B14F-4D97-AF65-F5344CB8AC3E}">
        <p14:creationId xmlns:p14="http://schemas.microsoft.com/office/powerpoint/2010/main" val="1099427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BFD3CA9-440D-481E-8865-32D5749BEF90}" type="datetimeFigureOut">
              <a:rPr lang="en-US" smtClean="0"/>
              <a:t>10/5/25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00AC01-B4EB-45E6-B7A1-439BB4146075}" type="slidenum">
              <a:rPr lang="en-US" smtClean="0"/>
              <a:t>‹#›</a:t>
            </a:fld>
            <a:endParaRPr lang="en-US"/>
          </a:p>
        </p:txBody>
      </p:sp>
    </p:spTree>
    <p:extLst>
      <p:ext uri="{BB962C8B-B14F-4D97-AF65-F5344CB8AC3E}">
        <p14:creationId xmlns:p14="http://schemas.microsoft.com/office/powerpoint/2010/main" val="3469096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BFD3CA9-440D-481E-8865-32D5749BEF90}" type="datetimeFigureOut">
              <a:rPr lang="en-US" smtClean="0"/>
              <a:t>10/5/25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00AC01-B4EB-45E6-B7A1-439BB4146075}" type="slidenum">
              <a:rPr lang="en-US" smtClean="0"/>
              <a:t>‹#›</a:t>
            </a:fld>
            <a:endParaRPr lang="en-US"/>
          </a:p>
        </p:txBody>
      </p:sp>
    </p:spTree>
    <p:extLst>
      <p:ext uri="{BB962C8B-B14F-4D97-AF65-F5344CB8AC3E}">
        <p14:creationId xmlns:p14="http://schemas.microsoft.com/office/powerpoint/2010/main" val="8463299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BFD3CA9-440D-481E-8865-32D5749BEF90}" type="datetimeFigureOut">
              <a:rPr lang="en-US" smtClean="0"/>
              <a:t>10/5/25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A00AC01-B4EB-45E6-B7A1-439BB4146075}" type="slidenum">
              <a:rPr lang="en-US" smtClean="0"/>
              <a:t>‹#›</a:t>
            </a:fld>
            <a:endParaRPr lang="en-US"/>
          </a:p>
        </p:txBody>
      </p:sp>
    </p:spTree>
    <p:extLst>
      <p:ext uri="{BB962C8B-B14F-4D97-AF65-F5344CB8AC3E}">
        <p14:creationId xmlns:p14="http://schemas.microsoft.com/office/powerpoint/2010/main" val="7775357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BFD3CA9-440D-481E-8865-32D5749BEF90}" type="datetimeFigureOut">
              <a:rPr lang="en-US" smtClean="0"/>
              <a:t>10/5/25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A00AC01-B4EB-45E6-B7A1-439BB4146075}" type="slidenum">
              <a:rPr lang="en-US" smtClean="0"/>
              <a:t>‹#›</a:t>
            </a:fld>
            <a:endParaRPr lang="en-US"/>
          </a:p>
        </p:txBody>
      </p:sp>
    </p:spTree>
    <p:extLst>
      <p:ext uri="{BB962C8B-B14F-4D97-AF65-F5344CB8AC3E}">
        <p14:creationId xmlns:p14="http://schemas.microsoft.com/office/powerpoint/2010/main" val="2655358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FD3CA9-440D-481E-8865-32D5749BEF90}" type="datetimeFigureOut">
              <a:rPr lang="en-US" smtClean="0"/>
              <a:t>10/5/25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A00AC01-B4EB-45E6-B7A1-439BB4146075}" type="slidenum">
              <a:rPr lang="en-US" smtClean="0"/>
              <a:t>‹#›</a:t>
            </a:fld>
            <a:endParaRPr lang="en-US"/>
          </a:p>
        </p:txBody>
      </p:sp>
    </p:spTree>
    <p:extLst>
      <p:ext uri="{BB962C8B-B14F-4D97-AF65-F5344CB8AC3E}">
        <p14:creationId xmlns:p14="http://schemas.microsoft.com/office/powerpoint/2010/main" val="21676260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BFD3CA9-440D-481E-8865-32D5749BEF90}" type="datetimeFigureOut">
              <a:rPr lang="en-US" smtClean="0"/>
              <a:t>10/5/25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00AC01-B4EB-45E6-B7A1-439BB4146075}" type="slidenum">
              <a:rPr lang="en-US" smtClean="0"/>
              <a:t>‹#›</a:t>
            </a:fld>
            <a:endParaRPr lang="en-US"/>
          </a:p>
        </p:txBody>
      </p:sp>
    </p:spTree>
    <p:extLst>
      <p:ext uri="{BB962C8B-B14F-4D97-AF65-F5344CB8AC3E}">
        <p14:creationId xmlns:p14="http://schemas.microsoft.com/office/powerpoint/2010/main" val="2795484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BFD3CA9-440D-481E-8865-32D5749BEF90}" type="datetimeFigureOut">
              <a:rPr lang="en-US" smtClean="0"/>
              <a:t>10/5/25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00AC01-B4EB-45E6-B7A1-439BB4146075}" type="slidenum">
              <a:rPr lang="en-US" smtClean="0"/>
              <a:t>‹#›</a:t>
            </a:fld>
            <a:endParaRPr lang="en-US"/>
          </a:p>
        </p:txBody>
      </p:sp>
    </p:spTree>
    <p:extLst>
      <p:ext uri="{BB962C8B-B14F-4D97-AF65-F5344CB8AC3E}">
        <p14:creationId xmlns:p14="http://schemas.microsoft.com/office/powerpoint/2010/main" val="8078211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BFD3CA9-440D-481E-8865-32D5749BEF90}" type="datetimeFigureOut">
              <a:rPr lang="en-US" smtClean="0"/>
              <a:t>10/5/25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00AC01-B4EB-45E6-B7A1-439BB4146075}" type="slidenum">
              <a:rPr lang="en-US" smtClean="0"/>
              <a:t>‹#›</a:t>
            </a:fld>
            <a:endParaRPr lang="en-US"/>
          </a:p>
        </p:txBody>
      </p:sp>
    </p:spTree>
    <p:extLst>
      <p:ext uri="{BB962C8B-B14F-4D97-AF65-F5344CB8AC3E}">
        <p14:creationId xmlns:p14="http://schemas.microsoft.com/office/powerpoint/2010/main" val="1493553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BFD3CA9-440D-481E-8865-32D5749BEF90}" type="datetimeFigureOut">
              <a:rPr lang="en-US" smtClean="0"/>
              <a:t>10/5/25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00AC01-B4EB-45E6-B7A1-439BB4146075}" type="slidenum">
              <a:rPr lang="en-US" smtClean="0"/>
              <a:t>‹#›</a:t>
            </a:fld>
            <a:endParaRPr lang="en-US"/>
          </a:p>
        </p:txBody>
      </p:sp>
    </p:spTree>
    <p:extLst>
      <p:ext uri="{BB962C8B-B14F-4D97-AF65-F5344CB8AC3E}">
        <p14:creationId xmlns:p14="http://schemas.microsoft.com/office/powerpoint/2010/main" val="6381720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FD3CA9-440D-481E-8865-32D5749BEF90}" type="datetimeFigureOut">
              <a:rPr lang="en-US" smtClean="0"/>
              <a:t>10/5/25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00AC01-B4EB-45E6-B7A1-439BB4146075}" type="slidenum">
              <a:rPr lang="en-US" smtClean="0"/>
              <a:t>‹#›</a:t>
            </a:fld>
            <a:endParaRPr lang="en-US"/>
          </a:p>
        </p:txBody>
      </p:sp>
    </p:spTree>
    <p:extLst>
      <p:ext uri="{BB962C8B-B14F-4D97-AF65-F5344CB8AC3E}">
        <p14:creationId xmlns:p14="http://schemas.microsoft.com/office/powerpoint/2010/main" val="39121855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Navigation Infrastructures</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1765897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Hierarchical</a:t>
            </a:r>
          </a:p>
        </p:txBody>
      </p:sp>
      <p:pic>
        <p:nvPicPr>
          <p:cNvPr id="1026" name="Picture 2" descr="The hierarchical tree model usually manifests in a horizontal navigation bar, often with a single or multilevel drop down men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53006" y="1271588"/>
            <a:ext cx="6333943" cy="47884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45516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Nested Doll</a:t>
            </a:r>
          </a:p>
        </p:txBody>
      </p:sp>
      <p:sp>
        <p:nvSpPr>
          <p:cNvPr id="3" name="Content Placeholder 2"/>
          <p:cNvSpPr>
            <a:spLocks noGrp="1"/>
          </p:cNvSpPr>
          <p:nvPr>
            <p:ph idx="1"/>
          </p:nvPr>
        </p:nvSpPr>
        <p:spPr>
          <a:xfrm>
            <a:off x="838200" y="1501775"/>
            <a:ext cx="10515600" cy="2232025"/>
          </a:xfrm>
        </p:spPr>
        <p:txBody>
          <a:bodyPr>
            <a:normAutofit fontScale="85000" lnSpcReduction="20000"/>
          </a:bodyPr>
          <a:lstStyle/>
          <a:p>
            <a:r>
              <a:rPr lang="en-US" dirty="0"/>
              <a:t>linear menu pattern that is conventional in mobile web apps. Users incrementally tap or swipe to reveal additional menu options as they traverse up and down through the site map. </a:t>
            </a:r>
          </a:p>
          <a:p>
            <a:r>
              <a:rPr lang="en-US" dirty="0" err="1"/>
              <a:t>Funnelling</a:t>
            </a:r>
            <a:r>
              <a:rPr lang="en-US" dirty="0"/>
              <a:t> users from broad overview pages to detail pages helps them hone in on what they’re looking for and focus on content within an individual section. This approach is well suited to small screens, but comes at the expense of easy lateral movement across sections.</a:t>
            </a:r>
          </a:p>
        </p:txBody>
      </p:sp>
      <p:pic>
        <p:nvPicPr>
          <p:cNvPr id="2050" name="Picture 2" descr="With the nested doll navifation, users incrementally tap or swipe to reveal additional menu options as they traverse up and down through the site ma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3467100"/>
            <a:ext cx="10515600" cy="36173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71229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https://cdn-images-1.medium.com/max/1000/1*do1FKnmLV2VWjfQQaBjAHw.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553" y="747712"/>
            <a:ext cx="12263553" cy="53591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17408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Hub and Spoke</a:t>
            </a:r>
          </a:p>
        </p:txBody>
      </p:sp>
      <p:sp>
        <p:nvSpPr>
          <p:cNvPr id="3" name="Content Placeholder 2"/>
          <p:cNvSpPr>
            <a:spLocks noGrp="1"/>
          </p:cNvSpPr>
          <p:nvPr>
            <p:ph idx="1"/>
          </p:nvPr>
        </p:nvSpPr>
        <p:spPr>
          <a:xfrm>
            <a:off x="838200" y="1330325"/>
            <a:ext cx="5470525" cy="5299075"/>
          </a:xfrm>
        </p:spPr>
        <p:txBody>
          <a:bodyPr>
            <a:normAutofit fontScale="92500" lnSpcReduction="10000"/>
          </a:bodyPr>
          <a:lstStyle/>
          <a:p>
            <a:r>
              <a:rPr lang="en-US" dirty="0"/>
              <a:t>Utilizes a central screen that acts as the launchpad for exploration.</a:t>
            </a:r>
          </a:p>
          <a:p>
            <a:r>
              <a:rPr lang="en-US" dirty="0"/>
              <a:t>Links point outward to other sections of the website or independent applications, each siloed from the others. ‘</a:t>
            </a:r>
          </a:p>
          <a:p>
            <a:r>
              <a:rPr lang="en-US" dirty="0"/>
              <a:t>To move from one section to another, you must first jump back to the hub. This home-screen approach eliminates the need for global navigation on each page, making it a popular choice for task-based applications that benefit from focus and minimal distraction.</a:t>
            </a:r>
          </a:p>
        </p:txBody>
      </p:sp>
      <p:pic>
        <p:nvPicPr>
          <p:cNvPr id="3074" name="Picture 2" descr="The hub and spoke utilizes a central screen that acts as the launchpad for explor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57165" y="1027906"/>
            <a:ext cx="6034835" cy="53347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65798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Image result for Hub and Spoke Navigation examp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5004" y="0"/>
            <a:ext cx="7977891"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24756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Bento Box</a:t>
            </a:r>
          </a:p>
        </p:txBody>
      </p:sp>
      <p:sp>
        <p:nvSpPr>
          <p:cNvPr id="3" name="Content Placeholder 2"/>
          <p:cNvSpPr>
            <a:spLocks noGrp="1"/>
          </p:cNvSpPr>
          <p:nvPr>
            <p:ph idx="1"/>
          </p:nvPr>
        </p:nvSpPr>
        <p:spPr>
          <a:xfrm>
            <a:off x="838200" y="1257300"/>
            <a:ext cx="4324350" cy="5600700"/>
          </a:xfrm>
        </p:spPr>
        <p:txBody>
          <a:bodyPr>
            <a:normAutofit lnSpcReduction="10000"/>
          </a:bodyPr>
          <a:lstStyle/>
          <a:p>
            <a:r>
              <a:rPr lang="en-US" dirty="0"/>
              <a:t>The bento box model is a dashboard-style application that pulls in dynamic components and information. </a:t>
            </a:r>
          </a:p>
          <a:p>
            <a:r>
              <a:rPr lang="en-US" dirty="0"/>
              <a:t>Most interactions occur in the context of a single multi-purpose screen that unfolds to reveal layers of additional information. This is a popular choice for websites on which users interact with data aggregated from a variety sources.</a:t>
            </a:r>
          </a:p>
        </p:txBody>
      </p:sp>
      <p:pic>
        <p:nvPicPr>
          <p:cNvPr id="4098" name="Picture 2" descr="https://cloud.netlifyusercontent.com/assets/344dbf88-fdf9-42bb-adb4-46f01eedd629/81b0bdaa-dc00-4044-9f9f-fa42b98dac1b/04-bento-box-op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62600" y="176212"/>
            <a:ext cx="6629400" cy="6391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20257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NCSU bento results "/>
          <p:cNvSpPr>
            <a:spLocks noChangeAspect="1" noChangeArrowheads="1"/>
          </p:cNvSpPr>
          <p:nvPr/>
        </p:nvSpPr>
        <p:spPr bwMode="auto">
          <a:xfrm>
            <a:off x="155575" y="-144463"/>
            <a:ext cx="5122278" cy="512229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1268" name="Picture 4" descr="NCSU bento results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6714" y="0"/>
            <a:ext cx="5657396" cy="6940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14640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Filtered View</a:t>
            </a:r>
          </a:p>
        </p:txBody>
      </p:sp>
      <p:sp>
        <p:nvSpPr>
          <p:cNvPr id="3" name="Content Placeholder 2"/>
          <p:cNvSpPr>
            <a:spLocks noGrp="1"/>
          </p:cNvSpPr>
          <p:nvPr>
            <p:ph idx="1"/>
          </p:nvPr>
        </p:nvSpPr>
        <p:spPr>
          <a:xfrm>
            <a:off x="838200" y="1825625"/>
            <a:ext cx="4933950" cy="4351338"/>
          </a:xfrm>
        </p:spPr>
        <p:txBody>
          <a:bodyPr>
            <a:normAutofit/>
          </a:bodyPr>
          <a:lstStyle/>
          <a:p>
            <a:r>
              <a:rPr lang="en-US" dirty="0"/>
              <a:t>Unlike dashboards, which provide a control center for interacting with a variety of data, filtered view systems deal with a single data set. Information may be explored from multiple perspectives, with a variety of views and sorting options controlled by the user.</a:t>
            </a:r>
          </a:p>
          <a:p>
            <a:pPr marL="0" indent="0">
              <a:buNone/>
            </a:pPr>
            <a:endParaRPr lang="en-US" dirty="0"/>
          </a:p>
        </p:txBody>
      </p:sp>
      <p:pic>
        <p:nvPicPr>
          <p:cNvPr id="5122" name="Picture 2" descr="Filtered views are seen in music apps, directories and other interfaces in which people navigate large volumes of dat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72149" y="1027905"/>
            <a:ext cx="6436321" cy="51490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29514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https://cloud.netlifyusercontent.com/assets/344dbf88-fdf9-42bb-adb4-46f01eedd629/56e04ce2-6887-4aef-8c0b-5bded1c9717e/12-lists-opt.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684" y="0"/>
            <a:ext cx="11550316" cy="69796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89812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1325563"/>
          </a:xfrm>
        </p:spPr>
        <p:txBody>
          <a:bodyPr/>
          <a:lstStyle/>
          <a:p>
            <a:r>
              <a:rPr lang="en-US" dirty="0"/>
              <a:t>Hybrids</a:t>
            </a:r>
          </a:p>
        </p:txBody>
      </p:sp>
      <p:pic>
        <p:nvPicPr>
          <p:cNvPr id="6146" name="Picture 2" descr="https://cloud.netlifyusercontent.com/assets/344dbf88-fdf9-42bb-adb4-46f01eedd629/daa01d5e-8572-4191-872e-e57c29ed9f6e/06-mixed-ia-models-op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275" y="1325562"/>
            <a:ext cx="12588875" cy="56144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19767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81A5C-7E67-7377-ADE8-F5DF5AB0443C}"/>
              </a:ext>
            </a:extLst>
          </p:cNvPr>
          <p:cNvSpPr>
            <a:spLocks noGrp="1"/>
          </p:cNvSpPr>
          <p:nvPr>
            <p:ph type="title"/>
          </p:nvPr>
        </p:nvSpPr>
        <p:spPr/>
        <p:txBody>
          <a:bodyPr/>
          <a:lstStyle/>
          <a:p>
            <a:r>
              <a:rPr lang="en-US" b="1" dirty="0"/>
              <a:t>Touch &amp; Gesture-Based Navigation</a:t>
            </a:r>
            <a:endParaRPr lang="en-US" dirty="0"/>
          </a:p>
        </p:txBody>
      </p:sp>
      <p:sp>
        <p:nvSpPr>
          <p:cNvPr id="3" name="Content Placeholder 2">
            <a:extLst>
              <a:ext uri="{FF2B5EF4-FFF2-40B4-BE49-F238E27FC236}">
                <a16:creationId xmlns:a16="http://schemas.microsoft.com/office/drawing/2014/main" id="{19B38677-BE64-5E55-923F-B4AB66D40FC0}"/>
              </a:ext>
            </a:extLst>
          </p:cNvPr>
          <p:cNvSpPr>
            <a:spLocks noGrp="1"/>
          </p:cNvSpPr>
          <p:nvPr>
            <p:ph idx="1"/>
          </p:nvPr>
        </p:nvSpPr>
        <p:spPr>
          <a:xfrm>
            <a:off x="674914" y="1690688"/>
            <a:ext cx="6435436" cy="4351338"/>
          </a:xfrm>
        </p:spPr>
        <p:txBody>
          <a:bodyPr>
            <a:normAutofit fontScale="92500" lnSpcReduction="10000"/>
          </a:bodyPr>
          <a:lstStyle/>
          <a:p>
            <a:r>
              <a:rPr lang="en-US" b="1" dirty="0"/>
              <a:t>Multi-touch gestures</a:t>
            </a:r>
            <a:r>
              <a:rPr lang="en-US" dirty="0"/>
              <a:t>: Pinch-to-zoom, swipe, drag, flick, rotate (common in smartphones/tablets).</a:t>
            </a:r>
          </a:p>
          <a:p>
            <a:r>
              <a:rPr lang="en-US" b="1" dirty="0"/>
              <a:t>Edge-based gestures</a:t>
            </a:r>
            <a:r>
              <a:rPr lang="en-US" dirty="0"/>
              <a:t>: Swiping from screen edges for task switching or hidden menus (Android/iOS navigation).</a:t>
            </a:r>
          </a:p>
          <a:p>
            <a:r>
              <a:rPr lang="en-US" b="1" dirty="0"/>
              <a:t>Air gestures</a:t>
            </a:r>
            <a:r>
              <a:rPr lang="en-US" dirty="0"/>
              <a:t>: Hand movements detected without touching the screen (Samsung Air Gestures, Kinect).</a:t>
            </a:r>
          </a:p>
          <a:p>
            <a:r>
              <a:rPr lang="en-US" b="1" dirty="0"/>
              <a:t>3D gestures</a:t>
            </a:r>
            <a:r>
              <a:rPr lang="en-US" dirty="0"/>
              <a:t>: Movements in 3D space, tracked by depth sensors or cameras (e.g., Leap Motion, HoloLens).</a:t>
            </a:r>
          </a:p>
          <a:p>
            <a:endParaRPr lang="en-US" dirty="0"/>
          </a:p>
          <a:p>
            <a:pPr marL="0" indent="0">
              <a:buNone/>
            </a:pPr>
            <a:endParaRPr lang="en-US" dirty="0"/>
          </a:p>
          <a:p>
            <a:endParaRPr lang="en-US" dirty="0"/>
          </a:p>
        </p:txBody>
      </p:sp>
      <p:pic>
        <p:nvPicPr>
          <p:cNvPr id="5123" name="Picture 3" descr="iPhone (1st generation) | Apple Wiki | Fandom">
            <a:extLst>
              <a:ext uri="{FF2B5EF4-FFF2-40B4-BE49-F238E27FC236}">
                <a16:creationId xmlns:a16="http://schemas.microsoft.com/office/drawing/2014/main" id="{2A3812A4-5900-966E-EF63-CA814E91C6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73636" y="2285206"/>
            <a:ext cx="4576233" cy="3432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12064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2" name="Rectangle 1031">
            <a:extLst>
              <a:ext uri="{FF2B5EF4-FFF2-40B4-BE49-F238E27FC236}">
                <a16:creationId xmlns:a16="http://schemas.microsoft.com/office/drawing/2014/main" id="{84ECDE7A-6944-466D-8FFE-149A29BA6B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34" name="Rectangle 1033">
            <a:extLst>
              <a:ext uri="{FF2B5EF4-FFF2-40B4-BE49-F238E27FC236}">
                <a16:creationId xmlns:a16="http://schemas.microsoft.com/office/drawing/2014/main" id="{B3420082-9415-44EC-802E-C77D71D59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12700">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36" name="Rectangle 1035">
            <a:extLst>
              <a:ext uri="{FF2B5EF4-FFF2-40B4-BE49-F238E27FC236}">
                <a16:creationId xmlns:a16="http://schemas.microsoft.com/office/drawing/2014/main" id="{55A52C45-1FCB-4636-A80F-2849B8226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5B4EA58-A524-0403-36EA-BDB155E7D9FA}"/>
              </a:ext>
            </a:extLst>
          </p:cNvPr>
          <p:cNvSpPr>
            <a:spLocks noGrp="1"/>
          </p:cNvSpPr>
          <p:nvPr>
            <p:ph type="title"/>
          </p:nvPr>
        </p:nvSpPr>
        <p:spPr>
          <a:xfrm>
            <a:off x="1115568" y="548640"/>
            <a:ext cx="10168128" cy="1179576"/>
          </a:xfrm>
        </p:spPr>
        <p:txBody>
          <a:bodyPr>
            <a:normAutofit/>
          </a:bodyPr>
          <a:lstStyle/>
          <a:p>
            <a:r>
              <a:rPr lang="en-US" sz="4000" b="1"/>
              <a:t>Voice-Based Navigation</a:t>
            </a:r>
          </a:p>
        </p:txBody>
      </p:sp>
      <p:sp>
        <p:nvSpPr>
          <p:cNvPr id="1038" name="Rectangle 1037">
            <a:extLst>
              <a:ext uri="{FF2B5EF4-FFF2-40B4-BE49-F238E27FC236}">
                <a16:creationId xmlns:a16="http://schemas.microsoft.com/office/drawing/2014/main" id="{768EB4DD-3704-43AD-92B3-C4E0C6EA92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7079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27" name="Picture 3" descr="Echo Dot 3rd Gen | Alexa | Figma">
            <a:extLst>
              <a:ext uri="{FF2B5EF4-FFF2-40B4-BE49-F238E27FC236}">
                <a16:creationId xmlns:a16="http://schemas.microsoft.com/office/drawing/2014/main" id="{AF7B4D07-620B-2598-4307-FCD43E7BBB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9349" r="9309" b="1"/>
          <a:stretch>
            <a:fillRect/>
          </a:stretch>
        </p:blipFill>
        <p:spPr bwMode="auto">
          <a:xfrm>
            <a:off x="908304" y="2478024"/>
            <a:ext cx="6009855" cy="3694176"/>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F2CFF911-3201-B6EA-7F90-0C242A4D219A}"/>
              </a:ext>
            </a:extLst>
          </p:cNvPr>
          <p:cNvSpPr>
            <a:spLocks noGrp="1"/>
          </p:cNvSpPr>
          <p:nvPr>
            <p:ph idx="1"/>
          </p:nvPr>
        </p:nvSpPr>
        <p:spPr>
          <a:xfrm>
            <a:off x="7411453" y="2478024"/>
            <a:ext cx="3872243" cy="3694176"/>
          </a:xfrm>
        </p:spPr>
        <p:txBody>
          <a:bodyPr anchor="ctr">
            <a:normAutofit/>
          </a:bodyPr>
          <a:lstStyle/>
          <a:p>
            <a:r>
              <a:rPr lang="en-US" sz="1800" b="1"/>
              <a:t>Voice commands:</a:t>
            </a:r>
            <a:r>
              <a:rPr lang="en-US" sz="1800"/>
              <a:t> Google Assistant, Siri, Alexa – navigation through speech.</a:t>
            </a:r>
          </a:p>
          <a:p>
            <a:endParaRPr lang="en-US" sz="1800" b="1"/>
          </a:p>
          <a:p>
            <a:r>
              <a:rPr lang="en-US" sz="1800" b="1"/>
              <a:t>Conversational navigation:</a:t>
            </a:r>
            <a:r>
              <a:rPr lang="en-US" sz="1800"/>
              <a:t> Natural language queries for controlling apps or devices.</a:t>
            </a:r>
          </a:p>
          <a:p>
            <a:endParaRPr lang="en-US" sz="1800" b="1"/>
          </a:p>
          <a:p>
            <a:r>
              <a:rPr lang="en-US" sz="1800" b="1"/>
              <a:t>Multimodal voice + gesture:</a:t>
            </a:r>
            <a:r>
              <a:rPr lang="en-US" sz="1800"/>
              <a:t> Combine pointing with a voice command, e.g., “Open this app” while pointing.</a:t>
            </a:r>
          </a:p>
          <a:p>
            <a:endParaRPr lang="en-US" sz="1800"/>
          </a:p>
        </p:txBody>
      </p:sp>
    </p:spTree>
    <p:extLst>
      <p:ext uri="{BB962C8B-B14F-4D97-AF65-F5344CB8AC3E}">
        <p14:creationId xmlns:p14="http://schemas.microsoft.com/office/powerpoint/2010/main" val="32692638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7403F-BC06-E7FB-E354-EABE81915BBA}"/>
              </a:ext>
            </a:extLst>
          </p:cNvPr>
          <p:cNvSpPr>
            <a:spLocks noGrp="1"/>
          </p:cNvSpPr>
          <p:nvPr>
            <p:ph type="title"/>
          </p:nvPr>
        </p:nvSpPr>
        <p:spPr/>
        <p:txBody>
          <a:bodyPr/>
          <a:lstStyle/>
          <a:p>
            <a:r>
              <a:rPr lang="en-US" b="1" dirty="0"/>
              <a:t>Sensor &amp; Motion-Based Navigation</a:t>
            </a:r>
            <a:endParaRPr lang="en-US" dirty="0"/>
          </a:p>
        </p:txBody>
      </p:sp>
      <p:sp>
        <p:nvSpPr>
          <p:cNvPr id="3" name="Content Placeholder 2">
            <a:extLst>
              <a:ext uri="{FF2B5EF4-FFF2-40B4-BE49-F238E27FC236}">
                <a16:creationId xmlns:a16="http://schemas.microsoft.com/office/drawing/2014/main" id="{BA637CCC-7250-4840-CED6-7C0B2C175104}"/>
              </a:ext>
            </a:extLst>
          </p:cNvPr>
          <p:cNvSpPr>
            <a:spLocks noGrp="1"/>
          </p:cNvSpPr>
          <p:nvPr>
            <p:ph idx="1"/>
          </p:nvPr>
        </p:nvSpPr>
        <p:spPr>
          <a:xfrm>
            <a:off x="838200" y="1916112"/>
            <a:ext cx="6421582" cy="4351338"/>
          </a:xfrm>
        </p:spPr>
        <p:txBody>
          <a:bodyPr>
            <a:normAutofit/>
          </a:bodyPr>
          <a:lstStyle/>
          <a:p>
            <a:r>
              <a:rPr lang="en-US" b="1" dirty="0"/>
              <a:t>Tilt/rotation navigation</a:t>
            </a:r>
            <a:r>
              <a:rPr lang="en-US" dirty="0"/>
              <a:t>: Gyroscope or accelerometer used to tilt-scroll, rotate to navigate maps, etc.</a:t>
            </a:r>
          </a:p>
          <a:p>
            <a:r>
              <a:rPr lang="en-US" b="1" dirty="0"/>
              <a:t>Shake-to-action</a:t>
            </a:r>
            <a:r>
              <a:rPr lang="en-US" dirty="0"/>
              <a:t>: Shake phone to undo, refresh, or trigger functions.</a:t>
            </a:r>
          </a:p>
          <a:p>
            <a:r>
              <a:rPr lang="en-US" b="1" dirty="0"/>
              <a:t>Wearable motion sensing</a:t>
            </a:r>
            <a:r>
              <a:rPr lang="en-US" dirty="0"/>
              <a:t>: Smartwatches and fitness bands interpreting wrist flicks or taps.</a:t>
            </a:r>
          </a:p>
          <a:p>
            <a:endParaRPr lang="en-US" dirty="0"/>
          </a:p>
        </p:txBody>
      </p:sp>
      <p:pic>
        <p:nvPicPr>
          <p:cNvPr id="6150" name="Picture 6" descr="Princess Peach her own Wii controller">
            <a:extLst>
              <a:ext uri="{FF2B5EF4-FFF2-40B4-BE49-F238E27FC236}">
                <a16:creationId xmlns:a16="http://schemas.microsoft.com/office/drawing/2014/main" id="{1C98EF70-C82C-117C-98E3-BA6B3B6FC1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82659" y="1945481"/>
            <a:ext cx="3797300" cy="27927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10596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AC8A7-B1C5-A8E4-6C2A-C879BCA76E1E}"/>
              </a:ext>
            </a:extLst>
          </p:cNvPr>
          <p:cNvSpPr>
            <a:spLocks noGrp="1"/>
          </p:cNvSpPr>
          <p:nvPr>
            <p:ph type="title"/>
          </p:nvPr>
        </p:nvSpPr>
        <p:spPr/>
        <p:txBody>
          <a:bodyPr/>
          <a:lstStyle/>
          <a:p>
            <a:r>
              <a:rPr lang="en-US" b="1" dirty="0"/>
              <a:t>Eye &amp; Gaze Navigation</a:t>
            </a:r>
          </a:p>
        </p:txBody>
      </p:sp>
      <p:sp>
        <p:nvSpPr>
          <p:cNvPr id="3" name="Content Placeholder 2">
            <a:extLst>
              <a:ext uri="{FF2B5EF4-FFF2-40B4-BE49-F238E27FC236}">
                <a16:creationId xmlns:a16="http://schemas.microsoft.com/office/drawing/2014/main" id="{C9C92D65-91D7-E9C2-DC56-C4C7871BF7D9}"/>
              </a:ext>
            </a:extLst>
          </p:cNvPr>
          <p:cNvSpPr>
            <a:spLocks noGrp="1"/>
          </p:cNvSpPr>
          <p:nvPr>
            <p:ph idx="1"/>
          </p:nvPr>
        </p:nvSpPr>
        <p:spPr>
          <a:xfrm>
            <a:off x="838200" y="1825625"/>
            <a:ext cx="4371109" cy="4351338"/>
          </a:xfrm>
        </p:spPr>
        <p:txBody>
          <a:bodyPr>
            <a:normAutofit lnSpcReduction="10000"/>
          </a:bodyPr>
          <a:lstStyle/>
          <a:p>
            <a:r>
              <a:rPr lang="en-US" dirty="0"/>
              <a:t>Eye-tracking: Navigation by looking at UI elements (used in AR/VR headsets, accessibility tech).</a:t>
            </a:r>
          </a:p>
          <a:p>
            <a:r>
              <a:rPr lang="en-US" dirty="0"/>
              <a:t>Dwell selection: Staring at an icon for a fixed duration to “click.”</a:t>
            </a:r>
          </a:p>
          <a:p>
            <a:r>
              <a:rPr lang="en-US" dirty="0"/>
              <a:t>Head-tracking navigation: Moving the head instead of eyes to direct focus (HoloLens, VR headsets).</a:t>
            </a:r>
          </a:p>
          <a:p>
            <a:endParaRPr lang="en-US" dirty="0"/>
          </a:p>
        </p:txBody>
      </p:sp>
      <p:pic>
        <p:nvPicPr>
          <p:cNvPr id="2051" name="Picture 3" descr="What is Eye Tracking? Definition and ...">
            <a:extLst>
              <a:ext uri="{FF2B5EF4-FFF2-40B4-BE49-F238E27FC236}">
                <a16:creationId xmlns:a16="http://schemas.microsoft.com/office/drawing/2014/main" id="{ADDBA781-2D8D-C579-FD86-00E7CBFA75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3331" y="1690688"/>
            <a:ext cx="6538895" cy="43513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24494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75" name="Rectangle 7174">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9DFE033-51A8-3762-FE4F-DFDA635A58C9}"/>
              </a:ext>
            </a:extLst>
          </p:cNvPr>
          <p:cNvSpPr>
            <a:spLocks noGrp="1"/>
          </p:cNvSpPr>
          <p:nvPr>
            <p:ph type="title"/>
          </p:nvPr>
        </p:nvSpPr>
        <p:spPr>
          <a:xfrm>
            <a:off x="640080" y="325369"/>
            <a:ext cx="4368602" cy="1956841"/>
          </a:xfrm>
        </p:spPr>
        <p:txBody>
          <a:bodyPr anchor="b">
            <a:normAutofit/>
          </a:bodyPr>
          <a:lstStyle/>
          <a:p>
            <a:r>
              <a:rPr lang="en-US" sz="4200" b="1"/>
              <a:t>Haptics &amp; Tactile Feedback Navigation</a:t>
            </a:r>
            <a:endParaRPr lang="en-US" sz="4200"/>
          </a:p>
        </p:txBody>
      </p:sp>
      <p:sp>
        <p:nvSpPr>
          <p:cNvPr id="7177"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2ECE95D-0FC4-DFCB-F9EB-91D82EC8427F}"/>
              </a:ext>
            </a:extLst>
          </p:cNvPr>
          <p:cNvSpPr>
            <a:spLocks noGrp="1"/>
          </p:cNvSpPr>
          <p:nvPr>
            <p:ph idx="1"/>
          </p:nvPr>
        </p:nvSpPr>
        <p:spPr>
          <a:xfrm>
            <a:off x="640080" y="2872899"/>
            <a:ext cx="4243589" cy="3320668"/>
          </a:xfrm>
        </p:spPr>
        <p:txBody>
          <a:bodyPr>
            <a:normAutofit/>
          </a:bodyPr>
          <a:lstStyle/>
          <a:p>
            <a:r>
              <a:rPr lang="en-US" sz="2000" b="1" dirty="0"/>
              <a:t>Vibration cues</a:t>
            </a:r>
            <a:r>
              <a:rPr lang="en-US" sz="2000" dirty="0"/>
              <a:t>: Guiding users with directional vibrations (e.g., turn left/right in navigation apps).</a:t>
            </a:r>
          </a:p>
          <a:p>
            <a:r>
              <a:rPr lang="en-US" sz="2000" b="1" dirty="0"/>
              <a:t>Surface haptics</a:t>
            </a:r>
            <a:r>
              <a:rPr lang="en-US" sz="2000" dirty="0"/>
              <a:t>: Textured or pressure-sensitive screens enabling different navigation feels.</a:t>
            </a:r>
          </a:p>
          <a:p>
            <a:r>
              <a:rPr lang="en-US" sz="2000" b="1" dirty="0"/>
              <a:t>Mid-air haptics</a:t>
            </a:r>
            <a:r>
              <a:rPr lang="en-US" sz="2000" dirty="0"/>
              <a:t>: Ultrasonic haptic feedback in AR/VR without touching anything.</a:t>
            </a:r>
          </a:p>
          <a:p>
            <a:endParaRPr lang="en-US" sz="2000" dirty="0"/>
          </a:p>
        </p:txBody>
      </p:sp>
      <p:pic>
        <p:nvPicPr>
          <p:cNvPr id="7170" name="Picture 2" descr="Haptic wearables as sensory replacement, sensory augmentation and trainer –  a review | Journal of NeuroEngineering and Rehabilitation | Full Text">
            <a:extLst>
              <a:ext uri="{FF2B5EF4-FFF2-40B4-BE49-F238E27FC236}">
                <a16:creationId xmlns:a16="http://schemas.microsoft.com/office/drawing/2014/main" id="{03D8F9C0-4271-80FE-0F07-35B2D243FD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7178" r="23899"/>
          <a:stretch>
            <a:fillRect/>
          </a:stretch>
        </p:blipFill>
        <p:spPr bwMode="auto">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69912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1" name="Rectangle 3080">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0BD1E7-154D-4C96-05CA-518323169914}"/>
              </a:ext>
            </a:extLst>
          </p:cNvPr>
          <p:cNvSpPr>
            <a:spLocks noGrp="1"/>
          </p:cNvSpPr>
          <p:nvPr>
            <p:ph type="title"/>
          </p:nvPr>
        </p:nvSpPr>
        <p:spPr>
          <a:xfrm>
            <a:off x="630936" y="639520"/>
            <a:ext cx="3429000" cy="1719072"/>
          </a:xfrm>
        </p:spPr>
        <p:txBody>
          <a:bodyPr anchor="b">
            <a:normAutofit/>
          </a:bodyPr>
          <a:lstStyle/>
          <a:p>
            <a:r>
              <a:rPr lang="en-US" sz="3000" b="1"/>
              <a:t>Spatial &amp; Immersive Navigation (AR/VR/MR)</a:t>
            </a:r>
          </a:p>
        </p:txBody>
      </p:sp>
      <p:sp>
        <p:nvSpPr>
          <p:cNvPr id="3083"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418E20E-024F-DDCE-E88C-0B4A953351AB}"/>
              </a:ext>
            </a:extLst>
          </p:cNvPr>
          <p:cNvSpPr>
            <a:spLocks noGrp="1"/>
          </p:cNvSpPr>
          <p:nvPr>
            <p:ph idx="1"/>
          </p:nvPr>
        </p:nvSpPr>
        <p:spPr>
          <a:xfrm>
            <a:off x="630936" y="2807208"/>
            <a:ext cx="3429000" cy="3410712"/>
          </a:xfrm>
        </p:spPr>
        <p:txBody>
          <a:bodyPr anchor="t">
            <a:normAutofit/>
          </a:bodyPr>
          <a:lstStyle/>
          <a:p>
            <a:pPr marL="0" indent="0">
              <a:buNone/>
            </a:pPr>
            <a:r>
              <a:rPr lang="en-US" sz="1700"/>
              <a:t>Spatial gestures: Pointing, grabbing, pulling, pushing in 3D environments.</a:t>
            </a:r>
          </a:p>
          <a:p>
            <a:pPr marL="0" indent="0">
              <a:buNone/>
            </a:pPr>
            <a:r>
              <a:rPr lang="en-US" sz="1700"/>
              <a:t>Teleportation: Jumping between locations in VR using controllers or gestures.</a:t>
            </a:r>
          </a:p>
          <a:p>
            <a:pPr marL="0" indent="0">
              <a:buNone/>
            </a:pPr>
            <a:r>
              <a:rPr lang="en-US" sz="1700"/>
              <a:t>Hand-tracking navigation: No controllers – pure hand interaction (Meta Quest, Apple Vision Pro).</a:t>
            </a:r>
          </a:p>
          <a:p>
            <a:pPr marL="0" indent="0">
              <a:buNone/>
            </a:pPr>
            <a:r>
              <a:rPr lang="en-US" sz="1700"/>
              <a:t>Mixed Reality Anchors: Navigating through digital menus “placed” in physical spaces.</a:t>
            </a:r>
          </a:p>
          <a:p>
            <a:pPr marL="0" indent="0">
              <a:buNone/>
            </a:pPr>
            <a:endParaRPr lang="en-US" sz="1700"/>
          </a:p>
        </p:txBody>
      </p:sp>
      <p:pic>
        <p:nvPicPr>
          <p:cNvPr id="3076" name="Picture 4" descr="Mixed Reality or Spatial Computing | by Louis Rosenberg, PhD | Predict |  Medium">
            <a:extLst>
              <a:ext uri="{FF2B5EF4-FFF2-40B4-BE49-F238E27FC236}">
                <a16:creationId xmlns:a16="http://schemas.microsoft.com/office/drawing/2014/main" id="{530D2FC3-9140-D50D-8971-EB1F0CE4091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654296" y="1257441"/>
            <a:ext cx="6903720" cy="43431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21397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1BD1D-E5A4-2604-D278-C70D68A6603B}"/>
              </a:ext>
            </a:extLst>
          </p:cNvPr>
          <p:cNvSpPr>
            <a:spLocks noGrp="1"/>
          </p:cNvSpPr>
          <p:nvPr>
            <p:ph type="title"/>
          </p:nvPr>
        </p:nvSpPr>
        <p:spPr>
          <a:xfrm>
            <a:off x="876694" y="741391"/>
            <a:ext cx="3549649" cy="1616203"/>
          </a:xfrm>
        </p:spPr>
        <p:txBody>
          <a:bodyPr anchor="b">
            <a:normAutofit/>
          </a:bodyPr>
          <a:lstStyle/>
          <a:p>
            <a:r>
              <a:rPr lang="en-US" sz="3200" b="1"/>
              <a:t>Brain–Computer Interfaces (BCI)</a:t>
            </a:r>
          </a:p>
        </p:txBody>
      </p:sp>
      <p:sp>
        <p:nvSpPr>
          <p:cNvPr id="3" name="Content Placeholder 2">
            <a:extLst>
              <a:ext uri="{FF2B5EF4-FFF2-40B4-BE49-F238E27FC236}">
                <a16:creationId xmlns:a16="http://schemas.microsoft.com/office/drawing/2014/main" id="{2ECA40EB-EB5C-97A9-F104-E7D39EF322EC}"/>
              </a:ext>
            </a:extLst>
          </p:cNvPr>
          <p:cNvSpPr>
            <a:spLocks noGrp="1"/>
          </p:cNvSpPr>
          <p:nvPr>
            <p:ph idx="1"/>
          </p:nvPr>
        </p:nvSpPr>
        <p:spPr>
          <a:xfrm>
            <a:off x="876693" y="2533476"/>
            <a:ext cx="3346964" cy="3447832"/>
          </a:xfrm>
        </p:spPr>
        <p:txBody>
          <a:bodyPr anchor="t">
            <a:normAutofit/>
          </a:bodyPr>
          <a:lstStyle/>
          <a:p>
            <a:pPr marL="0" indent="0">
              <a:buNone/>
            </a:pPr>
            <a:r>
              <a:rPr lang="en-US" sz="2000" dirty="0"/>
              <a:t>Neural navigation: EEG headbands detect brain signals to control the cursor or select menu options.</a:t>
            </a:r>
          </a:p>
          <a:p>
            <a:pPr marL="0" indent="0">
              <a:buNone/>
            </a:pPr>
            <a:r>
              <a:rPr lang="en-US" sz="2000" dirty="0"/>
              <a:t>Hybrid BCI + gaze/gesture: Combining thought-driven commands with physical input.</a:t>
            </a:r>
          </a:p>
          <a:p>
            <a:pPr marL="0" indent="0">
              <a:buNone/>
            </a:pPr>
            <a:endParaRPr lang="en-US" sz="2000" dirty="0"/>
          </a:p>
        </p:txBody>
      </p:sp>
      <p:pic>
        <p:nvPicPr>
          <p:cNvPr id="4104" name="Picture 8" descr="Eeg Brain-Computer Interface As An Assistive Technology: Adaptive Control  And Therapeutic Intervention">
            <a:extLst>
              <a:ext uri="{FF2B5EF4-FFF2-40B4-BE49-F238E27FC236}">
                <a16:creationId xmlns:a16="http://schemas.microsoft.com/office/drawing/2014/main" id="{476B7D24-4F64-0F64-9AB5-A4FE619EDF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8703" r="5235" b="2"/>
          <a:stretch>
            <a:fillRect/>
          </a:stretch>
        </p:blipFill>
        <p:spPr bwMode="auto">
          <a:xfrm flipH="1">
            <a:off x="5089243" y="877413"/>
            <a:ext cx="6222628" cy="5043096"/>
          </a:xfrm>
          <a:prstGeom prst="rect">
            <a:avLst/>
          </a:prstGeom>
          <a:noFill/>
          <a:extLst>
            <a:ext uri="{909E8E84-426E-40DD-AFC4-6F175D3DCCD1}">
              <a14:hiddenFill xmlns:a14="http://schemas.microsoft.com/office/drawing/2010/main">
                <a:solidFill>
                  <a:srgbClr val="FFFFFF"/>
                </a:solidFill>
              </a14:hiddenFill>
            </a:ext>
          </a:extLst>
        </p:spPr>
      </p:pic>
      <p:grpSp>
        <p:nvGrpSpPr>
          <p:cNvPr id="4123" name="Group 4122">
            <a:extLst>
              <a:ext uri="{FF2B5EF4-FFF2-40B4-BE49-F238E27FC236}">
                <a16:creationId xmlns:a16="http://schemas.microsoft.com/office/drawing/2014/main" id="{3AFCAD34-1AFC-BC1A-F6B2-C34C63912EA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89243" y="5858828"/>
            <a:ext cx="6226463" cy="123363"/>
            <a:chOff x="7015162" y="5858828"/>
            <a:chExt cx="4300544" cy="123363"/>
          </a:xfrm>
        </p:grpSpPr>
        <p:sp>
          <p:nvSpPr>
            <p:cNvPr id="4124" name="Rectangle 4123">
              <a:extLst>
                <a:ext uri="{FF2B5EF4-FFF2-40B4-BE49-F238E27FC236}">
                  <a16:creationId xmlns:a16="http://schemas.microsoft.com/office/drawing/2014/main" id="{1129F4A2-3705-CF87-3DDA-AF9CE9389B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03753" y="3770237"/>
              <a:ext cx="123362" cy="4300544"/>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25" name="Rectangle 4124">
              <a:extLst>
                <a:ext uri="{FF2B5EF4-FFF2-40B4-BE49-F238E27FC236}">
                  <a16:creationId xmlns:a16="http://schemas.microsoft.com/office/drawing/2014/main" id="{891B1028-FC76-5583-3A1F-5815A7DCF9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09789" y="4876274"/>
              <a:ext cx="123362" cy="2088471"/>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7816103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D3382-2D3A-9877-C577-9C7A59CE121F}"/>
              </a:ext>
            </a:extLst>
          </p:cNvPr>
          <p:cNvSpPr>
            <a:spLocks noGrp="1"/>
          </p:cNvSpPr>
          <p:nvPr>
            <p:ph type="title"/>
          </p:nvPr>
        </p:nvSpPr>
        <p:spPr/>
        <p:txBody>
          <a:bodyPr/>
          <a:lstStyle/>
          <a:p>
            <a:r>
              <a:rPr lang="en-US" b="1" dirty="0"/>
              <a:t>Proximity &amp; Context-Aware Navigation</a:t>
            </a:r>
            <a:endParaRPr lang="en-US" dirty="0"/>
          </a:p>
        </p:txBody>
      </p:sp>
      <p:sp>
        <p:nvSpPr>
          <p:cNvPr id="3" name="Content Placeholder 2">
            <a:extLst>
              <a:ext uri="{FF2B5EF4-FFF2-40B4-BE49-F238E27FC236}">
                <a16:creationId xmlns:a16="http://schemas.microsoft.com/office/drawing/2014/main" id="{F5AAB56C-7B61-B490-6587-6ECE4B164ECB}"/>
              </a:ext>
            </a:extLst>
          </p:cNvPr>
          <p:cNvSpPr>
            <a:spLocks noGrp="1"/>
          </p:cNvSpPr>
          <p:nvPr>
            <p:ph idx="1"/>
          </p:nvPr>
        </p:nvSpPr>
        <p:spPr>
          <a:xfrm>
            <a:off x="838200" y="1825625"/>
            <a:ext cx="6672943" cy="4351338"/>
          </a:xfrm>
        </p:spPr>
        <p:txBody>
          <a:bodyPr/>
          <a:lstStyle/>
          <a:p>
            <a:r>
              <a:rPr lang="en-US" b="1" dirty="0"/>
              <a:t>Proximity sensing</a:t>
            </a:r>
            <a:r>
              <a:rPr lang="en-US" dirty="0"/>
              <a:t>: Hands hovering above devices to trigger previews or menus.</a:t>
            </a:r>
          </a:p>
          <a:p>
            <a:r>
              <a:rPr lang="en-US" b="1" dirty="0"/>
              <a:t>Context-aware navigation</a:t>
            </a:r>
            <a:r>
              <a:rPr lang="en-US" dirty="0"/>
              <a:t>: Device adapts based on environment (e.g., switching modes in dark/light or indoor/outdoor).</a:t>
            </a:r>
          </a:p>
          <a:p>
            <a:r>
              <a:rPr lang="en-US" b="1" dirty="0"/>
              <a:t>Location-based navigation</a:t>
            </a:r>
            <a:r>
              <a:rPr lang="en-US" dirty="0"/>
              <a:t>: AR maps overlay directions in real-world view (Google AR Maps, Apple Vision Pro).</a:t>
            </a:r>
          </a:p>
          <a:p>
            <a:endParaRPr lang="en-US" dirty="0"/>
          </a:p>
        </p:txBody>
      </p:sp>
    </p:spTree>
    <p:extLst>
      <p:ext uri="{BB962C8B-B14F-4D97-AF65-F5344CB8AC3E}">
        <p14:creationId xmlns:p14="http://schemas.microsoft.com/office/powerpoint/2010/main" val="28976238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5614736" y="2951747"/>
            <a:ext cx="802105" cy="946484"/>
          </a:xfrm>
          <a:prstGeom prst="ellipse">
            <a:avLst/>
          </a:prstGeom>
          <a:solidFill>
            <a:srgbClr val="FF0000"/>
          </a:solidFill>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095662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Spatial Cues</a:t>
            </a:r>
          </a:p>
        </p:txBody>
      </p:sp>
      <p:sp>
        <p:nvSpPr>
          <p:cNvPr id="3" name="Content Placeholder 2"/>
          <p:cNvSpPr>
            <a:spLocks noGrp="1"/>
          </p:cNvSpPr>
          <p:nvPr>
            <p:ph idx="1"/>
          </p:nvPr>
        </p:nvSpPr>
        <p:spPr>
          <a:xfrm>
            <a:off x="838200" y="1485900"/>
            <a:ext cx="10515600" cy="4691063"/>
          </a:xfrm>
        </p:spPr>
        <p:txBody>
          <a:bodyPr/>
          <a:lstStyle/>
          <a:p>
            <a:r>
              <a:rPr lang="en-US" dirty="0"/>
              <a:t>Landmarks</a:t>
            </a:r>
          </a:p>
          <a:p>
            <a:pPr lvl="1"/>
            <a:r>
              <a:rPr lang="en-US" dirty="0"/>
              <a:t>Logos</a:t>
            </a:r>
          </a:p>
          <a:p>
            <a:pPr lvl="1"/>
            <a:r>
              <a:rPr lang="en-US" dirty="0"/>
              <a:t>Primary Navigation</a:t>
            </a:r>
          </a:p>
          <a:p>
            <a:pPr lvl="1"/>
            <a:r>
              <a:rPr lang="en-US" dirty="0"/>
              <a:t>Bread crumbs</a:t>
            </a:r>
          </a:p>
          <a:p>
            <a:pPr lvl="1"/>
            <a:r>
              <a:rPr lang="en-US" dirty="0"/>
              <a:t>Search</a:t>
            </a:r>
          </a:p>
          <a:p>
            <a:r>
              <a:rPr lang="en-US" dirty="0"/>
              <a:t>Section Banners</a:t>
            </a:r>
          </a:p>
          <a:p>
            <a:r>
              <a:rPr lang="en-US" dirty="0"/>
              <a:t>Unique templates or components (slideshows, galleries or event calendars).</a:t>
            </a:r>
          </a:p>
          <a:p>
            <a:endParaRPr lang="en-US" dirty="0"/>
          </a:p>
        </p:txBody>
      </p:sp>
    </p:spTree>
    <p:extLst>
      <p:ext uri="{BB962C8B-B14F-4D97-AF65-F5344CB8AC3E}">
        <p14:creationId xmlns:p14="http://schemas.microsoft.com/office/powerpoint/2010/main" val="15636780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7170" name="Picture 2" descr="https://cloud.netlifyusercontent.com/assets/344dbf88-fdf9-42bb-adb4-46f01eedd629/a6ae818a-c456-42fb-8d61-d3a6a75c9c50/08-landmark-opt.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1737" y="209732"/>
            <a:ext cx="10515600" cy="6648268"/>
          </a:xfrm>
          <a:prstGeom prst="rect">
            <a:avLst/>
          </a:prstGeom>
          <a:noFill/>
          <a:extLst>
            <a:ext uri="{909E8E84-426E-40DD-AFC4-6F175D3DCCD1}">
              <a14:hiddenFill xmlns:a14="http://schemas.microsoft.com/office/drawing/2010/main">
                <a:solidFill>
                  <a:srgbClr val="FFFFFF"/>
                </a:solidFill>
              </a14:hiddenFill>
            </a:ext>
          </a:extLst>
        </p:spPr>
      </p:pic>
      <p:sp>
        <p:nvSpPr>
          <p:cNvPr id="4" name="Oval Callout 3"/>
          <p:cNvSpPr/>
          <p:nvPr/>
        </p:nvSpPr>
        <p:spPr>
          <a:xfrm>
            <a:off x="6705600" y="3213051"/>
            <a:ext cx="5662863" cy="2374231"/>
          </a:xfrm>
          <a:prstGeom prst="wedgeEllipseCallout">
            <a:avLst>
              <a:gd name="adj1" fmla="val -28482"/>
              <a:gd name="adj2" fmla="val -16554"/>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i="1" dirty="0">
                <a:solidFill>
                  <a:srgbClr val="C00000"/>
                </a:solidFill>
              </a:rPr>
              <a:t>The logo is red in the top left, the navigation is in a black bar along the top, and you can always access the cart from the bright blue button in the top right — no matter which size screen </a:t>
            </a:r>
            <a:r>
              <a:rPr lang="en-US" b="1" i="1" dirty="0">
                <a:solidFill>
                  <a:srgbClr val="C00000"/>
                </a:solidFill>
              </a:rPr>
              <a:t>you </a:t>
            </a:r>
            <a:r>
              <a:rPr lang="en-US" i="1" dirty="0"/>
              <a:t>visit from!</a:t>
            </a:r>
            <a:endParaRPr lang="en-US" dirty="0"/>
          </a:p>
        </p:txBody>
      </p:sp>
    </p:spTree>
    <p:extLst>
      <p:ext uri="{BB962C8B-B14F-4D97-AF65-F5344CB8AC3E}">
        <p14:creationId xmlns:p14="http://schemas.microsoft.com/office/powerpoint/2010/main" val="4176104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473" y="-308643"/>
            <a:ext cx="10515600" cy="1325563"/>
          </a:xfrm>
        </p:spPr>
        <p:txBody>
          <a:bodyPr/>
          <a:lstStyle/>
          <a:p>
            <a:r>
              <a:rPr lang="en-US" dirty="0"/>
              <a:t>Defining edges of regions </a:t>
            </a:r>
          </a:p>
        </p:txBody>
      </p:sp>
      <p:pic>
        <p:nvPicPr>
          <p:cNvPr id="8194" name="Picture 2" descr="Foursquare's app (left) packs a lot of tappable items into a small space. Yummly's app (right) uses distinct interface edges to define button tap targets and to visually separate the masthead region from the content area and to distinguish between individual recip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2690" y="710863"/>
            <a:ext cx="7194942" cy="6130091"/>
          </a:xfrm>
          <a:prstGeom prst="rect">
            <a:avLst/>
          </a:prstGeom>
          <a:noFill/>
          <a:extLst>
            <a:ext uri="{909E8E84-426E-40DD-AFC4-6F175D3DCCD1}">
              <a14:hiddenFill xmlns:a14="http://schemas.microsoft.com/office/drawing/2010/main">
                <a:solidFill>
                  <a:srgbClr val="FFFFFF"/>
                </a:solidFill>
              </a14:hiddenFill>
            </a:ext>
          </a:extLst>
        </p:spPr>
      </p:pic>
      <p:sp>
        <p:nvSpPr>
          <p:cNvPr id="4" name="Pentagon 3"/>
          <p:cNvSpPr/>
          <p:nvPr/>
        </p:nvSpPr>
        <p:spPr>
          <a:xfrm flipH="1">
            <a:off x="8149387" y="0"/>
            <a:ext cx="4042611" cy="6858000"/>
          </a:xfrm>
          <a:prstGeom prst="homePlate">
            <a:avLst>
              <a:gd name="adj" fmla="val 4692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i="1" dirty="0" err="1">
                <a:solidFill>
                  <a:srgbClr val="C00000"/>
                </a:solidFill>
              </a:rPr>
              <a:t>Foursquare’s</a:t>
            </a:r>
            <a:r>
              <a:rPr lang="en-US" sz="2000" b="1" i="1" dirty="0">
                <a:solidFill>
                  <a:srgbClr val="C00000"/>
                </a:solidFill>
              </a:rPr>
              <a:t> app (left) packs a lot of </a:t>
            </a:r>
            <a:r>
              <a:rPr lang="en-US" sz="2000" b="1" i="1" dirty="0" err="1">
                <a:solidFill>
                  <a:srgbClr val="C00000"/>
                </a:solidFill>
              </a:rPr>
              <a:t>tappable</a:t>
            </a:r>
            <a:r>
              <a:rPr lang="en-US" sz="2000" b="1" i="1" dirty="0">
                <a:solidFill>
                  <a:srgbClr val="C00000"/>
                </a:solidFill>
              </a:rPr>
              <a:t> items into a small space; clearly defined button boundaries improve </a:t>
            </a:r>
            <a:r>
              <a:rPr lang="en-US" sz="2000" b="1" i="1" dirty="0" err="1">
                <a:solidFill>
                  <a:srgbClr val="C00000"/>
                </a:solidFill>
              </a:rPr>
              <a:t>scannability</a:t>
            </a:r>
            <a:r>
              <a:rPr lang="en-US" sz="2000" b="1" i="1" dirty="0">
                <a:solidFill>
                  <a:srgbClr val="C00000"/>
                </a:solidFill>
              </a:rPr>
              <a:t> and minimize </a:t>
            </a:r>
            <a:r>
              <a:rPr lang="en-US" sz="2000" b="1" i="1" dirty="0" err="1">
                <a:solidFill>
                  <a:srgbClr val="C00000"/>
                </a:solidFill>
              </a:rPr>
              <a:t>mis</a:t>
            </a:r>
            <a:r>
              <a:rPr lang="en-US" sz="2000" b="1" i="1" dirty="0">
                <a:solidFill>
                  <a:srgbClr val="C00000"/>
                </a:solidFill>
              </a:rPr>
              <a:t>-taps. </a:t>
            </a:r>
            <a:r>
              <a:rPr lang="en-US" sz="2000" b="1" i="1" dirty="0" err="1">
                <a:solidFill>
                  <a:srgbClr val="C00000"/>
                </a:solidFill>
              </a:rPr>
              <a:t>Yummly’s</a:t>
            </a:r>
            <a:r>
              <a:rPr lang="en-US" sz="2000" b="1" i="1" dirty="0">
                <a:solidFill>
                  <a:srgbClr val="C00000"/>
                </a:solidFill>
              </a:rPr>
              <a:t> app (right) uses distinct interface edges to define button tap targets and to visually separate the masthead region from the content area and to distinguish between individual recipes.</a:t>
            </a:r>
            <a:endParaRPr lang="en-US" sz="2000" b="1" dirty="0">
              <a:solidFill>
                <a:srgbClr val="C00000"/>
              </a:solidFill>
            </a:endParaRPr>
          </a:p>
        </p:txBody>
      </p:sp>
    </p:spTree>
    <p:extLst>
      <p:ext uri="{BB962C8B-B14F-4D97-AF65-F5344CB8AC3E}">
        <p14:creationId xmlns:p14="http://schemas.microsoft.com/office/powerpoint/2010/main" val="672498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2769" y="2874502"/>
            <a:ext cx="10515600" cy="1325563"/>
          </a:xfrm>
        </p:spPr>
        <p:txBody>
          <a:bodyPr/>
          <a:lstStyle/>
          <a:p>
            <a:r>
              <a:rPr lang="en-US" dirty="0"/>
              <a:t>White spaces</a:t>
            </a:r>
          </a:p>
        </p:txBody>
      </p:sp>
      <p:pic>
        <p:nvPicPr>
          <p:cNvPr id="9218" name="Picture 2" descr="Defining edges by using horizontal dividers or shifts in background color can provide important visual cues to distinguish one region of content from the next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7554" y="0"/>
            <a:ext cx="7673066" cy="70745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19627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9442" y="2498725"/>
            <a:ext cx="3548480" cy="1325563"/>
          </a:xfrm>
        </p:spPr>
        <p:txBody>
          <a:bodyPr/>
          <a:lstStyle/>
          <a:p>
            <a:r>
              <a:rPr lang="en-US" dirty="0"/>
              <a:t>Text labels / Captions</a:t>
            </a:r>
          </a:p>
        </p:txBody>
      </p:sp>
      <p:pic>
        <p:nvPicPr>
          <p:cNvPr id="10242" name="Picture 2" descr="The University of Delaware uses mainly icons (left). Walmart emphasis on text label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86680" y="365125"/>
            <a:ext cx="6967120" cy="59917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58963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1211</TotalTime>
  <Words>870</Words>
  <Application>Microsoft Macintosh PowerPoint</Application>
  <PresentationFormat>Widescreen</PresentationFormat>
  <Paragraphs>64</Paragraphs>
  <Slides>25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Calibri Light</vt:lpstr>
      <vt:lpstr>Office Theme</vt:lpstr>
      <vt:lpstr>Navigation Infrastructures</vt:lpstr>
      <vt:lpstr>Hierarchical</vt:lpstr>
      <vt:lpstr>Nested Doll</vt:lpstr>
      <vt:lpstr>PowerPoint Presentation</vt:lpstr>
      <vt:lpstr>Hub and Spoke</vt:lpstr>
      <vt:lpstr>PowerPoint Presentation</vt:lpstr>
      <vt:lpstr>Bento Box</vt:lpstr>
      <vt:lpstr>PowerPoint Presentation</vt:lpstr>
      <vt:lpstr>Filtered View</vt:lpstr>
      <vt:lpstr>PowerPoint Presentation</vt:lpstr>
      <vt:lpstr>Hybrids</vt:lpstr>
      <vt:lpstr>Touch &amp; Gesture-Based Navigation</vt:lpstr>
      <vt:lpstr>Voice-Based Navigation</vt:lpstr>
      <vt:lpstr>Sensor &amp; Motion-Based Navigation</vt:lpstr>
      <vt:lpstr>Eye &amp; Gaze Navigation</vt:lpstr>
      <vt:lpstr>Haptics &amp; Tactile Feedback Navigation</vt:lpstr>
      <vt:lpstr>Spatial &amp; Immersive Navigation (AR/VR/MR)</vt:lpstr>
      <vt:lpstr>Brain–Computer Interfaces (BCI)</vt:lpstr>
      <vt:lpstr>Proximity &amp; Context-Aware Navigation</vt:lpstr>
      <vt:lpstr>PowerPoint Presentation</vt:lpstr>
      <vt:lpstr>Spatial Cues</vt:lpstr>
      <vt:lpstr>PowerPoint Presentation</vt:lpstr>
      <vt:lpstr>Defining edges of regions </vt:lpstr>
      <vt:lpstr>White spaces</vt:lpstr>
      <vt:lpstr>Text labels / Captions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Navigation Infrastructures</dc:title>
  <dc:creator>Dr. Shakeel Ahmed Khoja / Chairperson-Department of Computer Science @ City Campus</dc:creator>
  <cp:lastModifiedBy>Dr. Shakeel Ahmed Khoja / Professor and Dean School of Mathematics and Computer Science</cp:lastModifiedBy>
  <cp:revision>12</cp:revision>
  <dcterms:created xsi:type="dcterms:W3CDTF">2018-03-27T19:25:28Z</dcterms:created>
  <dcterms:modified xsi:type="dcterms:W3CDTF">2025-10-05T17:47:47Z</dcterms:modified>
</cp:coreProperties>
</file>