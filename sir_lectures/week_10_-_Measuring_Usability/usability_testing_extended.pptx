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7"/>
  </p:notesMasterIdLst>
  <p:sldIdLst>
    <p:sldId id="303" r:id="rId5"/>
    <p:sldId id="259" r:id="rId6"/>
    <p:sldId id="260" r:id="rId7"/>
    <p:sldId id="295" r:id="rId8"/>
    <p:sldId id="296" r:id="rId9"/>
    <p:sldId id="304" r:id="rId10"/>
    <p:sldId id="297" r:id="rId11"/>
    <p:sldId id="305" r:id="rId12"/>
    <p:sldId id="306" r:id="rId13"/>
    <p:sldId id="282" r:id="rId14"/>
    <p:sldId id="300" r:id="rId15"/>
    <p:sldId id="288" r:id="rId16"/>
    <p:sldId id="289" r:id="rId17"/>
    <p:sldId id="301" r:id="rId18"/>
    <p:sldId id="307" r:id="rId19"/>
    <p:sldId id="308" r:id="rId20"/>
    <p:sldId id="309" r:id="rId21"/>
    <p:sldId id="310" r:id="rId22"/>
    <p:sldId id="273" r:id="rId23"/>
    <p:sldId id="274" r:id="rId24"/>
    <p:sldId id="275" r:id="rId25"/>
    <p:sldId id="276" r:id="rId26"/>
    <p:sldId id="299" r:id="rId27"/>
    <p:sldId id="293" r:id="rId28"/>
    <p:sldId id="277" r:id="rId29"/>
    <p:sldId id="278" r:id="rId30"/>
    <p:sldId id="311" r:id="rId31"/>
    <p:sldId id="312" r:id="rId32"/>
    <p:sldId id="313" r:id="rId33"/>
    <p:sldId id="314" r:id="rId34"/>
    <p:sldId id="281" r:id="rId35"/>
    <p:sldId id="302"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57" autoAdjust="0"/>
    <p:restoredTop sz="86385" autoAdjust="0"/>
  </p:normalViewPr>
  <p:slideViewPr>
    <p:cSldViewPr>
      <p:cViewPr varScale="1">
        <p:scale>
          <a:sx n="98" d="100"/>
          <a:sy n="98" d="100"/>
        </p:scale>
        <p:origin x="690" y="9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B2BF90-99B2-4202-92DF-19479BF58EE9}" type="datetimeFigureOut">
              <a:rPr lang="en-GB" smtClean="0"/>
              <a:t>22/02/2023</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55A965-49CD-492E-84BE-5EB2A9CC3DBD}" type="slidenum">
              <a:rPr lang="en-GB" smtClean="0"/>
              <a:t>‹#›</a:t>
            </a:fld>
            <a:endParaRPr lang="en-GB" dirty="0"/>
          </a:p>
        </p:txBody>
      </p:sp>
    </p:spTree>
    <p:extLst>
      <p:ext uri="{BB962C8B-B14F-4D97-AF65-F5344CB8AC3E}">
        <p14:creationId xmlns:p14="http://schemas.microsoft.com/office/powerpoint/2010/main" val="147939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9268CFB-CA01-484E-9EDF-A4DCDE6777F3}" type="slidenum">
              <a:rPr lang="en-GB" sz="1200"/>
              <a:pPr eaLnBrk="1" hangingPunct="1"/>
              <a:t>2</a:t>
            </a:fld>
            <a:endParaRPr lang="en-GB" sz="1200" dirty="0"/>
          </a:p>
        </p:txBody>
      </p:sp>
      <p:sp>
        <p:nvSpPr>
          <p:cNvPr id="163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73625B73-C769-A741-82AB-39C644526092}" type="slidenum">
              <a:rPr lang="en-US" sz="1200">
                <a:latin typeface="Times" charset="0"/>
              </a:rPr>
              <a:pPr algn="r"/>
              <a:t>2</a:t>
            </a:fld>
            <a:endParaRPr lang="en-US" sz="1200" dirty="0">
              <a:latin typeface="Times" charset="0"/>
            </a:endParaRPr>
          </a:p>
        </p:txBody>
      </p:sp>
      <p:sp>
        <p:nvSpPr>
          <p:cNvPr id="16388" name="Rectangle 2"/>
          <p:cNvSpPr>
            <a:spLocks noGrp="1" noRot="1" noChangeAspect="1" noChangeArrowheads="1" noTextEdit="1"/>
          </p:cNvSpPr>
          <p:nvPr>
            <p:ph type="sldImg"/>
          </p:nvPr>
        </p:nvSpPr>
        <p:spPr>
          <a:ln/>
        </p:spPr>
      </p:sp>
      <p:sp>
        <p:nvSpPr>
          <p:cNvPr id="1638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1A0A1C9F-0A31-4245-AA60-64D4C0C83F14}" type="slidenum">
              <a:rPr lang="en-GB" sz="1200"/>
              <a:pPr eaLnBrk="1" hangingPunct="1"/>
              <a:t>3</a:t>
            </a:fld>
            <a:endParaRPr lang="en-GB" sz="1200" dirty="0"/>
          </a:p>
        </p:txBody>
      </p:sp>
      <p:sp>
        <p:nvSpPr>
          <p:cNvPr id="1843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48726162-5FEB-E64D-8924-0FA16C618B68}" type="slidenum">
              <a:rPr lang="en-US" sz="1200">
                <a:latin typeface="Times" charset="0"/>
              </a:rPr>
              <a:pPr algn="r"/>
              <a:t>3</a:t>
            </a:fld>
            <a:endParaRPr lang="en-US" sz="1200" dirty="0">
              <a:latin typeface="Times" charset="0"/>
            </a:endParaRPr>
          </a:p>
        </p:txBody>
      </p:sp>
      <p:sp>
        <p:nvSpPr>
          <p:cNvPr id="18436" name="Rectangle 2"/>
          <p:cNvSpPr>
            <a:spLocks noGrp="1" noRot="1" noChangeAspect="1" noChangeArrowheads="1" noTextEdit="1"/>
          </p:cNvSpPr>
          <p:nvPr>
            <p:ph type="sldImg"/>
          </p:nvPr>
        </p:nvSpPr>
        <p:spPr>
          <a:solidFill>
            <a:srgbClr val="FFFFFF"/>
          </a:solidFill>
          <a:ln/>
        </p:spPr>
      </p:sp>
      <p:sp>
        <p:nvSpPr>
          <p:cNvPr id="18437"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1A0A1C9F-0A31-4245-AA60-64D4C0C83F14}" type="slidenum">
              <a:rPr lang="en-GB" sz="1200"/>
              <a:pPr eaLnBrk="1" hangingPunct="1"/>
              <a:t>4</a:t>
            </a:fld>
            <a:endParaRPr lang="en-GB" sz="1200" dirty="0"/>
          </a:p>
        </p:txBody>
      </p:sp>
      <p:sp>
        <p:nvSpPr>
          <p:cNvPr id="1843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48726162-5FEB-E64D-8924-0FA16C618B68}" type="slidenum">
              <a:rPr lang="en-US" sz="1200">
                <a:latin typeface="Times" charset="0"/>
              </a:rPr>
              <a:pPr algn="r"/>
              <a:t>4</a:t>
            </a:fld>
            <a:endParaRPr lang="en-US" sz="1200" dirty="0">
              <a:latin typeface="Times" charset="0"/>
            </a:endParaRPr>
          </a:p>
        </p:txBody>
      </p:sp>
      <p:sp>
        <p:nvSpPr>
          <p:cNvPr id="18436" name="Rectangle 2"/>
          <p:cNvSpPr>
            <a:spLocks noGrp="1" noRot="1" noChangeAspect="1" noChangeArrowheads="1" noTextEdit="1"/>
          </p:cNvSpPr>
          <p:nvPr>
            <p:ph type="sldImg"/>
          </p:nvPr>
        </p:nvSpPr>
        <p:spPr>
          <a:solidFill>
            <a:srgbClr val="FFFFFF"/>
          </a:solidFill>
          <a:ln/>
        </p:spPr>
      </p:sp>
      <p:sp>
        <p:nvSpPr>
          <p:cNvPr id="18437"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2029236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5</a:t>
            </a:fld>
            <a:endParaRPr lang="en-GB" dirty="0"/>
          </a:p>
        </p:txBody>
      </p:sp>
    </p:spTree>
    <p:extLst>
      <p:ext uri="{BB962C8B-B14F-4D97-AF65-F5344CB8AC3E}">
        <p14:creationId xmlns:p14="http://schemas.microsoft.com/office/powerpoint/2010/main" val="237767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6</a:t>
            </a:fld>
            <a:endParaRPr lang="en-GB" dirty="0"/>
          </a:p>
        </p:txBody>
      </p:sp>
    </p:spTree>
    <p:extLst>
      <p:ext uri="{BB962C8B-B14F-4D97-AF65-F5344CB8AC3E}">
        <p14:creationId xmlns:p14="http://schemas.microsoft.com/office/powerpoint/2010/main" val="2208222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F55A965-49CD-492E-84BE-5EB2A9CC3DBD}" type="slidenum">
              <a:rPr lang="en-GB" smtClean="0"/>
              <a:t>7</a:t>
            </a:fld>
            <a:endParaRPr lang="en-GB" dirty="0"/>
          </a:p>
        </p:txBody>
      </p:sp>
    </p:spTree>
    <p:extLst>
      <p:ext uri="{BB962C8B-B14F-4D97-AF65-F5344CB8AC3E}">
        <p14:creationId xmlns:p14="http://schemas.microsoft.com/office/powerpoint/2010/main" val="163723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55A965-49CD-492E-84BE-5EB2A9CC3DBD}" type="slidenum">
              <a:rPr lang="en-GB" smtClean="0"/>
              <a:t>12</a:t>
            </a:fld>
            <a:endParaRPr lang="en-GB" dirty="0"/>
          </a:p>
        </p:txBody>
      </p:sp>
    </p:spTree>
    <p:extLst>
      <p:ext uri="{BB962C8B-B14F-4D97-AF65-F5344CB8AC3E}">
        <p14:creationId xmlns:p14="http://schemas.microsoft.com/office/powerpoint/2010/main" val="2832219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F55A965-49CD-492E-84BE-5EB2A9CC3DBD}" type="slidenum">
              <a:rPr lang="en-GB" smtClean="0"/>
              <a:t>16</a:t>
            </a:fld>
            <a:endParaRPr lang="en-GB" dirty="0"/>
          </a:p>
        </p:txBody>
      </p:sp>
    </p:spTree>
    <p:extLst>
      <p:ext uri="{BB962C8B-B14F-4D97-AF65-F5344CB8AC3E}">
        <p14:creationId xmlns:p14="http://schemas.microsoft.com/office/powerpoint/2010/main" val="4087083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F55A965-49CD-492E-84BE-5EB2A9CC3DBD}" type="slidenum">
              <a:rPr lang="en-GB" smtClean="0"/>
              <a:t>17</a:t>
            </a:fld>
            <a:endParaRPr lang="en-GB" dirty="0"/>
          </a:p>
        </p:txBody>
      </p:sp>
    </p:spTree>
    <p:extLst>
      <p:ext uri="{BB962C8B-B14F-4D97-AF65-F5344CB8AC3E}">
        <p14:creationId xmlns:p14="http://schemas.microsoft.com/office/powerpoint/2010/main" val="259830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F55A965-49CD-492E-84BE-5EB2A9CC3DBD}" type="slidenum">
              <a:rPr lang="en-GB" smtClean="0"/>
              <a:t>18</a:t>
            </a:fld>
            <a:endParaRPr lang="en-GB" dirty="0"/>
          </a:p>
        </p:txBody>
      </p:sp>
    </p:spTree>
    <p:extLst>
      <p:ext uri="{BB962C8B-B14F-4D97-AF65-F5344CB8AC3E}">
        <p14:creationId xmlns:p14="http://schemas.microsoft.com/office/powerpoint/2010/main" val="1571966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D5B3570-823E-5347-AE82-3637D7306A67}" type="slidenum">
              <a:rPr lang="en-GB" sz="1200"/>
              <a:pPr eaLnBrk="1" hangingPunct="1"/>
              <a:t>19</a:t>
            </a:fld>
            <a:endParaRPr lang="en-GB" sz="1200" dirty="0"/>
          </a:p>
        </p:txBody>
      </p:sp>
      <p:sp>
        <p:nvSpPr>
          <p:cNvPr id="3993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656E841D-9747-C649-A0AC-56B9B5A8562F}" type="slidenum">
              <a:rPr lang="en-US" sz="1200">
                <a:latin typeface="Times" charset="0"/>
              </a:rPr>
              <a:pPr algn="r"/>
              <a:t>19</a:t>
            </a:fld>
            <a:endParaRPr lang="en-US" sz="1200" dirty="0">
              <a:latin typeface="Times" charset="0"/>
            </a:endParaRPr>
          </a:p>
        </p:txBody>
      </p:sp>
      <p:sp>
        <p:nvSpPr>
          <p:cNvPr id="39940" name="Rectangle 2"/>
          <p:cNvSpPr>
            <a:spLocks noGrp="1" noRot="1" noChangeAspect="1" noChangeArrowheads="1" noTextEdit="1"/>
          </p:cNvSpPr>
          <p:nvPr>
            <p:ph type="sldImg"/>
          </p:nvPr>
        </p:nvSpPr>
        <p:spPr>
          <a:solidFill>
            <a:srgbClr val="FFFFFF"/>
          </a:solidFill>
          <a:ln/>
        </p:spPr>
      </p:sp>
      <p:sp>
        <p:nvSpPr>
          <p:cNvPr id="39941"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EB48279-5EE6-3F4E-9757-115E77A7426E}" type="slidenum">
              <a:rPr lang="en-GB" sz="1200"/>
              <a:pPr eaLnBrk="1" hangingPunct="1"/>
              <a:t>20</a:t>
            </a:fld>
            <a:endParaRPr lang="en-GB" sz="1200" dirty="0"/>
          </a:p>
        </p:txBody>
      </p:sp>
      <p:sp>
        <p:nvSpPr>
          <p:cNvPr id="419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1833B459-A593-6B49-94D6-04E5D939A125}" type="slidenum">
              <a:rPr lang="en-US" sz="1200">
                <a:latin typeface="Times" charset="0"/>
              </a:rPr>
              <a:pPr algn="r"/>
              <a:t>20</a:t>
            </a:fld>
            <a:endParaRPr lang="en-US" sz="1200" dirty="0">
              <a:latin typeface="Times" charset="0"/>
            </a:endParaRPr>
          </a:p>
        </p:txBody>
      </p:sp>
      <p:sp>
        <p:nvSpPr>
          <p:cNvPr id="41988" name="Rectangle 2"/>
          <p:cNvSpPr>
            <a:spLocks noGrp="1" noRot="1" noChangeAspect="1" noChangeArrowheads="1" noTextEdit="1"/>
          </p:cNvSpPr>
          <p:nvPr>
            <p:ph type="sldImg"/>
          </p:nvPr>
        </p:nvSpPr>
        <p:spPr>
          <a:solidFill>
            <a:srgbClr val="FFFFFF"/>
          </a:solidFill>
          <a:ln/>
        </p:spPr>
      </p:sp>
      <p:sp>
        <p:nvSpPr>
          <p:cNvPr id="41989"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F877398-46D0-AC45-AC68-20927556AA1B}" type="slidenum">
              <a:rPr lang="en-GB" sz="1200"/>
              <a:pPr eaLnBrk="1" hangingPunct="1"/>
              <a:t>21</a:t>
            </a:fld>
            <a:endParaRPr lang="en-GB" sz="1200" dirty="0"/>
          </a:p>
        </p:txBody>
      </p:sp>
      <p:sp>
        <p:nvSpPr>
          <p:cNvPr id="4403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BDDC676E-4A99-9A49-B125-9DFF3B65910E}" type="slidenum">
              <a:rPr lang="en-US" sz="1200">
                <a:latin typeface="Times" charset="0"/>
              </a:rPr>
              <a:pPr algn="r"/>
              <a:t>21</a:t>
            </a:fld>
            <a:endParaRPr lang="en-US" sz="1200" dirty="0">
              <a:latin typeface="Times" charset="0"/>
            </a:endParaRPr>
          </a:p>
        </p:txBody>
      </p:sp>
      <p:sp>
        <p:nvSpPr>
          <p:cNvPr id="44036" name="Rectangle 2"/>
          <p:cNvSpPr>
            <a:spLocks noGrp="1" noRot="1" noChangeAspect="1" noChangeArrowheads="1" noTextEdit="1"/>
          </p:cNvSpPr>
          <p:nvPr>
            <p:ph type="sldImg"/>
          </p:nvPr>
        </p:nvSpPr>
        <p:spPr>
          <a:solidFill>
            <a:srgbClr val="FFFFFF"/>
          </a:solidFill>
          <a:ln/>
        </p:spPr>
      </p:sp>
      <p:sp>
        <p:nvSpPr>
          <p:cNvPr id="44037"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322B215-19A9-6A4E-AD74-CE0939415D53}" type="slidenum">
              <a:rPr lang="en-GB" sz="1200"/>
              <a:pPr eaLnBrk="1" hangingPunct="1"/>
              <a:t>22</a:t>
            </a:fld>
            <a:endParaRPr lang="en-GB" sz="1200" dirty="0"/>
          </a:p>
        </p:txBody>
      </p:sp>
      <p:sp>
        <p:nvSpPr>
          <p:cNvPr id="4608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F1D6ECA7-9E21-9343-9CA9-605064831F24}" type="slidenum">
              <a:rPr lang="en-US" sz="1200">
                <a:latin typeface="Times" charset="0"/>
              </a:rPr>
              <a:pPr algn="r"/>
              <a:t>22</a:t>
            </a:fld>
            <a:endParaRPr lang="en-US" sz="1200" dirty="0">
              <a:latin typeface="Times" charset="0"/>
            </a:endParaRPr>
          </a:p>
        </p:txBody>
      </p:sp>
      <p:sp>
        <p:nvSpPr>
          <p:cNvPr id="46084" name="Rectangle 2"/>
          <p:cNvSpPr>
            <a:spLocks noGrp="1" noRot="1" noChangeAspect="1" noChangeArrowheads="1" noTextEdit="1"/>
          </p:cNvSpPr>
          <p:nvPr>
            <p:ph type="sldImg"/>
          </p:nvPr>
        </p:nvSpPr>
        <p:spPr>
          <a:solidFill>
            <a:srgbClr val="FFFFFF"/>
          </a:solidFill>
          <a:ln/>
        </p:spPr>
      </p:sp>
      <p:sp>
        <p:nvSpPr>
          <p:cNvPr id="46085"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322B215-19A9-6A4E-AD74-CE0939415D53}" type="slidenum">
              <a:rPr lang="en-GB" sz="1200"/>
              <a:pPr eaLnBrk="1" hangingPunct="1"/>
              <a:t>23</a:t>
            </a:fld>
            <a:endParaRPr lang="en-GB" sz="1200" dirty="0"/>
          </a:p>
        </p:txBody>
      </p:sp>
      <p:sp>
        <p:nvSpPr>
          <p:cNvPr id="4608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F1D6ECA7-9E21-9343-9CA9-605064831F24}" type="slidenum">
              <a:rPr lang="en-US" sz="1200">
                <a:latin typeface="Times" charset="0"/>
              </a:rPr>
              <a:pPr algn="r"/>
              <a:t>23</a:t>
            </a:fld>
            <a:endParaRPr lang="en-US" sz="1200" dirty="0">
              <a:latin typeface="Times" charset="0"/>
            </a:endParaRPr>
          </a:p>
        </p:txBody>
      </p:sp>
      <p:sp>
        <p:nvSpPr>
          <p:cNvPr id="46084" name="Rectangle 2"/>
          <p:cNvSpPr>
            <a:spLocks noGrp="1" noRot="1" noChangeAspect="1" noChangeArrowheads="1" noTextEdit="1"/>
          </p:cNvSpPr>
          <p:nvPr>
            <p:ph type="sldImg"/>
          </p:nvPr>
        </p:nvSpPr>
        <p:spPr>
          <a:solidFill>
            <a:srgbClr val="FFFFFF"/>
          </a:solidFill>
          <a:ln/>
        </p:spPr>
      </p:sp>
      <p:sp>
        <p:nvSpPr>
          <p:cNvPr id="46085"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3287364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E9C429BF-A8DC-D744-869B-C33A62995452}" type="slidenum">
              <a:rPr lang="en-GB" sz="1200"/>
              <a:pPr eaLnBrk="1" hangingPunct="1"/>
              <a:t>25</a:t>
            </a:fld>
            <a:endParaRPr lang="en-GB" sz="1200" dirty="0"/>
          </a:p>
        </p:txBody>
      </p:sp>
      <p:sp>
        <p:nvSpPr>
          <p:cNvPr id="4813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EBA3B5F6-BD0C-4643-B90E-DCC36FDB21D0}" type="slidenum">
              <a:rPr lang="en-US" sz="1200">
                <a:latin typeface="Times" charset="0"/>
              </a:rPr>
              <a:pPr algn="r"/>
              <a:t>25</a:t>
            </a:fld>
            <a:endParaRPr lang="en-US" sz="1200" dirty="0">
              <a:latin typeface="Times" charset="0"/>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733E58F-E371-8444-AF75-AABB9E574245}" type="slidenum">
              <a:rPr lang="en-GB" sz="1200"/>
              <a:pPr eaLnBrk="1" hangingPunct="1"/>
              <a:t>27</a:t>
            </a:fld>
            <a:endParaRPr lang="en-GB" sz="1200" dirty="0"/>
          </a:p>
        </p:txBody>
      </p:sp>
      <p:sp>
        <p:nvSpPr>
          <p:cNvPr id="5222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8F64B1FB-7589-4E47-A023-C2EADF99F5FA}" type="slidenum">
              <a:rPr lang="en-US" sz="1200">
                <a:latin typeface="Times" charset="0"/>
              </a:rPr>
              <a:pPr algn="r"/>
              <a:t>27</a:t>
            </a:fld>
            <a:endParaRPr lang="en-US" sz="1200" dirty="0">
              <a:latin typeface="Times" charset="0"/>
            </a:endParaRPr>
          </a:p>
        </p:txBody>
      </p:sp>
      <p:sp>
        <p:nvSpPr>
          <p:cNvPr id="52228" name="Rectangle 2"/>
          <p:cNvSpPr>
            <a:spLocks noGrp="1" noRot="1" noChangeAspect="1" noChangeArrowheads="1" noTextEdit="1"/>
          </p:cNvSpPr>
          <p:nvPr>
            <p:ph type="sldImg"/>
          </p:nvPr>
        </p:nvSpPr>
        <p:spPr>
          <a:solidFill>
            <a:srgbClr val="FFFFFF"/>
          </a:solidFill>
          <a:ln/>
        </p:spPr>
      </p:sp>
      <p:sp>
        <p:nvSpPr>
          <p:cNvPr id="52229"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376226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AD2CD61-CC1D-444C-83D6-DBF617D2B41F}" type="slidenum">
              <a:rPr lang="en-GB" sz="1200"/>
              <a:pPr eaLnBrk="1" hangingPunct="1"/>
              <a:t>28</a:t>
            </a:fld>
            <a:endParaRPr lang="en-GB" sz="1200" dirty="0"/>
          </a:p>
        </p:txBody>
      </p:sp>
      <p:sp>
        <p:nvSpPr>
          <p:cNvPr id="3686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BFFE00AC-EEF4-E147-AA1E-F0CCB927AD9E}" type="slidenum">
              <a:rPr lang="en-US" sz="1200">
                <a:latin typeface="Times" charset="0"/>
              </a:rPr>
              <a:pPr algn="r"/>
              <a:t>28</a:t>
            </a:fld>
            <a:endParaRPr lang="en-US" sz="1200" dirty="0">
              <a:latin typeface="Times" charset="0"/>
            </a:endParaRPr>
          </a:p>
        </p:txBody>
      </p:sp>
      <p:sp>
        <p:nvSpPr>
          <p:cNvPr id="36868" name="Rectangle 2"/>
          <p:cNvSpPr>
            <a:spLocks noGrp="1" noRot="1" noChangeAspect="1" noChangeArrowheads="1" noTextEdit="1"/>
          </p:cNvSpPr>
          <p:nvPr>
            <p:ph type="sldImg"/>
          </p:nvPr>
        </p:nvSpPr>
        <p:spPr>
          <a:solidFill>
            <a:srgbClr val="FFFFFF"/>
          </a:solidFill>
          <a:ln/>
        </p:spPr>
      </p:sp>
      <p:sp>
        <p:nvSpPr>
          <p:cNvPr id="36869"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1830699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A4BA357-326F-FD49-B801-804C053ED194}" type="slidenum">
              <a:rPr lang="en-GB" sz="1200"/>
              <a:pPr eaLnBrk="1" hangingPunct="1"/>
              <a:t>29</a:t>
            </a:fld>
            <a:endParaRPr lang="en-GB" sz="1200" dirty="0"/>
          </a:p>
        </p:txBody>
      </p:sp>
      <p:sp>
        <p:nvSpPr>
          <p:cNvPr id="2048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FF2A56ED-C5AB-3844-A430-BB62E15181E6}" type="slidenum">
              <a:rPr lang="en-US" sz="1200">
                <a:latin typeface="Times" charset="0"/>
              </a:rPr>
              <a:pPr algn="r"/>
              <a:t>29</a:t>
            </a:fld>
            <a:endParaRPr lang="en-US" sz="1200" dirty="0">
              <a:latin typeface="Times" charset="0"/>
            </a:endParaRPr>
          </a:p>
        </p:txBody>
      </p:sp>
      <p:sp>
        <p:nvSpPr>
          <p:cNvPr id="20484" name="Rectangle 2"/>
          <p:cNvSpPr>
            <a:spLocks noGrp="1" noRot="1" noChangeAspect="1" noChangeArrowheads="1" noTextEdit="1"/>
          </p:cNvSpPr>
          <p:nvPr>
            <p:ph type="sldImg"/>
          </p:nvPr>
        </p:nvSpPr>
        <p:spPr>
          <a:solidFill>
            <a:srgbClr val="FFFFFF"/>
          </a:solidFill>
          <a:ln/>
        </p:spPr>
      </p:sp>
      <p:sp>
        <p:nvSpPr>
          <p:cNvPr id="20485"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668547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A8B979D-5DE8-E84A-8A8A-B231011DA71D}" type="slidenum">
              <a:rPr lang="en-GB" sz="1200"/>
              <a:pPr eaLnBrk="1" hangingPunct="1"/>
              <a:t>30</a:t>
            </a:fld>
            <a:endParaRPr lang="en-GB" sz="1200" dirty="0"/>
          </a:p>
        </p:txBody>
      </p:sp>
      <p:sp>
        <p:nvSpPr>
          <p:cNvPr id="2253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328B0FC6-98B6-634C-A401-F1A4AFCFE6D6}" type="slidenum">
              <a:rPr lang="en-US" sz="1200">
                <a:latin typeface="Times" charset="0"/>
              </a:rPr>
              <a:pPr algn="r"/>
              <a:t>30</a:t>
            </a:fld>
            <a:endParaRPr lang="en-US" sz="1200" dirty="0">
              <a:latin typeface="Times" charset="0"/>
            </a:endParaRPr>
          </a:p>
        </p:txBody>
      </p:sp>
      <p:sp>
        <p:nvSpPr>
          <p:cNvPr id="22532" name="Rectangle 2"/>
          <p:cNvSpPr>
            <a:spLocks noGrp="1" noRot="1" noChangeAspect="1" noChangeArrowheads="1" noTextEdit="1"/>
          </p:cNvSpPr>
          <p:nvPr>
            <p:ph type="sldImg"/>
          </p:nvPr>
        </p:nvSpPr>
        <p:spPr>
          <a:solidFill>
            <a:srgbClr val="FFFFFF"/>
          </a:solidFill>
          <a:ln/>
        </p:spPr>
      </p:sp>
      <p:sp>
        <p:nvSpPr>
          <p:cNvPr id="22533"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5466410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733E58F-E371-8444-AF75-AABB9E574245}" type="slidenum">
              <a:rPr lang="en-GB" sz="1200"/>
              <a:pPr eaLnBrk="1" hangingPunct="1"/>
              <a:t>31</a:t>
            </a:fld>
            <a:endParaRPr lang="en-GB" sz="1200" dirty="0"/>
          </a:p>
        </p:txBody>
      </p:sp>
      <p:sp>
        <p:nvSpPr>
          <p:cNvPr id="5222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8F64B1FB-7589-4E47-A023-C2EADF99F5FA}" type="slidenum">
              <a:rPr lang="en-US" sz="1200">
                <a:latin typeface="Times" charset="0"/>
              </a:rPr>
              <a:pPr algn="r"/>
              <a:t>31</a:t>
            </a:fld>
            <a:endParaRPr lang="en-US" sz="1200" dirty="0">
              <a:latin typeface="Times" charset="0"/>
            </a:endParaRPr>
          </a:p>
        </p:txBody>
      </p:sp>
      <p:sp>
        <p:nvSpPr>
          <p:cNvPr id="52228" name="Rectangle 2"/>
          <p:cNvSpPr>
            <a:spLocks noGrp="1" noRot="1" noChangeAspect="1" noChangeArrowheads="1" noTextEdit="1"/>
          </p:cNvSpPr>
          <p:nvPr>
            <p:ph type="sldImg"/>
          </p:nvPr>
        </p:nvSpPr>
        <p:spPr>
          <a:solidFill>
            <a:srgbClr val="FFFFFF"/>
          </a:solidFill>
          <a:ln/>
        </p:spPr>
      </p:sp>
      <p:sp>
        <p:nvSpPr>
          <p:cNvPr id="52229"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733E58F-E371-8444-AF75-AABB9E574245}" type="slidenum">
              <a:rPr lang="en-GB" sz="1200"/>
              <a:pPr eaLnBrk="1" hangingPunct="1"/>
              <a:t>32</a:t>
            </a:fld>
            <a:endParaRPr lang="en-GB" sz="1200" dirty="0"/>
          </a:p>
        </p:txBody>
      </p:sp>
      <p:sp>
        <p:nvSpPr>
          <p:cNvPr id="5222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a:fld id="{8F64B1FB-7589-4E47-A023-C2EADF99F5FA}" type="slidenum">
              <a:rPr lang="en-US" sz="1200">
                <a:latin typeface="Times" charset="0"/>
              </a:rPr>
              <a:pPr algn="r"/>
              <a:t>32</a:t>
            </a:fld>
            <a:endParaRPr lang="en-US" sz="1200" dirty="0">
              <a:latin typeface="Times" charset="0"/>
            </a:endParaRPr>
          </a:p>
        </p:txBody>
      </p:sp>
      <p:sp>
        <p:nvSpPr>
          <p:cNvPr id="52228" name="Rectangle 2"/>
          <p:cNvSpPr>
            <a:spLocks noGrp="1" noRot="1" noChangeAspect="1" noChangeArrowheads="1" noTextEdit="1"/>
          </p:cNvSpPr>
          <p:nvPr>
            <p:ph type="sldImg"/>
          </p:nvPr>
        </p:nvSpPr>
        <p:spPr>
          <a:solidFill>
            <a:srgbClr val="FFFFFF"/>
          </a:solidFill>
          <a:ln/>
        </p:spPr>
      </p:sp>
      <p:sp>
        <p:nvSpPr>
          <p:cNvPr id="52229"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283344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1528635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chemeClr val="tx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593415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3308614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r>
              <a:rPr lang="en-GB" dirty="0"/>
              <a:t>www.id-book.com</a:t>
            </a:r>
          </a:p>
        </p:txBody>
      </p:sp>
      <p:sp>
        <p:nvSpPr>
          <p:cNvPr id="7" name="Slide Number Placeholder 6"/>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147230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endParaRPr lang="en-GB" dirty="0"/>
          </a:p>
        </p:txBody>
      </p:sp>
      <p:sp>
        <p:nvSpPr>
          <p:cNvPr id="8" name="Footer Placeholder 7"/>
          <p:cNvSpPr>
            <a:spLocks noGrp="1"/>
          </p:cNvSpPr>
          <p:nvPr>
            <p:ph type="ftr" sz="quarter" idx="11"/>
          </p:nvPr>
        </p:nvSpPr>
        <p:spPr/>
        <p:txBody>
          <a:bodyPr/>
          <a:lstStyle/>
          <a:p>
            <a:r>
              <a:rPr lang="en-GB" dirty="0"/>
              <a:t>www.id-book.com</a:t>
            </a:r>
          </a:p>
        </p:txBody>
      </p:sp>
      <p:sp>
        <p:nvSpPr>
          <p:cNvPr id="9" name="Slide Number Placeholder 8"/>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3091041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endParaRPr lang="en-GB" dirty="0"/>
          </a:p>
        </p:txBody>
      </p:sp>
      <p:sp>
        <p:nvSpPr>
          <p:cNvPr id="4" name="Footer Placeholder 3"/>
          <p:cNvSpPr>
            <a:spLocks noGrp="1"/>
          </p:cNvSpPr>
          <p:nvPr>
            <p:ph type="ftr" sz="quarter" idx="11"/>
          </p:nvPr>
        </p:nvSpPr>
        <p:spPr/>
        <p:txBody>
          <a:bodyPr/>
          <a:lstStyle/>
          <a:p>
            <a:r>
              <a:rPr lang="en-GB" dirty="0"/>
              <a:t>www.id-book.com</a:t>
            </a:r>
          </a:p>
        </p:txBody>
      </p:sp>
      <p:sp>
        <p:nvSpPr>
          <p:cNvPr id="5" name="Slide Number Placeholder 4"/>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4076149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dirty="0"/>
          </a:p>
        </p:txBody>
      </p:sp>
      <p:sp>
        <p:nvSpPr>
          <p:cNvPr id="3" name="Footer Placeholder 2"/>
          <p:cNvSpPr>
            <a:spLocks noGrp="1"/>
          </p:cNvSpPr>
          <p:nvPr>
            <p:ph type="ftr" sz="quarter" idx="11"/>
          </p:nvPr>
        </p:nvSpPr>
        <p:spPr/>
        <p:txBody>
          <a:bodyPr/>
          <a:lstStyle>
            <a:lvl1pPr>
              <a:defRPr>
                <a:solidFill>
                  <a:srgbClr val="7030A0"/>
                </a:solidFill>
              </a:defRPr>
            </a:lvl1pPr>
          </a:lstStyle>
          <a:p>
            <a:r>
              <a:rPr lang="en-GB"/>
              <a:t>www.id-book.com</a:t>
            </a:r>
            <a:endParaRPr lang="en-GB" dirty="0">
              <a:solidFill>
                <a:srgbClr val="7030A0"/>
              </a:solidFill>
            </a:endParaRPr>
          </a:p>
        </p:txBody>
      </p:sp>
      <p:sp>
        <p:nvSpPr>
          <p:cNvPr id="4" name="Slide Number Placeholder 3"/>
          <p:cNvSpPr>
            <a:spLocks noGrp="1"/>
          </p:cNvSpPr>
          <p:nvPr>
            <p:ph type="sldNum" sz="quarter" idx="12"/>
          </p:nvPr>
        </p:nvSpPr>
        <p:spPr/>
        <p:txBody>
          <a:bodyPr/>
          <a:lstStyle>
            <a:lvl1pPr>
              <a:defRPr>
                <a:solidFill>
                  <a:srgbClr val="7030A0"/>
                </a:solidFill>
              </a:defRPr>
            </a:lvl1pPr>
          </a:lstStyle>
          <a:p>
            <a:fld id="{A7EA2D8D-44E5-43C4-BBA1-AE3E32EF0894}" type="slidenum">
              <a:rPr lang="en-GB" smtClean="0"/>
              <a:pPr/>
              <a:t>‹#›</a:t>
            </a:fld>
            <a:endParaRPr lang="en-GB" dirty="0"/>
          </a:p>
        </p:txBody>
      </p:sp>
    </p:spTree>
    <p:extLst>
      <p:ext uri="{BB962C8B-B14F-4D97-AF65-F5344CB8AC3E}">
        <p14:creationId xmlns:p14="http://schemas.microsoft.com/office/powerpoint/2010/main" val="123699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lvl1pPr>
              <a:defRPr>
                <a:solidFill>
                  <a:srgbClr val="7030A0"/>
                </a:solidFill>
              </a:defRPr>
            </a:lvl1pPr>
          </a:lstStyle>
          <a:p>
            <a:r>
              <a:rPr lang="en-GB"/>
              <a:t>www.id-book.com</a:t>
            </a:r>
            <a:endParaRPr lang="en-GB" dirty="0">
              <a:solidFill>
                <a:srgbClr val="7030A0"/>
              </a:solidFill>
            </a:endParaRPr>
          </a:p>
        </p:txBody>
      </p:sp>
      <p:sp>
        <p:nvSpPr>
          <p:cNvPr id="7" name="Slide Number Placeholder 6"/>
          <p:cNvSpPr>
            <a:spLocks noGrp="1"/>
          </p:cNvSpPr>
          <p:nvPr>
            <p:ph type="sldNum" sz="quarter" idx="12"/>
          </p:nvPr>
        </p:nvSpPr>
        <p:spPr/>
        <p:txBody>
          <a:bodyPr/>
          <a:lstStyle>
            <a:lvl1pPr>
              <a:defRPr>
                <a:solidFill>
                  <a:srgbClr val="7030A0"/>
                </a:solidFill>
              </a:defRPr>
            </a:lvl1pPr>
          </a:lstStyle>
          <a:p>
            <a:fld id="{A7EA2D8D-44E5-43C4-BBA1-AE3E32EF0894}" type="slidenum">
              <a:rPr lang="en-GB" smtClean="0"/>
              <a:pPr/>
              <a:t>‹#›</a:t>
            </a:fld>
            <a:endParaRPr lang="en-GB" dirty="0"/>
          </a:p>
        </p:txBody>
      </p:sp>
    </p:spTree>
    <p:extLst>
      <p:ext uri="{BB962C8B-B14F-4D97-AF65-F5344CB8AC3E}">
        <p14:creationId xmlns:p14="http://schemas.microsoft.com/office/powerpoint/2010/main" val="225408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r>
              <a:rPr lang="en-GB" dirty="0"/>
              <a:t>www.id-book.com</a:t>
            </a:r>
          </a:p>
        </p:txBody>
      </p:sp>
      <p:sp>
        <p:nvSpPr>
          <p:cNvPr id="7" name="Slide Number Placeholder 6"/>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790494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3368491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714383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rgbClr val="7030A0"/>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r>
              <a:rPr lang="en-GB"/>
              <a:t>www.id-book.com</a:t>
            </a:r>
            <a:endParaRPr lang="en-GB" dirty="0">
              <a:solidFill>
                <a:srgbClr val="7030A0"/>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7030A0"/>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fld id="{A7EA2D8D-44E5-43C4-BBA1-AE3E32EF0894}" type="slidenum">
              <a:rPr lang="en-GB" smtClean="0"/>
              <a:pPr/>
              <a:t>‹#›</a:t>
            </a:fld>
            <a:endParaRPr lang="en-GB" dirty="0"/>
          </a:p>
        </p:txBody>
      </p:sp>
      <p:sp>
        <p:nvSpPr>
          <p:cNvPr id="7" name="Rectangle 6"/>
          <p:cNvSpPr/>
          <p:nvPr userDrawn="1"/>
        </p:nvSpPr>
        <p:spPr>
          <a:xfrm>
            <a:off x="0" y="0"/>
            <a:ext cx="9144000" cy="6858000"/>
          </a:xfrm>
          <a:prstGeom prst="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70419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rgbClr val="7030A0"/>
          </a:solidFill>
          <a:latin typeface="Liberation Sans" panose="020B0604020202020204" pitchFamily="34" charset="0"/>
          <a:ea typeface="Liberation Sans" panose="020B0604020202020204" pitchFamily="34" charset="0"/>
          <a:cs typeface="Liberation Sans"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Liberation Sans" panose="020B0604020202020204" pitchFamily="34" charset="0"/>
          <a:ea typeface="Liberation Sans" panose="020B0604020202020204" pitchFamily="34" charset="0"/>
          <a:cs typeface="Liberation Sans"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rgbClr val="7030A0"/>
          </a:solidFill>
          <a:latin typeface="Liberation Sans" panose="020B0604020202020204" pitchFamily="34" charset="0"/>
          <a:ea typeface="Liberation Sans" panose="020B0604020202020204" pitchFamily="34" charset="0"/>
          <a:cs typeface="Liberation Sans"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www.nngroup.com/" TargetMode="External"/></Relationships>
</file>

<file path=ppt/slides/_rels/slide13.xml.rels><?xml version="1.0" encoding="UTF-8" standalone="yes"?>
<Relationships xmlns="http://schemas.openxmlformats.org/package/2006/relationships"><Relationship Id="rId2" Type="http://schemas.openxmlformats.org/officeDocument/2006/relationships/hyperlink" Target="https://www.nngroup.co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0.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www.acm.org/publications" TargetMode="External"/><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a:spLocks noGrp="1"/>
          </p:cNvSpPr>
          <p:nvPr>
            <p:ph type="title" idx="4294967295"/>
          </p:nvPr>
        </p:nvSpPr>
        <p:spPr>
          <a:xfrm>
            <a:off x="1257457" y="4581128"/>
            <a:ext cx="6606296" cy="1785104"/>
          </a:xfrm>
          <a:prstGeom prst="rect">
            <a:avLst/>
          </a:prstGeom>
          <a:noFill/>
          <a:ln>
            <a:noFill/>
            <a:prstDash/>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srgbClr val="7030A0"/>
                </a:solidFill>
                <a:effectLst/>
                <a:uLnTx/>
                <a:uFillTx/>
                <a:latin typeface="Liberation Sans" panose="020B0604020202020204" pitchFamily="34" charset="0"/>
                <a:ea typeface="Liberation Sans" panose="020B0604020202020204" pitchFamily="34" charset="0"/>
                <a:cs typeface="Liberation Sans" panose="020B0604020202020204" pitchFamily="34" charset="0"/>
              </a:rPr>
              <a:t>Chapter 15</a:t>
            </a:r>
            <a:br>
              <a:rPr kumimoji="0" lang="en-GB" sz="3200" b="0" i="0" u="none" strike="noStrike" kern="1200" cap="none" spc="0" normalizeH="0" baseline="0" noProof="0" dirty="0">
                <a:ln>
                  <a:noFill/>
                </a:ln>
                <a:solidFill>
                  <a:srgbClr val="7030A0"/>
                </a:solidFill>
                <a:effectLst/>
                <a:uLnTx/>
                <a:uFillTx/>
                <a:latin typeface="Liberation Sans" panose="020B0604020202020204" pitchFamily="34" charset="0"/>
                <a:ea typeface="Liberation Sans" panose="020B0604020202020204" pitchFamily="34" charset="0"/>
                <a:cs typeface="Liberation Sans" panose="020B0604020202020204" pitchFamily="34" charset="0"/>
              </a:rPr>
            </a:br>
            <a:endParaRPr kumimoji="0" lang="en-GB" sz="1400" b="0" i="0" u="none" strike="noStrike" kern="1200" cap="none" spc="0" normalizeH="0" baseline="0" noProof="0" dirty="0">
              <a:ln>
                <a:noFill/>
              </a:ln>
              <a:solidFill>
                <a:srgbClr val="7030A0"/>
              </a:solidFill>
              <a:effectLst/>
              <a:uLnTx/>
              <a:uFillTx/>
              <a:latin typeface="Liberation Sans" panose="020B0604020202020204" pitchFamily="34" charset="0"/>
              <a:ea typeface="Liberation Sans" panose="020B0604020202020204" pitchFamily="34" charset="0"/>
              <a:cs typeface="Liberation Sans"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srgbClr val="7030A0"/>
                </a:solidFill>
                <a:effectLst/>
                <a:uLnTx/>
                <a:uFillTx/>
                <a:latin typeface="Liberation Sans" panose="020B0604020202020204" pitchFamily="34" charset="0"/>
                <a:ea typeface="Liberation Sans" panose="020B0604020202020204" pitchFamily="34" charset="0"/>
                <a:cs typeface="Liberation Sans" panose="020B0604020202020204" pitchFamily="34" charset="0"/>
              </a:rPr>
              <a:t>EVALUATION STUDIES: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srgbClr val="7030A0"/>
                </a:solidFill>
                <a:effectLst/>
                <a:uLnTx/>
                <a:uFillTx/>
                <a:latin typeface="Liberation Sans" panose="020B0604020202020204" pitchFamily="34" charset="0"/>
                <a:ea typeface="Liberation Sans" panose="020B0604020202020204" pitchFamily="34" charset="0"/>
                <a:cs typeface="Liberation Sans" panose="020B0604020202020204" pitchFamily="34" charset="0"/>
              </a:rPr>
              <a:t>From Controlled to Natural Settings</a:t>
            </a:r>
          </a:p>
        </p:txBody>
      </p:sp>
      <p:pic>
        <p:nvPicPr>
          <p:cNvPr id="2049" name="Picture 1" descr="Image showing cover of Interaction Design, sixth edition">
            <a:extLst>
              <a:ext uri="{FF2B5EF4-FFF2-40B4-BE49-F238E27FC236}">
                <a16:creationId xmlns:a16="http://schemas.microsoft.com/office/drawing/2014/main" id="{43F643DA-2BFA-4F43-83D7-B426875ABA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856" y="476672"/>
            <a:ext cx="3003534" cy="4004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344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idx="4294967295"/>
          </p:nvPr>
        </p:nvSpPr>
        <p:spPr/>
        <p:txBody>
          <a:bodyPr/>
          <a:lstStyle/>
          <a:p>
            <a:pPr eaLnBrk="1" hangingPunct="1"/>
            <a:r>
              <a:rPr lang="en-GB" dirty="0">
                <a:latin typeface="Liberation Sans"/>
              </a:rPr>
              <a:t>Goals</a:t>
            </a:r>
          </a:p>
        </p:txBody>
      </p:sp>
      <p:sp>
        <p:nvSpPr>
          <p:cNvPr id="15365" name="Rectangle 3"/>
          <p:cNvSpPr>
            <a:spLocks noGrp="1" noChangeArrowheads="1"/>
          </p:cNvSpPr>
          <p:nvPr>
            <p:ph type="body" idx="4294967295"/>
          </p:nvPr>
        </p:nvSpPr>
        <p:spPr>
          <a:xfrm>
            <a:off x="1259632" y="1575048"/>
            <a:ext cx="6098637" cy="4114800"/>
          </a:xfrm>
        </p:spPr>
        <p:txBody>
          <a:bodyPr>
            <a:normAutofit fontScale="85000" lnSpcReduction="10000"/>
          </a:bodyPr>
          <a:lstStyle/>
          <a:p>
            <a:pPr eaLnBrk="1" hangingPunct="1">
              <a:buFontTx/>
              <a:buNone/>
            </a:pPr>
            <a:r>
              <a:rPr lang="en-US" dirty="0">
                <a:latin typeface="Liberation Sans"/>
              </a:rPr>
              <a:t>•  Explain how to do usability testing</a:t>
            </a:r>
          </a:p>
          <a:p>
            <a:pPr eaLnBrk="1" hangingPunct="1">
              <a:spcBef>
                <a:spcPts val="2400"/>
              </a:spcBef>
              <a:buFontTx/>
              <a:buNone/>
            </a:pPr>
            <a:r>
              <a:rPr lang="en-US" dirty="0">
                <a:latin typeface="Liberation Sans"/>
              </a:rPr>
              <a:t>•  Outline the basics about conducting  experiments	</a:t>
            </a:r>
          </a:p>
          <a:p>
            <a:pPr eaLnBrk="1" hangingPunct="1">
              <a:spcBef>
                <a:spcPts val="2400"/>
              </a:spcBef>
            </a:pPr>
            <a:r>
              <a:rPr lang="en-US" dirty="0">
                <a:latin typeface="Liberation Sans"/>
              </a:rPr>
              <a:t>Describe how to do in the wild studies</a:t>
            </a:r>
          </a:p>
          <a:p>
            <a:pPr eaLnBrk="1" hangingPunct="1">
              <a:spcBef>
                <a:spcPts val="2400"/>
              </a:spcBef>
              <a:buFontTx/>
              <a:buNone/>
            </a:pPr>
            <a:r>
              <a:rPr lang="en-US" dirty="0">
                <a:latin typeface="Liberation Sans"/>
              </a:rPr>
              <a:t>•  Discuss why remote studies maybe needed and how to do remote testing and in-the-wild studies</a:t>
            </a:r>
            <a:endParaRPr lang="en-GB" dirty="0">
              <a:latin typeface="Liberation Sans"/>
            </a:endParaRPr>
          </a:p>
          <a:p>
            <a:pPr eaLnBrk="1" hangingPunct="1">
              <a:spcBef>
                <a:spcPts val="2400"/>
              </a:spcBef>
              <a:buFontTx/>
              <a:buNone/>
            </a:pPr>
            <a:endParaRPr lang="en-US" dirty="0">
              <a:latin typeface="Liberation Sans"/>
            </a:endParaRP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2</a:t>
            </a:fld>
            <a:endParaRPr lang="en-GB" dirty="0"/>
          </a:p>
        </p:txBody>
      </p:sp>
      <p:graphicFrame>
        <p:nvGraphicFramePr>
          <p:cNvPr id="2" name="Object 5">
            <a:extLst>
              <a:ext uri="{FF2B5EF4-FFF2-40B4-BE49-F238E27FC236}">
                <a16:creationId xmlns:a16="http://schemas.microsoft.com/office/drawing/2014/main" id="{2E2DFCBC-EF99-5E3F-D060-DFC56D00CF0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638654088"/>
              </p:ext>
            </p:extLst>
          </p:nvPr>
        </p:nvGraphicFramePr>
        <p:xfrm>
          <a:off x="7236296" y="1196752"/>
          <a:ext cx="1674813" cy="3741737"/>
        </p:xfrm>
        <a:graphic>
          <a:graphicData uri="http://schemas.openxmlformats.org/presentationml/2006/ole">
            <mc:AlternateContent xmlns:mc="http://schemas.openxmlformats.org/markup-compatibility/2006">
              <mc:Choice xmlns:v="urn:schemas-microsoft-com:vml" Requires="v">
                <p:oleObj name="Clip" r:id="rId3" imgW="1857600" imgH="3995640" progId="MS_ClipArt_Gallery.2">
                  <p:embed/>
                </p:oleObj>
              </mc:Choice>
              <mc:Fallback>
                <p:oleObj name="Clip" r:id="rId3" imgW="1857600" imgH="3995640" progId="MS_ClipArt_Gallery.2">
                  <p:embed/>
                  <p:pic>
                    <p:nvPicPr>
                      <p:cNvPr id="7" name="Object 5">
                        <a:extLs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6296" y="1196752"/>
                        <a:ext cx="1674813" cy="3741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3024481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idx="4294967295"/>
          </p:nvPr>
        </p:nvSpPr>
        <p:spPr>
          <a:xfrm>
            <a:off x="755576" y="116632"/>
            <a:ext cx="7772400" cy="838200"/>
          </a:xfrm>
        </p:spPr>
        <p:txBody>
          <a:bodyPr/>
          <a:lstStyle/>
          <a:p>
            <a:pPr eaLnBrk="1" hangingPunct="1"/>
            <a:r>
              <a:rPr lang="en-US" dirty="0">
                <a:latin typeface="Liberation Sans"/>
              </a:rPr>
              <a:t>Usability testing</a:t>
            </a:r>
          </a:p>
        </p:txBody>
      </p:sp>
      <p:sp>
        <p:nvSpPr>
          <p:cNvPr id="17413" name="Rectangle 3"/>
          <p:cNvSpPr>
            <a:spLocks noGrp="1" noChangeArrowheads="1"/>
          </p:cNvSpPr>
          <p:nvPr>
            <p:ph type="body" idx="4294967295"/>
          </p:nvPr>
        </p:nvSpPr>
        <p:spPr>
          <a:xfrm>
            <a:off x="251520" y="980728"/>
            <a:ext cx="8458200" cy="5328592"/>
          </a:xfrm>
        </p:spPr>
        <p:txBody>
          <a:bodyPr>
            <a:normAutofit fontScale="92500"/>
          </a:bodyPr>
          <a:lstStyle/>
          <a:p>
            <a:pPr eaLnBrk="1" hangingPunct="1">
              <a:lnSpc>
                <a:spcPct val="90000"/>
              </a:lnSpc>
            </a:pPr>
            <a:r>
              <a:rPr lang="en-US" sz="2800" dirty="0">
                <a:latin typeface="Liberation Sans"/>
              </a:rPr>
              <a:t>Involves testing how people perform on products in controlled settings</a:t>
            </a:r>
            <a:endParaRPr lang="en-US" sz="900" dirty="0">
              <a:latin typeface="Liberation Sans"/>
            </a:endParaRPr>
          </a:p>
          <a:p>
            <a:pPr eaLnBrk="1" hangingPunct="1">
              <a:lnSpc>
                <a:spcPct val="90000"/>
              </a:lnSpc>
              <a:spcBef>
                <a:spcPts val="800"/>
              </a:spcBef>
            </a:pPr>
            <a:r>
              <a:rPr lang="en-US" sz="2800" dirty="0">
                <a:latin typeface="Liberation Sans"/>
              </a:rPr>
              <a:t>The people being tested are observed and the time it takes them to complete a task and the number and kinds of errors they make are recorded</a:t>
            </a:r>
          </a:p>
          <a:p>
            <a:pPr eaLnBrk="1" hangingPunct="1">
              <a:lnSpc>
                <a:spcPct val="90000"/>
              </a:lnSpc>
              <a:spcBef>
                <a:spcPts val="800"/>
              </a:spcBef>
            </a:pPr>
            <a:r>
              <a:rPr lang="en-US" sz="2800" dirty="0">
                <a:latin typeface="Liberation Sans"/>
              </a:rPr>
              <a:t>Data is recorded on video and key presses are logged</a:t>
            </a:r>
            <a:endParaRPr lang="en-US" sz="800" dirty="0">
              <a:latin typeface="Liberation Sans"/>
            </a:endParaRPr>
          </a:p>
          <a:p>
            <a:pPr eaLnBrk="1" hangingPunct="1">
              <a:lnSpc>
                <a:spcPct val="90000"/>
              </a:lnSpc>
              <a:spcBef>
                <a:spcPts val="800"/>
              </a:spcBef>
            </a:pPr>
            <a:r>
              <a:rPr lang="en-US" sz="2800" dirty="0">
                <a:latin typeface="Liberation Sans"/>
              </a:rPr>
              <a:t>The data is used to calculate performance times and to identify and explain errors</a:t>
            </a:r>
            <a:endParaRPr lang="en-US" sz="900" dirty="0">
              <a:latin typeface="Liberation Sans"/>
            </a:endParaRPr>
          </a:p>
          <a:p>
            <a:pPr eaLnBrk="1" hangingPunct="1">
              <a:lnSpc>
                <a:spcPct val="90000"/>
              </a:lnSpc>
              <a:spcBef>
                <a:spcPts val="800"/>
              </a:spcBef>
            </a:pPr>
            <a:r>
              <a:rPr lang="en-US" sz="2800" dirty="0">
                <a:latin typeface="Liberation Sans"/>
              </a:rPr>
              <a:t>User satisfaction is evaluated using questionnaires and interviews</a:t>
            </a:r>
            <a:endParaRPr lang="en-US" sz="900" dirty="0">
              <a:latin typeface="Liberation Sans"/>
            </a:endParaRPr>
          </a:p>
          <a:p>
            <a:pPr eaLnBrk="1" hangingPunct="1">
              <a:lnSpc>
                <a:spcPct val="90000"/>
              </a:lnSpc>
              <a:spcBef>
                <a:spcPts val="800"/>
              </a:spcBef>
            </a:pPr>
            <a:r>
              <a:rPr lang="en-US" sz="2800" dirty="0">
                <a:latin typeface="Liberation Sans"/>
              </a:rPr>
              <a:t>Observations about how the product is used in more natural contexts, including in-the wild may be included</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3</a:t>
            </a:fld>
            <a:endParaRPr lang="en-GB" dirty="0"/>
          </a:p>
        </p:txBody>
      </p:sp>
    </p:spTree>
    <p:extLst>
      <p:ext uri="{BB962C8B-B14F-4D97-AF65-F5344CB8AC3E}">
        <p14:creationId xmlns:p14="http://schemas.microsoft.com/office/powerpoint/2010/main" val="824676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idx="4294967295"/>
          </p:nvPr>
        </p:nvSpPr>
        <p:spPr>
          <a:xfrm>
            <a:off x="467544" y="116632"/>
            <a:ext cx="8458200" cy="838200"/>
          </a:xfrm>
        </p:spPr>
        <p:txBody>
          <a:bodyPr>
            <a:normAutofit/>
          </a:bodyPr>
          <a:lstStyle/>
          <a:p>
            <a:pPr eaLnBrk="1" hangingPunct="1"/>
            <a:r>
              <a:rPr lang="en-US" dirty="0">
                <a:latin typeface="Liberation Sans"/>
              </a:rPr>
              <a:t>Quantitative measures</a:t>
            </a:r>
          </a:p>
        </p:txBody>
      </p:sp>
      <p:sp>
        <p:nvSpPr>
          <p:cNvPr id="17413" name="Rectangle 3"/>
          <p:cNvSpPr>
            <a:spLocks noGrp="1" noChangeArrowheads="1"/>
          </p:cNvSpPr>
          <p:nvPr>
            <p:ph type="body" idx="4294967295"/>
          </p:nvPr>
        </p:nvSpPr>
        <p:spPr>
          <a:xfrm>
            <a:off x="342900" y="1448779"/>
            <a:ext cx="8458200" cy="4212469"/>
          </a:xfrm>
        </p:spPr>
        <p:txBody>
          <a:bodyPr>
            <a:normAutofit fontScale="92500" lnSpcReduction="10000"/>
          </a:bodyPr>
          <a:lstStyle/>
          <a:p>
            <a:pPr eaLnBrk="1" hangingPunct="1">
              <a:lnSpc>
                <a:spcPct val="90000"/>
              </a:lnSpc>
            </a:pPr>
            <a:r>
              <a:rPr lang="en-US" sz="2800" dirty="0">
                <a:latin typeface="Liberation Sans"/>
              </a:rPr>
              <a:t>Number of participants successfully completing the task</a:t>
            </a:r>
          </a:p>
          <a:p>
            <a:pPr eaLnBrk="1" hangingPunct="1">
              <a:lnSpc>
                <a:spcPct val="90000"/>
              </a:lnSpc>
              <a:spcBef>
                <a:spcPts val="1500"/>
              </a:spcBef>
            </a:pPr>
            <a:r>
              <a:rPr lang="en-US" sz="2800" dirty="0">
                <a:latin typeface="Liberation Sans"/>
              </a:rPr>
              <a:t>Time to complete the task</a:t>
            </a:r>
            <a:endParaRPr lang="en-US" sz="900" dirty="0">
              <a:latin typeface="Liberation Sans"/>
            </a:endParaRPr>
          </a:p>
          <a:p>
            <a:pPr>
              <a:lnSpc>
                <a:spcPct val="90000"/>
              </a:lnSpc>
              <a:spcBef>
                <a:spcPts val="1500"/>
              </a:spcBef>
            </a:pPr>
            <a:r>
              <a:rPr lang="en-US" sz="2800" dirty="0">
                <a:latin typeface="Liberation Sans"/>
              </a:rPr>
              <a:t>Time to complete the task after time away from it</a:t>
            </a:r>
            <a:endParaRPr lang="en-US" sz="900" dirty="0">
              <a:latin typeface="Liberation Sans"/>
            </a:endParaRPr>
          </a:p>
          <a:p>
            <a:pPr eaLnBrk="1" hangingPunct="1">
              <a:lnSpc>
                <a:spcPct val="90000"/>
              </a:lnSpc>
              <a:spcBef>
                <a:spcPts val="1500"/>
              </a:spcBef>
            </a:pPr>
            <a:r>
              <a:rPr lang="en-US" sz="2800" dirty="0">
                <a:latin typeface="Liberation Sans"/>
              </a:rPr>
              <a:t>Number and type of errors per task</a:t>
            </a:r>
            <a:endParaRPr lang="en-US" sz="800" dirty="0">
              <a:latin typeface="Liberation Sans"/>
            </a:endParaRPr>
          </a:p>
          <a:p>
            <a:pPr eaLnBrk="1" hangingPunct="1">
              <a:lnSpc>
                <a:spcPct val="90000"/>
              </a:lnSpc>
              <a:spcBef>
                <a:spcPts val="1500"/>
              </a:spcBef>
            </a:pPr>
            <a:r>
              <a:rPr lang="en-US" sz="2800" dirty="0">
                <a:latin typeface="Liberation Sans"/>
              </a:rPr>
              <a:t>Number of errors per unit of time</a:t>
            </a:r>
            <a:endParaRPr lang="en-US" sz="800" dirty="0">
              <a:latin typeface="Liberation Sans"/>
            </a:endParaRPr>
          </a:p>
          <a:p>
            <a:pPr eaLnBrk="1" hangingPunct="1">
              <a:lnSpc>
                <a:spcPct val="90000"/>
              </a:lnSpc>
              <a:spcBef>
                <a:spcPts val="1500"/>
              </a:spcBef>
            </a:pPr>
            <a:r>
              <a:rPr lang="en-US" sz="2800" dirty="0">
                <a:latin typeface="Liberation Sans"/>
              </a:rPr>
              <a:t>Number of times people navigate to an item such as online help</a:t>
            </a:r>
          </a:p>
          <a:p>
            <a:pPr eaLnBrk="1" hangingPunct="1">
              <a:lnSpc>
                <a:spcPct val="90000"/>
              </a:lnSpc>
              <a:spcBef>
                <a:spcPts val="1500"/>
              </a:spcBef>
            </a:pPr>
            <a:r>
              <a:rPr lang="en-US" sz="2800" dirty="0">
                <a:latin typeface="Liberation Sans"/>
              </a:rPr>
              <a:t>Number of people making the same or similar errors</a:t>
            </a:r>
          </a:p>
          <a:p>
            <a:pPr eaLnBrk="1" hangingPunct="1">
              <a:lnSpc>
                <a:spcPct val="90000"/>
              </a:lnSpc>
            </a:pPr>
            <a:endParaRPr lang="en-US" sz="2800" dirty="0">
              <a:latin typeface="Liberation Sans"/>
            </a:endParaRPr>
          </a:p>
          <a:p>
            <a:pPr marL="0" indent="0" eaLnBrk="1" hangingPunct="1">
              <a:lnSpc>
                <a:spcPct val="90000"/>
              </a:lnSpc>
              <a:buNone/>
            </a:pPr>
            <a:endParaRPr lang="en-US" sz="2800" dirty="0">
              <a:latin typeface="Liberation Sans"/>
            </a:endParaRPr>
          </a:p>
          <a:p>
            <a:pPr marL="0" indent="0" eaLnBrk="1" hangingPunct="1">
              <a:lnSpc>
                <a:spcPct val="90000"/>
              </a:lnSpc>
              <a:buNone/>
            </a:pPr>
            <a:endParaRPr lang="en-US" sz="2800" dirty="0">
              <a:latin typeface="Liberation Sans"/>
            </a:endParaRP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4</a:t>
            </a:fld>
            <a:endParaRPr lang="en-GB" dirty="0"/>
          </a:p>
        </p:txBody>
      </p:sp>
      <p:sp>
        <p:nvSpPr>
          <p:cNvPr id="2" name="TextBox 1">
            <a:extLst>
              <a:ext uri="{FF2B5EF4-FFF2-40B4-BE49-F238E27FC236}">
                <a16:creationId xmlns:a16="http://schemas.microsoft.com/office/drawing/2014/main" id="{B01C10DE-1F4C-7B4D-B78E-162B981537CF}"/>
              </a:ext>
            </a:extLst>
          </p:cNvPr>
          <p:cNvSpPr txBox="1"/>
          <p:nvPr/>
        </p:nvSpPr>
        <p:spPr>
          <a:xfrm>
            <a:off x="1115616" y="5973428"/>
            <a:ext cx="3744416" cy="369332"/>
          </a:xfrm>
          <a:prstGeom prst="rect">
            <a:avLst/>
          </a:prstGeom>
          <a:noFill/>
        </p:spPr>
        <p:txBody>
          <a:bodyPr wrap="square" rtlCol="0">
            <a:spAutoFit/>
          </a:bodyPr>
          <a:lstStyle/>
          <a:p>
            <a:r>
              <a:rPr lang="en-US" i="1" dirty="0">
                <a:latin typeface="Liberation Sans"/>
              </a:rPr>
              <a:t>Source</a:t>
            </a:r>
            <a:r>
              <a:rPr lang="en-US" dirty="0">
                <a:latin typeface="Liberation Sans"/>
              </a:rPr>
              <a:t>: Wixon and Wilson, 1997</a:t>
            </a:r>
          </a:p>
        </p:txBody>
      </p:sp>
    </p:spTree>
    <p:extLst>
      <p:ext uri="{BB962C8B-B14F-4D97-AF65-F5344CB8AC3E}">
        <p14:creationId xmlns:p14="http://schemas.microsoft.com/office/powerpoint/2010/main" val="1271699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descr="There are two designers who are watching a user, assisted by an evaluator, do some tasks. The user and the evaluator are situated in aausability lab. The designers are swatching behind one way class and cannot be seen by the user. The designers can also watch on a TV screen.&#10;"/>
          <p:cNvSpPr>
            <a:spLocks noGrp="1" noChangeArrowheads="1"/>
          </p:cNvSpPr>
          <p:nvPr>
            <p:ph type="title" idx="4294967295"/>
          </p:nvPr>
        </p:nvSpPr>
        <p:spPr>
          <a:xfrm>
            <a:off x="0" y="274638"/>
            <a:ext cx="9144000" cy="1498178"/>
          </a:xfrm>
        </p:spPr>
        <p:txBody>
          <a:bodyPr>
            <a:normAutofit fontScale="90000"/>
          </a:bodyPr>
          <a:lstStyle/>
          <a:p>
            <a:pPr eaLnBrk="1" hangingPunct="1"/>
            <a:r>
              <a:rPr lang="en-US" dirty="0">
                <a:latin typeface="Liberation Sans"/>
              </a:rPr>
              <a:t>Usability lab with designers watching a user and assistant through a one-way mirror and recording</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5</a:t>
            </a:fld>
            <a:endParaRPr lang="en-GB" dirty="0"/>
          </a:p>
        </p:txBody>
      </p:sp>
      <p:pic>
        <p:nvPicPr>
          <p:cNvPr id="7" name="Picture 6" descr="Uasbility lab with designers watching an evaluation study through a one-way mirror">
            <a:extLst>
              <a:ext uri="{FF2B5EF4-FFF2-40B4-BE49-F238E27FC236}">
                <a16:creationId xmlns:a16="http://schemas.microsoft.com/office/drawing/2014/main" id="{18AE3DCB-4957-BE43-8442-CC9005A3E5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5736" y="2240182"/>
            <a:ext cx="5089287" cy="3384376"/>
          </a:xfrm>
          <a:prstGeom prst="rect">
            <a:avLst/>
          </a:prstGeom>
        </p:spPr>
      </p:pic>
    </p:spTree>
    <p:extLst>
      <p:ext uri="{BB962C8B-B14F-4D97-AF65-F5344CB8AC3E}">
        <p14:creationId xmlns:p14="http://schemas.microsoft.com/office/powerpoint/2010/main" val="1076420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descr="A diagram of the layout of a usability lab used by Health and Human Services in the US. The diagram on the right shows where observers sit to observe the tests."/>
          <p:cNvSpPr>
            <a:spLocks noGrp="1" noChangeArrowheads="1"/>
          </p:cNvSpPr>
          <p:nvPr>
            <p:ph type="title" idx="4294967295"/>
          </p:nvPr>
        </p:nvSpPr>
        <p:spPr/>
        <p:txBody>
          <a:bodyPr>
            <a:normAutofit fontScale="90000"/>
          </a:bodyPr>
          <a:lstStyle/>
          <a:p>
            <a:pPr eaLnBrk="1" hangingPunct="1"/>
            <a:r>
              <a:rPr lang="en-US" dirty="0">
                <a:latin typeface="Liberation Sans"/>
              </a:rPr>
              <a:t>Layout of a usability lab used by US Health &amp; Human Services Dept.</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6</a:t>
            </a:fld>
            <a:endParaRPr lang="en-GB" dirty="0"/>
          </a:p>
        </p:txBody>
      </p:sp>
      <p:sp>
        <p:nvSpPr>
          <p:cNvPr id="4" name="TextBox 3">
            <a:extLst>
              <a:ext uri="{FF2B5EF4-FFF2-40B4-BE49-F238E27FC236}">
                <a16:creationId xmlns:a16="http://schemas.microsoft.com/office/drawing/2014/main" id="{BC4A7B90-2A03-BB13-3D86-305EF7BDCB75}"/>
              </a:ext>
              <a:ext uri="{C183D7F6-B498-43B3-948B-1728B52AA6E4}">
                <adec:decorative xmlns:adec="http://schemas.microsoft.com/office/drawing/2017/decorative" val="0"/>
              </a:ext>
            </a:extLst>
          </p:cNvPr>
          <p:cNvSpPr txBox="1"/>
          <p:nvPr/>
        </p:nvSpPr>
        <p:spPr>
          <a:xfrm>
            <a:off x="539552" y="5661248"/>
            <a:ext cx="8064896" cy="369332"/>
          </a:xfrm>
          <a:prstGeom prst="rect">
            <a:avLst/>
          </a:prstGeom>
          <a:noFill/>
        </p:spPr>
        <p:txBody>
          <a:bodyPr wrap="square" rtlCol="0">
            <a:spAutoFit/>
          </a:bodyPr>
          <a:lstStyle/>
          <a:p>
            <a:r>
              <a:rPr lang="en-US" sz="1800" dirty="0">
                <a:effectLst/>
                <a:latin typeface="Times New Roman" panose="02020603050405020304" pitchFamily="18" charset="0"/>
                <a:ea typeface="Times New Roman" panose="02020603050405020304" pitchFamily="18" charset="0"/>
              </a:rPr>
              <a:t>source: https://</a:t>
            </a:r>
            <a:r>
              <a:rPr lang="en-US" sz="1800" dirty="0" err="1">
                <a:effectLst/>
                <a:latin typeface="Times New Roman" panose="02020603050405020304" pitchFamily="18" charset="0"/>
                <a:ea typeface="Times New Roman" panose="02020603050405020304" pitchFamily="18" charset="0"/>
              </a:rPr>
              <a:t>www.usability.gov</a:t>
            </a:r>
            <a:r>
              <a:rPr lang="en-US" sz="1800" dirty="0">
                <a:effectLst/>
                <a:latin typeface="Times New Roman" panose="02020603050405020304" pitchFamily="18" charset="0"/>
                <a:ea typeface="Times New Roman" panose="02020603050405020304" pitchFamily="18" charset="0"/>
              </a:rPr>
              <a:t>/how-to-and-tools/guidance/</a:t>
            </a:r>
            <a:r>
              <a:rPr lang="en-US" sz="1800" dirty="0" err="1">
                <a:effectLst/>
                <a:latin typeface="Times New Roman" panose="02020603050405020304" pitchFamily="18" charset="0"/>
                <a:ea typeface="Times New Roman" panose="02020603050405020304" pitchFamily="18" charset="0"/>
              </a:rPr>
              <a:t>hhs</a:t>
            </a:r>
            <a:r>
              <a:rPr lang="en-US" sz="1800" dirty="0">
                <a:effectLst/>
                <a:latin typeface="Times New Roman" panose="02020603050405020304" pitchFamily="18" charset="0"/>
                <a:ea typeface="Times New Roman" panose="02020603050405020304" pitchFamily="18" charset="0"/>
              </a:rPr>
              <a:t>-usability-</a:t>
            </a:r>
            <a:r>
              <a:rPr lang="en-US" sz="1800" dirty="0" err="1">
                <a:effectLst/>
                <a:latin typeface="Times New Roman" panose="02020603050405020304" pitchFamily="18" charset="0"/>
                <a:ea typeface="Times New Roman" panose="02020603050405020304" pitchFamily="18" charset="0"/>
              </a:rPr>
              <a:t>lab.html</a:t>
            </a:r>
            <a:r>
              <a:rPr lang="en-US" dirty="0">
                <a:effectLst/>
              </a:rPr>
              <a:t> </a:t>
            </a:r>
            <a:endParaRPr lang="en-US" dirty="0"/>
          </a:p>
        </p:txBody>
      </p:sp>
      <p:pic>
        <p:nvPicPr>
          <p:cNvPr id="6" name="Picture 5" descr="Diagram of the usability lab used by the US Health and Human Services government department&#10;">
            <a:extLst>
              <a:ext uri="{FF2B5EF4-FFF2-40B4-BE49-F238E27FC236}">
                <a16:creationId xmlns:a16="http://schemas.microsoft.com/office/drawing/2014/main" id="{2B8348CB-8521-5E48-C0F7-88D94F765FE7}"/>
              </a:ext>
            </a:extLst>
          </p:cNvPr>
          <p:cNvPicPr>
            <a:picLocks noChangeAspect="1"/>
          </p:cNvPicPr>
          <p:nvPr/>
        </p:nvPicPr>
        <p:blipFill>
          <a:blip r:embed="rId3"/>
          <a:stretch>
            <a:fillRect/>
          </a:stretch>
        </p:blipFill>
        <p:spPr>
          <a:xfrm>
            <a:off x="719944" y="2141240"/>
            <a:ext cx="7704856" cy="3228493"/>
          </a:xfrm>
          <a:prstGeom prst="rect">
            <a:avLst/>
          </a:prstGeom>
        </p:spPr>
      </p:pic>
    </p:spTree>
    <p:extLst>
      <p:ext uri="{BB962C8B-B14F-4D97-AF65-F5344CB8AC3E}">
        <p14:creationId xmlns:p14="http://schemas.microsoft.com/office/powerpoint/2010/main" val="482497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2" descr="A woman wearing light-weight eye-tracking glasses."/>
          <p:cNvSpPr>
            <a:spLocks noGrp="1" noChangeArrowheads="1"/>
          </p:cNvSpPr>
          <p:nvPr>
            <p:ph type="title" idx="4294967295"/>
          </p:nvPr>
        </p:nvSpPr>
        <p:spPr>
          <a:xfrm>
            <a:off x="1686508" y="270075"/>
            <a:ext cx="5770984" cy="1143000"/>
          </a:xfrm>
        </p:spPr>
        <p:txBody>
          <a:bodyPr>
            <a:normAutofit fontScale="90000"/>
          </a:bodyPr>
          <a:lstStyle/>
          <a:p>
            <a:pPr eaLnBrk="1" hangingPunct="1"/>
            <a:r>
              <a:rPr lang="en-US" dirty="0">
                <a:latin typeface="Liberation Sans"/>
              </a:rPr>
              <a:t>Tobii Glasses Mobile Eye-Tracking System</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7</a:t>
            </a:fld>
            <a:endParaRPr lang="en-GB" dirty="0"/>
          </a:p>
        </p:txBody>
      </p:sp>
      <p:sp>
        <p:nvSpPr>
          <p:cNvPr id="5" name="TextBox 4">
            <a:extLst>
              <a:ext uri="{FF2B5EF4-FFF2-40B4-BE49-F238E27FC236}">
                <a16:creationId xmlns:a16="http://schemas.microsoft.com/office/drawing/2014/main" id="{AAD47C2D-34E6-6943-877C-B601F6D4EE8B}"/>
              </a:ext>
            </a:extLst>
          </p:cNvPr>
          <p:cNvSpPr txBox="1"/>
          <p:nvPr/>
        </p:nvSpPr>
        <p:spPr>
          <a:xfrm>
            <a:off x="971600" y="5599210"/>
            <a:ext cx="7080977" cy="646331"/>
          </a:xfrm>
          <a:prstGeom prst="rect">
            <a:avLst/>
          </a:prstGeom>
          <a:noFill/>
        </p:spPr>
        <p:txBody>
          <a:bodyPr wrap="none" rtlCol="0">
            <a:spAutoFit/>
          </a:bodyPr>
          <a:lstStyle/>
          <a:p>
            <a:r>
              <a:rPr lang="en-US" i="1" dirty="0"/>
              <a:t>Source</a:t>
            </a:r>
            <a:r>
              <a:rPr lang="en-US" dirty="0"/>
              <a:t>: </a:t>
            </a:r>
            <a:r>
              <a:rPr lang="en-US" sz="1800" dirty="0">
                <a:effectLst/>
                <a:latin typeface="Arial" panose="020B0604020202020204" pitchFamily="34" charset="0"/>
                <a:ea typeface="Times New Roman" panose="02020603050405020304" pitchFamily="18" charset="0"/>
                <a:cs typeface="Times New Roman" panose="02020603050405020304" pitchFamily="18" charset="0"/>
              </a:rPr>
              <a:t>https://</a:t>
            </a:r>
            <a:r>
              <a:rPr lang="en-US" sz="1800" dirty="0" err="1">
                <a:effectLst/>
                <a:latin typeface="Arial" panose="020B0604020202020204" pitchFamily="34" charset="0"/>
                <a:ea typeface="Times New Roman" panose="02020603050405020304" pitchFamily="18" charset="0"/>
                <a:cs typeface="Times New Roman" panose="02020603050405020304" pitchFamily="18" charset="0"/>
              </a:rPr>
              <a:t>www.tobiipro.com</a:t>
            </a:r>
            <a:r>
              <a:rPr lang="en-US" sz="1800" dirty="0">
                <a:effectLst/>
                <a:latin typeface="Arial" panose="020B0604020202020204" pitchFamily="34" charset="0"/>
                <a:ea typeface="Times New Roman" panose="02020603050405020304" pitchFamily="18" charset="0"/>
                <a:cs typeface="Times New Roman" panose="02020603050405020304" pitchFamily="18" charset="0"/>
              </a:rPr>
              <a:t>/news-events/on-demand-webinars/</a:t>
            </a:r>
            <a:br>
              <a:rPr lang="en-US" sz="1800" dirty="0">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effectLst/>
                <a:latin typeface="Arial" panose="020B0604020202020204" pitchFamily="34" charset="0"/>
                <a:ea typeface="Times New Roman" panose="02020603050405020304" pitchFamily="18" charset="0"/>
                <a:cs typeface="Times New Roman" panose="02020603050405020304" pitchFamily="18" charset="0"/>
              </a:rPr>
              <a:t>Wearable-eye-tracking-for-research/</a:t>
            </a:r>
            <a:r>
              <a:rPr lang="en-US" dirty="0">
                <a:effectLst/>
              </a:rPr>
              <a:t> </a:t>
            </a:r>
            <a:endParaRPr lang="en-US" dirty="0"/>
          </a:p>
        </p:txBody>
      </p:sp>
      <p:pic>
        <p:nvPicPr>
          <p:cNvPr id="2" name="Picture 1" descr="A woman wearing light-weight eye-tracking glasses.">
            <a:extLst>
              <a:ext uri="{FF2B5EF4-FFF2-40B4-BE49-F238E27FC236}">
                <a16:creationId xmlns:a16="http://schemas.microsoft.com/office/drawing/2014/main" id="{72EF8842-C2DE-DBBA-FE0B-42CC1778547D}"/>
              </a:ext>
            </a:extLst>
          </p:cNvPr>
          <p:cNvPicPr>
            <a:picLocks noChangeAspect="1"/>
          </p:cNvPicPr>
          <p:nvPr/>
        </p:nvPicPr>
        <p:blipFill>
          <a:blip r:embed="rId3"/>
          <a:stretch>
            <a:fillRect/>
          </a:stretch>
        </p:blipFill>
        <p:spPr>
          <a:xfrm>
            <a:off x="2411760" y="2060848"/>
            <a:ext cx="3185765" cy="2893819"/>
          </a:xfrm>
          <a:prstGeom prst="rect">
            <a:avLst/>
          </a:prstGeom>
        </p:spPr>
      </p:pic>
    </p:spTree>
    <p:extLst>
      <p:ext uri="{BB962C8B-B14F-4D97-AF65-F5344CB8AC3E}">
        <p14:creationId xmlns:p14="http://schemas.microsoft.com/office/powerpoint/2010/main" val="1819635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Equipment is getting smaller</a:t>
            </a:r>
          </a:p>
        </p:txBody>
      </p:sp>
      <p:sp>
        <p:nvSpPr>
          <p:cNvPr id="3" name="Content Placeholder 2">
            <a:extLst>
              <a:ext uri="{C183D7F6-B498-43B3-948B-1728B52AA6E4}">
                <adec:decorative xmlns:adec="http://schemas.microsoft.com/office/drawing/2017/decorative" val="0"/>
              </a:ext>
            </a:extLst>
          </p:cNvPr>
          <p:cNvSpPr>
            <a:spLocks noGrp="1"/>
          </p:cNvSpPr>
          <p:nvPr>
            <p:ph idx="1"/>
          </p:nvPr>
        </p:nvSpPr>
        <p:spPr>
          <a:xfrm>
            <a:off x="457200" y="1600200"/>
            <a:ext cx="8229600" cy="4565104"/>
          </a:xfrm>
        </p:spPr>
        <p:txBody>
          <a:bodyPr>
            <a:normAutofit fontScale="92500" lnSpcReduction="10000"/>
          </a:bodyPr>
          <a:lstStyle/>
          <a:p>
            <a:r>
              <a:rPr lang="en-GB" dirty="0"/>
              <a:t>As more testing is done remotely and in-the- wild, equipment has got smaller</a:t>
            </a:r>
          </a:p>
          <a:p>
            <a:r>
              <a:rPr lang="en-GB" dirty="0"/>
              <a:t>New lightweight models of eye-tracking glasses that look like ordinary glasses</a:t>
            </a:r>
          </a:p>
          <a:p>
            <a:r>
              <a:rPr lang="en-GB" dirty="0"/>
              <a:t>Video and audio recording is often done using mobile phones which produce increasingly good quality with each new model of phone </a:t>
            </a:r>
          </a:p>
          <a:p>
            <a:r>
              <a:rPr lang="en-US" dirty="0">
                <a:solidFill>
                  <a:schemeClr val="tx1"/>
                </a:solidFill>
              </a:rPr>
              <a:t>Replace bulky recording devices and tripods, also more discrete</a:t>
            </a:r>
          </a:p>
        </p:txBody>
      </p:sp>
      <p:sp>
        <p:nvSpPr>
          <p:cNvPr id="4" name="Footer Placeholder 3">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8</a:t>
            </a:fld>
            <a:endParaRPr lang="en-GB" dirty="0"/>
          </a:p>
        </p:txBody>
      </p:sp>
    </p:spTree>
    <p:extLst>
      <p:ext uri="{BB962C8B-B14F-4D97-AF65-F5344CB8AC3E}">
        <p14:creationId xmlns:p14="http://schemas.microsoft.com/office/powerpoint/2010/main" val="4235898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Remote testing</a:t>
            </a:r>
          </a:p>
        </p:txBody>
      </p:sp>
      <p:sp>
        <p:nvSpPr>
          <p:cNvPr id="3" name="Content Placeholder 2"/>
          <p:cNvSpPr>
            <a:spLocks noGrp="1"/>
          </p:cNvSpPr>
          <p:nvPr>
            <p:ph idx="1"/>
          </p:nvPr>
        </p:nvSpPr>
        <p:spPr>
          <a:xfrm>
            <a:off x="457200" y="1340768"/>
            <a:ext cx="8229600" cy="5015582"/>
          </a:xfrm>
        </p:spPr>
        <p:txBody>
          <a:bodyPr>
            <a:normAutofit fontScale="77500" lnSpcReduction="20000"/>
          </a:bodyPr>
          <a:lstStyle/>
          <a:p>
            <a:r>
              <a:rPr lang="en-GB" dirty="0"/>
              <a:t>Participants can carry out tasks in their own environment without an evaluator being present</a:t>
            </a:r>
          </a:p>
          <a:p>
            <a:r>
              <a:rPr lang="en-GB" dirty="0"/>
              <a:t>Zoom, Teams and other digital communications are often used</a:t>
            </a:r>
          </a:p>
          <a:p>
            <a:r>
              <a:rPr lang="en-US" dirty="0">
                <a:solidFill>
                  <a:schemeClr val="tx1"/>
                </a:solidFill>
              </a:rPr>
              <a:t>Testing can be synchronous or asynchronous</a:t>
            </a:r>
          </a:p>
          <a:p>
            <a:r>
              <a:rPr lang="en-US" dirty="0"/>
              <a:t>Advantage of remote testing, especially asynchronous testing, is that several participants can be tested at the same time in their own environments</a:t>
            </a:r>
          </a:p>
          <a:p>
            <a:r>
              <a:rPr lang="en-US" dirty="0">
                <a:solidFill>
                  <a:schemeClr val="tx1"/>
                </a:solidFill>
              </a:rPr>
              <a:t>Covid-19 pandemic encouraged creative ways of conducting remote testing that was safe</a:t>
            </a:r>
          </a:p>
          <a:p>
            <a:r>
              <a:rPr lang="en-US" dirty="0"/>
              <a:t>Remote testing may make it easier for people with disabilities to participate</a:t>
            </a:r>
          </a:p>
          <a:p>
            <a:r>
              <a:rPr lang="en-US" dirty="0">
                <a:solidFill>
                  <a:schemeClr val="tx1"/>
                </a:solidFill>
              </a:rPr>
              <a:t>Downside: no one present to help with equipment problems and less personal than co-present testing</a:t>
            </a:r>
          </a:p>
        </p:txBody>
      </p:sp>
      <p:sp>
        <p:nvSpPr>
          <p:cNvPr id="4" name="Footer Placeholder 3">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9</a:t>
            </a:fld>
            <a:endParaRPr lang="en-GB" dirty="0"/>
          </a:p>
        </p:txBody>
      </p:sp>
    </p:spTree>
    <p:extLst>
      <p:ext uri="{BB962C8B-B14F-4D97-AF65-F5344CB8AC3E}">
        <p14:creationId xmlns:p14="http://schemas.microsoft.com/office/powerpoint/2010/main" val="3986113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Case 1: iPad usability </a:t>
            </a:r>
            <a:br>
              <a:rPr lang="en-GB" dirty="0"/>
            </a:br>
            <a:r>
              <a:rPr lang="en-GB" sz="2700" dirty="0"/>
              <a:t>(</a:t>
            </a:r>
            <a:r>
              <a:rPr lang="en-GB" sz="2700" dirty="0" err="1"/>
              <a:t>Budiu</a:t>
            </a:r>
            <a:r>
              <a:rPr lang="en-GB" sz="2700" dirty="0"/>
              <a:t> &amp; Nielsen, 2010)</a:t>
            </a:r>
          </a:p>
        </p:txBody>
      </p:sp>
      <p:sp>
        <p:nvSpPr>
          <p:cNvPr id="3" name="Content Placeholder 2"/>
          <p:cNvSpPr>
            <a:spLocks noGrp="1"/>
          </p:cNvSpPr>
          <p:nvPr>
            <p:ph idx="1"/>
          </p:nvPr>
        </p:nvSpPr>
        <p:spPr>
          <a:xfrm>
            <a:off x="457200" y="1777655"/>
            <a:ext cx="8229600" cy="4565104"/>
          </a:xfrm>
        </p:spPr>
        <p:txBody>
          <a:bodyPr>
            <a:normAutofit fontScale="92500" lnSpcReduction="20000"/>
          </a:bodyPr>
          <a:lstStyle/>
          <a:p>
            <a:r>
              <a:rPr lang="en-GB" dirty="0"/>
              <a:t>Now a classic study – innovative in its day!</a:t>
            </a:r>
          </a:p>
          <a:p>
            <a:r>
              <a:rPr lang="en-GB" dirty="0"/>
              <a:t>Study conducted in two cities: Fremont, CA and Chicago, IL</a:t>
            </a:r>
          </a:p>
          <a:p>
            <a:r>
              <a:rPr lang="en-GB" dirty="0"/>
              <a:t>Tests had to be done quickly, as information was needed by third-party app developers</a:t>
            </a:r>
          </a:p>
          <a:p>
            <a:r>
              <a:rPr lang="en-GB" dirty="0"/>
              <a:t>Also needed to be done secretly so that the competition was not aware of the study before the iPad was launched</a:t>
            </a:r>
          </a:p>
          <a:p>
            <a:r>
              <a:rPr lang="en-GB" dirty="0"/>
              <a:t>Seven participants with over three months experience with iPhones</a:t>
            </a:r>
            <a:endParaRPr lang="en-US" dirty="0">
              <a:solidFill>
                <a:schemeClr val="tx1"/>
              </a:solidFill>
            </a:endParaRPr>
          </a:p>
          <a:p>
            <a:pPr lvl="1"/>
            <a:endParaRPr lang="en-US" dirty="0">
              <a:solidFill>
                <a:schemeClr val="tx1"/>
              </a:solidFill>
            </a:endParaRPr>
          </a:p>
        </p:txBody>
      </p:sp>
      <p:sp>
        <p:nvSpPr>
          <p:cNvPr id="4" name="Footer Placeholder 3">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10</a:t>
            </a:fld>
            <a:endParaRPr lang="en-GB" dirty="0"/>
          </a:p>
        </p:txBody>
      </p:sp>
    </p:spTree>
    <p:extLst>
      <p:ext uri="{BB962C8B-B14F-4D97-AF65-F5344CB8AC3E}">
        <p14:creationId xmlns:p14="http://schemas.microsoft.com/office/powerpoint/2010/main" val="3867492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iPad usability testing procedure</a:t>
            </a:r>
            <a:endParaRPr lang="en-GB" sz="3100" i="1" dirty="0"/>
          </a:p>
        </p:txBody>
      </p:sp>
      <p:sp>
        <p:nvSpPr>
          <p:cNvPr id="3" name="Content Placeholder 2"/>
          <p:cNvSpPr>
            <a:spLocks noGrp="1"/>
          </p:cNvSpPr>
          <p:nvPr>
            <p:ph idx="1"/>
          </p:nvPr>
        </p:nvSpPr>
        <p:spPr>
          <a:xfrm>
            <a:off x="457200" y="1600200"/>
            <a:ext cx="8229600" cy="4565104"/>
          </a:xfrm>
        </p:spPr>
        <p:txBody>
          <a:bodyPr>
            <a:normAutofit fontScale="77500" lnSpcReduction="20000"/>
          </a:bodyPr>
          <a:lstStyle/>
          <a:p>
            <a:r>
              <a:rPr lang="en-GB" dirty="0"/>
              <a:t>Signed an informed consent form explaining:</a:t>
            </a:r>
            <a:endParaRPr lang="en-GB" sz="1300" dirty="0"/>
          </a:p>
          <a:p>
            <a:pPr lvl="1">
              <a:spcBef>
                <a:spcPts val="1200"/>
              </a:spcBef>
              <a:buFont typeface="Wingdings" pitchFamily="2" charset="2"/>
              <a:buChar char="§"/>
            </a:pPr>
            <a:r>
              <a:rPr lang="en-US" dirty="0">
                <a:solidFill>
                  <a:schemeClr val="tx1"/>
                </a:solidFill>
              </a:rPr>
              <a:t>What the participant would be asked to do</a:t>
            </a:r>
          </a:p>
          <a:p>
            <a:pPr lvl="1">
              <a:spcBef>
                <a:spcPts val="1200"/>
              </a:spcBef>
              <a:buFont typeface="Wingdings" pitchFamily="2" charset="2"/>
              <a:buChar char="§"/>
            </a:pPr>
            <a:r>
              <a:rPr lang="en-US" dirty="0">
                <a:solidFill>
                  <a:schemeClr val="tx1"/>
                </a:solidFill>
              </a:rPr>
              <a:t>The length of time needed for the study</a:t>
            </a:r>
          </a:p>
          <a:p>
            <a:pPr lvl="1">
              <a:spcBef>
                <a:spcPts val="1200"/>
              </a:spcBef>
              <a:buFont typeface="Wingdings" pitchFamily="2" charset="2"/>
              <a:buChar char="§"/>
            </a:pPr>
            <a:r>
              <a:rPr lang="en-US" dirty="0">
                <a:solidFill>
                  <a:schemeClr val="tx1"/>
                </a:solidFill>
              </a:rPr>
              <a:t>The compensation that would be offered for participating</a:t>
            </a:r>
          </a:p>
          <a:p>
            <a:pPr lvl="1">
              <a:spcBef>
                <a:spcPts val="1200"/>
              </a:spcBef>
              <a:buFont typeface="Wingdings" pitchFamily="2" charset="2"/>
              <a:buChar char="§"/>
            </a:pPr>
            <a:r>
              <a:rPr lang="en-US" dirty="0">
                <a:solidFill>
                  <a:schemeClr val="tx1"/>
                </a:solidFill>
              </a:rPr>
              <a:t>Participants’ right to withdraw from the study at any time</a:t>
            </a:r>
          </a:p>
          <a:p>
            <a:pPr lvl="1">
              <a:spcBef>
                <a:spcPts val="1200"/>
              </a:spcBef>
              <a:buFont typeface="Wingdings" pitchFamily="2" charset="2"/>
              <a:buChar char="§"/>
            </a:pPr>
            <a:r>
              <a:rPr lang="en-US" dirty="0">
                <a:solidFill>
                  <a:schemeClr val="tx1"/>
                </a:solidFill>
              </a:rPr>
              <a:t>A promise that the person’s identity would not be disclosed</a:t>
            </a:r>
          </a:p>
          <a:p>
            <a:pPr lvl="1">
              <a:spcBef>
                <a:spcPts val="1200"/>
              </a:spcBef>
              <a:buFont typeface="Wingdings" pitchFamily="2" charset="2"/>
              <a:buChar char="§"/>
            </a:pPr>
            <a:r>
              <a:rPr lang="en-US" dirty="0">
                <a:solidFill>
                  <a:schemeClr val="tx1"/>
                </a:solidFill>
              </a:rPr>
              <a:t>An agreement that the data collected would be confidential and available only to the evaluators</a:t>
            </a:r>
            <a:endParaRPr lang="en-GB" sz="1300" dirty="0">
              <a:solidFill>
                <a:schemeClr val="tx1"/>
              </a:solidFill>
            </a:endParaRPr>
          </a:p>
          <a:p>
            <a:pPr>
              <a:spcBef>
                <a:spcPts val="1800"/>
              </a:spcBef>
            </a:pPr>
            <a:r>
              <a:rPr lang="en-GB" dirty="0"/>
              <a:t>Participants were asked to explore the iPad</a:t>
            </a:r>
            <a:endParaRPr lang="en-GB" sz="1100" dirty="0"/>
          </a:p>
          <a:p>
            <a:pPr>
              <a:spcBef>
                <a:spcPts val="1800"/>
              </a:spcBef>
            </a:pPr>
            <a:r>
              <a:rPr lang="en-GB" dirty="0"/>
              <a:t>Next, they were asked to perform randomly-assigned specified tasks</a:t>
            </a:r>
          </a:p>
          <a:p>
            <a:endParaRPr lang="en-GB" dirty="0"/>
          </a:p>
          <a:p>
            <a:pPr marL="457200" lvl="1" indent="0">
              <a:buNone/>
            </a:pPr>
            <a:endParaRPr lang="en-US" dirty="0">
              <a:solidFill>
                <a:schemeClr val="tx1"/>
              </a:solidFill>
            </a:endParaRPr>
          </a:p>
          <a:p>
            <a:pPr lvl="1"/>
            <a:endParaRPr lang="en-US" dirty="0">
              <a:solidFill>
                <a:schemeClr val="tx1"/>
              </a:solidFill>
            </a:endParaRPr>
          </a:p>
          <a:p>
            <a:pPr lvl="1"/>
            <a:endParaRPr lang="en-US" dirty="0">
              <a:solidFill>
                <a:schemeClr val="tx1"/>
              </a:solidFill>
            </a:endParaRPr>
          </a:p>
        </p:txBody>
      </p:sp>
      <p:sp>
        <p:nvSpPr>
          <p:cNvPr id="4" name="Footer Placeholder 3">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11</a:t>
            </a:fld>
            <a:endParaRPr lang="en-GB" dirty="0"/>
          </a:p>
        </p:txBody>
      </p:sp>
    </p:spTree>
    <p:extLst>
      <p:ext uri="{BB962C8B-B14F-4D97-AF65-F5344CB8AC3E}">
        <p14:creationId xmlns:p14="http://schemas.microsoft.com/office/powerpoint/2010/main" val="1647864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Table depicting tasks that participants"/>
          <p:cNvSpPr>
            <a:spLocks noGrp="1"/>
          </p:cNvSpPr>
          <p:nvPr>
            <p:ph type="title"/>
          </p:nvPr>
        </p:nvSpPr>
        <p:spPr>
          <a:xfrm>
            <a:off x="1290464" y="292561"/>
            <a:ext cx="6563072" cy="1143000"/>
          </a:xfrm>
        </p:spPr>
        <p:txBody>
          <a:bodyPr>
            <a:normAutofit fontScale="90000"/>
          </a:bodyPr>
          <a:lstStyle/>
          <a:p>
            <a:r>
              <a:rPr lang="en-GB" dirty="0"/>
              <a:t>Examples of the tasks used in the iPad evaluation</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12</a:t>
            </a:fld>
            <a:endParaRPr lang="en-GB" dirty="0"/>
          </a:p>
        </p:txBody>
      </p:sp>
      <p:sp>
        <p:nvSpPr>
          <p:cNvPr id="6" name="Content Placeholder 5">
            <a:extLst>
              <a:ext uri="{FF2B5EF4-FFF2-40B4-BE49-F238E27FC236}">
                <a16:creationId xmlns:a16="http://schemas.microsoft.com/office/drawing/2014/main" id="{1F0F532D-C177-884C-B09D-55B8258AF480}"/>
              </a:ext>
              <a:ext uri="{C183D7F6-B498-43B3-948B-1728B52AA6E4}">
                <adec:decorative xmlns:adec="http://schemas.microsoft.com/office/drawing/2017/decorative" val="0"/>
              </a:ext>
            </a:extLst>
          </p:cNvPr>
          <p:cNvSpPr>
            <a:spLocks noGrp="1"/>
          </p:cNvSpPr>
          <p:nvPr>
            <p:ph idx="1"/>
          </p:nvPr>
        </p:nvSpPr>
        <p:spPr>
          <a:xfrm>
            <a:off x="457200" y="1600201"/>
            <a:ext cx="8229600" cy="3587750"/>
          </a:xfrm>
        </p:spPr>
        <p:txBody>
          <a:bodyPr/>
          <a:lstStyle/>
          <a:p>
            <a:endParaRPr lang="en-US" dirty="0"/>
          </a:p>
        </p:txBody>
      </p:sp>
      <p:pic>
        <p:nvPicPr>
          <p:cNvPr id="7" name="Picture 6" descr="Table depicting tasks that participants were assinged in the iPad App and Website Usability Study">
            <a:extLst>
              <a:ext uri="{FF2B5EF4-FFF2-40B4-BE49-F238E27FC236}">
                <a16:creationId xmlns:a16="http://schemas.microsoft.com/office/drawing/2014/main" id="{3A1EF6F8-99E5-8D41-A505-B557197A36B6}"/>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577850" y="1670050"/>
            <a:ext cx="7988300" cy="3517900"/>
          </a:xfrm>
          <a:prstGeom prst="rect">
            <a:avLst/>
          </a:prstGeom>
        </p:spPr>
      </p:pic>
      <p:sp>
        <p:nvSpPr>
          <p:cNvPr id="9" name="TextBox 8">
            <a:extLst>
              <a:ext uri="{FF2B5EF4-FFF2-40B4-BE49-F238E27FC236}">
                <a16:creationId xmlns:a16="http://schemas.microsoft.com/office/drawing/2014/main" id="{0A3435B0-D564-D542-8E06-4D654CE908B5}"/>
              </a:ext>
              <a:ext uri="{C183D7F6-B498-43B3-948B-1728B52AA6E4}">
                <adec:decorative xmlns:adec="http://schemas.microsoft.com/office/drawing/2017/decorative" val="0"/>
              </a:ext>
            </a:extLst>
          </p:cNvPr>
          <p:cNvSpPr txBox="1"/>
          <p:nvPr/>
        </p:nvSpPr>
        <p:spPr>
          <a:xfrm>
            <a:off x="577850" y="5352591"/>
            <a:ext cx="8052570" cy="923330"/>
          </a:xfrm>
          <a:prstGeom prst="rect">
            <a:avLst/>
          </a:prstGeom>
          <a:noFill/>
        </p:spPr>
        <p:txBody>
          <a:bodyPr wrap="square" rtlCol="0">
            <a:spAutoFit/>
          </a:bodyPr>
          <a:lstStyle/>
          <a:p>
            <a:r>
              <a:rPr lang="en-US" dirty="0"/>
              <a:t>Adapted from Budiu and Nielsen, 2010</a:t>
            </a:r>
          </a:p>
          <a:p>
            <a:r>
              <a:rPr lang="en-US" dirty="0"/>
              <a:t>Source: iPad App and Website Usability Study. Used courtesy of the </a:t>
            </a:r>
            <a:r>
              <a:rPr lang="en-US" dirty="0">
                <a:hlinkClick r:id="rId4"/>
              </a:rPr>
              <a:t>Neilsen Norman Group</a:t>
            </a:r>
            <a:r>
              <a:rPr lang="en-US" dirty="0"/>
              <a:t>.</a:t>
            </a:r>
          </a:p>
        </p:txBody>
      </p:sp>
    </p:spTree>
    <p:extLst>
      <p:ext uri="{BB962C8B-B14F-4D97-AF65-F5344CB8AC3E}">
        <p14:creationId xmlns:p14="http://schemas.microsoft.com/office/powerpoint/2010/main" val="1093165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lstStyle/>
          <a:p>
            <a:r>
              <a:rPr lang="en-US" dirty="0"/>
              <a:t>Problems and actions</a:t>
            </a:r>
          </a:p>
        </p:txBody>
      </p:sp>
      <p:sp>
        <p:nvSpPr>
          <p:cNvPr id="3" name="Content Placeholder 2"/>
          <p:cNvSpPr>
            <a:spLocks noGrp="1"/>
          </p:cNvSpPr>
          <p:nvPr>
            <p:ph idx="1"/>
          </p:nvPr>
        </p:nvSpPr>
        <p:spPr>
          <a:xfrm>
            <a:off x="457200" y="1412776"/>
            <a:ext cx="8229600" cy="4900812"/>
          </a:xfrm>
        </p:spPr>
        <p:txBody>
          <a:bodyPr>
            <a:normAutofit/>
          </a:bodyPr>
          <a:lstStyle/>
          <a:p>
            <a:r>
              <a:rPr lang="en-US" dirty="0"/>
              <a:t>Examples of problems detected:</a:t>
            </a:r>
            <a:endParaRPr lang="en-US" sz="900" dirty="0"/>
          </a:p>
          <a:p>
            <a:pPr lvl="1">
              <a:buFont typeface="Wingdings" pitchFamily="2" charset="2"/>
              <a:buChar char="§"/>
            </a:pPr>
            <a:r>
              <a:rPr lang="en-US" dirty="0">
                <a:solidFill>
                  <a:schemeClr val="tx1"/>
                </a:solidFill>
              </a:rPr>
              <a:t>Accessing the Web was difficult</a:t>
            </a:r>
          </a:p>
          <a:p>
            <a:pPr lvl="1">
              <a:buFont typeface="Wingdings" pitchFamily="2" charset="2"/>
              <a:buChar char="§"/>
            </a:pPr>
            <a:r>
              <a:rPr lang="en-US" dirty="0">
                <a:solidFill>
                  <a:schemeClr val="tx1"/>
                </a:solidFill>
              </a:rPr>
              <a:t>Lack of affordance and feedback</a:t>
            </a:r>
          </a:p>
          <a:p>
            <a:pPr lvl="1">
              <a:buFont typeface="Wingdings" pitchFamily="2" charset="2"/>
              <a:buChar char="§"/>
            </a:pPr>
            <a:r>
              <a:rPr lang="en-US" dirty="0">
                <a:solidFill>
                  <a:schemeClr val="tx1"/>
                </a:solidFill>
              </a:rPr>
              <a:t>Getting lost in an application</a:t>
            </a:r>
          </a:p>
          <a:p>
            <a:pPr lvl="1">
              <a:buFont typeface="Wingdings" pitchFamily="2" charset="2"/>
              <a:buChar char="§"/>
            </a:pPr>
            <a:r>
              <a:rPr lang="en-US" dirty="0">
                <a:solidFill>
                  <a:schemeClr val="tx1"/>
                </a:solidFill>
              </a:rPr>
              <a:t>Knowing where to tap</a:t>
            </a:r>
          </a:p>
          <a:p>
            <a:pPr lvl="1"/>
            <a:endParaRPr lang="en-US" sz="900" dirty="0">
              <a:solidFill>
                <a:schemeClr val="tx1"/>
              </a:solidFill>
            </a:endParaRPr>
          </a:p>
          <a:p>
            <a:r>
              <a:rPr lang="en-US" dirty="0"/>
              <a:t>Actions by evaluators:</a:t>
            </a:r>
            <a:endParaRPr lang="en-US" sz="900" dirty="0"/>
          </a:p>
          <a:p>
            <a:pPr lvl="1">
              <a:buFont typeface="Wingdings" pitchFamily="2" charset="2"/>
              <a:buChar char="§"/>
            </a:pPr>
            <a:r>
              <a:rPr lang="en-US" dirty="0">
                <a:solidFill>
                  <a:schemeClr val="tx1"/>
                </a:solidFill>
              </a:rPr>
              <a:t>Reported to developers</a:t>
            </a:r>
          </a:p>
          <a:p>
            <a:pPr lvl="1">
              <a:buFont typeface="Wingdings" pitchFamily="2" charset="2"/>
              <a:buChar char="§"/>
            </a:pPr>
            <a:r>
              <a:rPr lang="en-US" dirty="0">
                <a:solidFill>
                  <a:schemeClr val="tx1"/>
                </a:solidFill>
              </a:rPr>
              <a:t>Made available to public on </a:t>
            </a:r>
            <a:r>
              <a:rPr lang="en-US" dirty="0">
                <a:hlinkClick r:id="rId2"/>
              </a:rPr>
              <a:t>Neilsen Norman Group</a:t>
            </a:r>
            <a:r>
              <a:rPr lang="en-US" dirty="0"/>
              <a:t>.</a:t>
            </a:r>
            <a:r>
              <a:rPr lang="en-US" dirty="0">
                <a:solidFill>
                  <a:schemeClr val="tx1"/>
                </a:solidFill>
              </a:rPr>
              <a:t>  </a:t>
            </a:r>
          </a:p>
          <a:p>
            <a:pPr lvl="1"/>
            <a:endParaRPr lang="en-US" sz="900" dirty="0">
              <a:solidFill>
                <a:schemeClr val="tx1"/>
              </a:solidFill>
            </a:endParaRPr>
          </a:p>
          <a:p>
            <a:endParaRPr lang="en-US" dirty="0"/>
          </a:p>
        </p:txBody>
      </p:sp>
      <p:sp>
        <p:nvSpPr>
          <p:cNvPr id="4" name="Footer Placeholder 3">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13</a:t>
            </a:fld>
            <a:endParaRPr lang="en-GB" dirty="0"/>
          </a:p>
        </p:txBody>
      </p:sp>
    </p:spTree>
    <p:extLst>
      <p:ext uri="{BB962C8B-B14F-4D97-AF65-F5344CB8AC3E}">
        <p14:creationId xmlns:p14="http://schemas.microsoft.com/office/powerpoint/2010/main" val="3477580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a:bodyPr>
          <a:lstStyle/>
          <a:p>
            <a:r>
              <a:rPr lang="en-US" dirty="0"/>
              <a:t>Problems and actions</a:t>
            </a:r>
            <a:r>
              <a:rPr lang="en-GB" dirty="0"/>
              <a:t> </a:t>
            </a:r>
            <a:r>
              <a:rPr lang="en-GB" sz="3100" i="1" dirty="0"/>
              <a:t>(continued)</a:t>
            </a:r>
            <a:endParaRPr lang="en-US" sz="3100" dirty="0"/>
          </a:p>
        </p:txBody>
      </p:sp>
      <p:sp>
        <p:nvSpPr>
          <p:cNvPr id="3" name="Content Placeholder 2"/>
          <p:cNvSpPr>
            <a:spLocks noGrp="1"/>
          </p:cNvSpPr>
          <p:nvPr>
            <p:ph idx="1"/>
          </p:nvPr>
        </p:nvSpPr>
        <p:spPr>
          <a:xfrm>
            <a:off x="457200" y="1412776"/>
            <a:ext cx="8229600" cy="4900812"/>
          </a:xfrm>
        </p:spPr>
        <p:txBody>
          <a:bodyPr>
            <a:normAutofit/>
          </a:bodyPr>
          <a:lstStyle/>
          <a:p>
            <a:r>
              <a:rPr lang="en-US" dirty="0"/>
              <a:t>Accessibility for all users is important</a:t>
            </a:r>
          </a:p>
          <a:p>
            <a:pPr>
              <a:spcBef>
                <a:spcPts val="2400"/>
              </a:spcBef>
            </a:pPr>
            <a:r>
              <a:rPr lang="en-US" dirty="0"/>
              <a:t>Study did not address how iPad would be used in people’s everyday lives</a:t>
            </a:r>
          </a:p>
          <a:p>
            <a:pPr>
              <a:spcBef>
                <a:spcPts val="2400"/>
              </a:spcBef>
            </a:pPr>
            <a:r>
              <a:rPr lang="en-US" dirty="0"/>
              <a:t>Another study was done a year later to examine this and other issues that there was insufficient time to address in this study</a:t>
            </a:r>
          </a:p>
          <a:p>
            <a:endParaRPr lang="en-US" dirty="0"/>
          </a:p>
        </p:txBody>
      </p:sp>
      <p:sp>
        <p:nvSpPr>
          <p:cNvPr id="4" name="Footer Placeholder 3">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14</a:t>
            </a:fld>
            <a:endParaRPr lang="en-GB" dirty="0"/>
          </a:p>
        </p:txBody>
      </p:sp>
    </p:spTree>
    <p:extLst>
      <p:ext uri="{BB962C8B-B14F-4D97-AF65-F5344CB8AC3E}">
        <p14:creationId xmlns:p14="http://schemas.microsoft.com/office/powerpoint/2010/main" val="2803962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fontScale="90000"/>
          </a:bodyPr>
          <a:lstStyle/>
          <a:p>
            <a:r>
              <a:rPr lang="en-US" sz="3100" dirty="0"/>
              <a:t>Case 2: Remote testing with extended VR (XR)</a:t>
            </a:r>
            <a:br>
              <a:rPr lang="en-US" sz="3100" dirty="0"/>
            </a:br>
            <a:r>
              <a:rPr lang="en-US" sz="2700" dirty="0"/>
              <a:t>(</a:t>
            </a:r>
            <a:r>
              <a:rPr lang="en-US" sz="2700" dirty="0" err="1"/>
              <a:t>Sanni</a:t>
            </a:r>
            <a:r>
              <a:rPr lang="en-US" sz="2700" dirty="0"/>
              <a:t> </a:t>
            </a:r>
            <a:r>
              <a:rPr lang="en-US" sz="2700" dirty="0" err="1"/>
              <a:t>Siltanen</a:t>
            </a:r>
            <a:r>
              <a:rPr lang="en-US" sz="2700" dirty="0"/>
              <a:t> et al., 2021)</a:t>
            </a:r>
          </a:p>
        </p:txBody>
      </p:sp>
      <p:sp>
        <p:nvSpPr>
          <p:cNvPr id="3" name="Content Placeholder 2"/>
          <p:cNvSpPr>
            <a:spLocks noGrp="1"/>
          </p:cNvSpPr>
          <p:nvPr>
            <p:ph idx="1"/>
          </p:nvPr>
        </p:nvSpPr>
        <p:spPr>
          <a:xfrm>
            <a:off x="457200" y="1412776"/>
            <a:ext cx="8229600" cy="4900812"/>
          </a:xfrm>
        </p:spPr>
        <p:txBody>
          <a:bodyPr>
            <a:normAutofit fontScale="62500" lnSpcReduction="20000"/>
          </a:bodyPr>
          <a:lstStyle/>
          <a:p>
            <a:pPr>
              <a:spcBef>
                <a:spcPts val="2400"/>
              </a:spcBef>
            </a:pPr>
            <a:r>
              <a:rPr lang="en-US" dirty="0"/>
              <a:t>Study at Krone Corp. (Finland) to examine new immersive experiences in VR</a:t>
            </a:r>
          </a:p>
          <a:p>
            <a:pPr>
              <a:spcBef>
                <a:spcPts val="2400"/>
              </a:spcBef>
            </a:pPr>
            <a:r>
              <a:rPr lang="en-US" dirty="0"/>
              <a:t>Needed to find ways to test experts and company employees remotely because of Covid-19 pandemic</a:t>
            </a:r>
          </a:p>
          <a:p>
            <a:pPr>
              <a:spcBef>
                <a:spcPts val="2400"/>
              </a:spcBef>
            </a:pPr>
            <a:r>
              <a:rPr lang="en-US" dirty="0"/>
              <a:t>Also needed a sophisticated setup to test the collaborative XR platforms across multiple locations</a:t>
            </a:r>
          </a:p>
          <a:p>
            <a:pPr>
              <a:spcBef>
                <a:spcPts val="2400"/>
              </a:spcBef>
            </a:pPr>
            <a:r>
              <a:rPr lang="en-US" dirty="0"/>
              <a:t>Testing was conducted remotely with experts in 8 countries: Finland, India, China, Germany, Indonesia, Malaysia, USA, United Arab Emirates</a:t>
            </a:r>
          </a:p>
          <a:p>
            <a:pPr>
              <a:spcBef>
                <a:spcPts val="2400"/>
              </a:spcBef>
            </a:pPr>
            <a:r>
              <a:rPr lang="en-US" dirty="0"/>
              <a:t>Some tests in participants premises where special disinfecting routines had to be carried out, other tests were done remotely</a:t>
            </a:r>
          </a:p>
          <a:p>
            <a:pPr>
              <a:spcBef>
                <a:spcPts val="2400"/>
              </a:spcBef>
            </a:pPr>
            <a:r>
              <a:rPr lang="en-US" dirty="0"/>
              <a:t>Little advice available about how to do remote testing during a pandemic</a:t>
            </a:r>
          </a:p>
        </p:txBody>
      </p:sp>
      <p:sp>
        <p:nvSpPr>
          <p:cNvPr id="4" name="Footer Placeholder 3">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15</a:t>
            </a:fld>
            <a:endParaRPr lang="en-GB" dirty="0"/>
          </a:p>
        </p:txBody>
      </p:sp>
    </p:spTree>
    <p:extLst>
      <p:ext uri="{BB962C8B-B14F-4D97-AF65-F5344CB8AC3E}">
        <p14:creationId xmlns:p14="http://schemas.microsoft.com/office/powerpoint/2010/main" val="2804202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2"/>
          <p:cNvSpPr>
            <a:spLocks noGrp="1" noChangeArrowheads="1"/>
          </p:cNvSpPr>
          <p:nvPr>
            <p:ph type="title" idx="4294967295"/>
          </p:nvPr>
        </p:nvSpPr>
        <p:spPr>
          <a:xfrm>
            <a:off x="1115616" y="270075"/>
            <a:ext cx="6768752" cy="769924"/>
          </a:xfrm>
        </p:spPr>
        <p:txBody>
          <a:bodyPr>
            <a:normAutofit fontScale="90000"/>
          </a:bodyPr>
          <a:lstStyle/>
          <a:p>
            <a:pPr eaLnBrk="1" hangingPunct="1"/>
            <a:r>
              <a:rPr lang="en-US" dirty="0">
                <a:latin typeface="Liberation Sans"/>
              </a:rPr>
              <a:t>A participant in a test session</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a:xfrm>
            <a:off x="3124200" y="6405362"/>
            <a:ext cx="2895600" cy="365125"/>
          </a:xfrm>
        </p:spPr>
        <p:txBody>
          <a:bodyPr/>
          <a:lstStyle/>
          <a:p>
            <a:r>
              <a:rPr lang="en-GB" dirty="0"/>
              <a:t>www.id-book.com</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16</a:t>
            </a:fld>
            <a:endParaRPr lang="en-GB" dirty="0"/>
          </a:p>
        </p:txBody>
      </p:sp>
      <p:sp>
        <p:nvSpPr>
          <p:cNvPr id="5" name="TextBox 4">
            <a:extLst>
              <a:ext uri="{FF2B5EF4-FFF2-40B4-BE49-F238E27FC236}">
                <a16:creationId xmlns:a16="http://schemas.microsoft.com/office/drawing/2014/main" id="{AAD47C2D-34E6-6943-877C-B601F6D4EE8B}"/>
              </a:ext>
              <a:ext uri="{C183D7F6-B498-43B3-948B-1728B52AA6E4}">
                <adec:decorative xmlns:adec="http://schemas.microsoft.com/office/drawing/2017/decorative" val="0"/>
              </a:ext>
            </a:extLst>
          </p:cNvPr>
          <p:cNvSpPr txBox="1"/>
          <p:nvPr/>
        </p:nvSpPr>
        <p:spPr>
          <a:xfrm>
            <a:off x="2732553" y="5782726"/>
            <a:ext cx="3816424" cy="307777"/>
          </a:xfrm>
          <a:prstGeom prst="rect">
            <a:avLst/>
          </a:prstGeom>
          <a:noFill/>
        </p:spPr>
        <p:txBody>
          <a:bodyPr wrap="square" rtlCol="0">
            <a:spAutoFit/>
          </a:bodyPr>
          <a:lstStyle/>
          <a:p>
            <a:r>
              <a:rPr lang="en-US" sz="1400" i="1" dirty="0"/>
              <a:t>Source</a:t>
            </a:r>
            <a:r>
              <a:rPr lang="en-US" sz="1400" dirty="0"/>
              <a:t>: </a:t>
            </a:r>
            <a:r>
              <a:rPr lang="en-US" sz="1400" dirty="0" err="1">
                <a:effectLst/>
                <a:latin typeface="Times New Roman" panose="02020603050405020304" pitchFamily="18" charset="0"/>
                <a:ea typeface="Times New Roman" panose="02020603050405020304" pitchFamily="18" charset="0"/>
              </a:rPr>
              <a:t>Siltanen</a:t>
            </a:r>
            <a:r>
              <a:rPr lang="en-US" sz="1400" dirty="0">
                <a:effectLst/>
                <a:latin typeface="Times New Roman" panose="02020603050405020304" pitchFamily="18" charset="0"/>
                <a:ea typeface="Times New Roman" panose="02020603050405020304" pitchFamily="18" charset="0"/>
              </a:rPr>
              <a:t> et al. (2021) MDPI / CC BY 4.0</a:t>
            </a:r>
          </a:p>
        </p:txBody>
      </p:sp>
      <p:pic>
        <p:nvPicPr>
          <p:cNvPr id="6" name="Picture 5" descr="A remote usability test participant wearing a virtual reality headset and holding two paddles to initiate and control movement.&#10;">
            <a:extLst>
              <a:ext uri="{FF2B5EF4-FFF2-40B4-BE49-F238E27FC236}">
                <a16:creationId xmlns:a16="http://schemas.microsoft.com/office/drawing/2014/main" id="{6C92480A-04B9-FED6-5B6B-16C5590F689B}"/>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2987824" y="1307103"/>
            <a:ext cx="3096344" cy="4147343"/>
          </a:xfrm>
          <a:prstGeom prst="rect">
            <a:avLst/>
          </a:prstGeom>
        </p:spPr>
      </p:pic>
    </p:spTree>
    <p:extLst>
      <p:ext uri="{BB962C8B-B14F-4D97-AF65-F5344CB8AC3E}">
        <p14:creationId xmlns:p14="http://schemas.microsoft.com/office/powerpoint/2010/main" val="2280371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2"/>
          <p:cNvSpPr>
            <a:spLocks noGrp="1" noChangeArrowheads="1"/>
          </p:cNvSpPr>
          <p:nvPr>
            <p:ph type="title" idx="4294967295"/>
          </p:nvPr>
        </p:nvSpPr>
        <p:spPr>
          <a:xfrm>
            <a:off x="539552" y="270074"/>
            <a:ext cx="8352928" cy="1070693"/>
          </a:xfrm>
        </p:spPr>
        <p:txBody>
          <a:bodyPr>
            <a:normAutofit fontScale="90000"/>
          </a:bodyPr>
          <a:lstStyle/>
          <a:p>
            <a:pPr eaLnBrk="1" hangingPunct="1"/>
            <a:r>
              <a:rPr lang="en-US" dirty="0">
                <a:latin typeface="Liberation Sans"/>
              </a:rPr>
              <a:t>Screenshots from the </a:t>
            </a:r>
            <a:r>
              <a:rPr lang="en-US" dirty="0" err="1">
                <a:latin typeface="Liberation Sans"/>
              </a:rPr>
              <a:t>DesignSpace</a:t>
            </a:r>
            <a:r>
              <a:rPr lang="en-US" dirty="0">
                <a:latin typeface="Liberation Sans"/>
              </a:rPr>
              <a:t> VR environments</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a:xfrm>
            <a:off x="3124200" y="6405362"/>
            <a:ext cx="2895600" cy="365125"/>
          </a:xfrm>
        </p:spPr>
        <p:txBody>
          <a:bodyPr/>
          <a:lstStyle/>
          <a:p>
            <a:r>
              <a:rPr lang="en-GB" dirty="0"/>
              <a:t>www.id-book.com</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17</a:t>
            </a:fld>
            <a:endParaRPr lang="en-GB" dirty="0"/>
          </a:p>
        </p:txBody>
      </p:sp>
      <p:sp>
        <p:nvSpPr>
          <p:cNvPr id="5" name="TextBox 4">
            <a:extLst>
              <a:ext uri="{FF2B5EF4-FFF2-40B4-BE49-F238E27FC236}">
                <a16:creationId xmlns:a16="http://schemas.microsoft.com/office/drawing/2014/main" id="{AAD47C2D-34E6-6943-877C-B601F6D4EE8B}"/>
              </a:ext>
            </a:extLst>
          </p:cNvPr>
          <p:cNvSpPr txBox="1"/>
          <p:nvPr/>
        </p:nvSpPr>
        <p:spPr>
          <a:xfrm>
            <a:off x="2851715" y="5641503"/>
            <a:ext cx="3728601" cy="307777"/>
          </a:xfrm>
          <a:prstGeom prst="rect">
            <a:avLst/>
          </a:prstGeom>
          <a:noFill/>
        </p:spPr>
        <p:txBody>
          <a:bodyPr wrap="square" rtlCol="0">
            <a:spAutoFit/>
          </a:bodyPr>
          <a:lstStyle/>
          <a:p>
            <a:r>
              <a:rPr lang="en-US" sz="1400" i="1" dirty="0"/>
              <a:t>Source</a:t>
            </a:r>
            <a:r>
              <a:rPr lang="en-US" sz="1400" dirty="0"/>
              <a:t>: </a:t>
            </a:r>
            <a:r>
              <a:rPr lang="en-US" sz="1400" dirty="0" err="1">
                <a:effectLst/>
                <a:latin typeface="Times New Roman" panose="02020603050405020304" pitchFamily="18" charset="0"/>
                <a:ea typeface="Times New Roman" panose="02020603050405020304" pitchFamily="18" charset="0"/>
              </a:rPr>
              <a:t>Siltanen</a:t>
            </a:r>
            <a:r>
              <a:rPr lang="en-US" sz="1400" dirty="0">
                <a:effectLst/>
                <a:latin typeface="Times New Roman" panose="02020603050405020304" pitchFamily="18" charset="0"/>
                <a:ea typeface="Times New Roman" panose="02020603050405020304" pitchFamily="18" charset="0"/>
              </a:rPr>
              <a:t> et al. (2021) MDPI / CC BY 4.0</a:t>
            </a:r>
          </a:p>
        </p:txBody>
      </p:sp>
      <p:pic>
        <p:nvPicPr>
          <p:cNvPr id="2" name="Picture 1" descr="Screenshots from the DesignSpace VR environment&#10;&#10;">
            <a:extLst>
              <a:ext uri="{FF2B5EF4-FFF2-40B4-BE49-F238E27FC236}">
                <a16:creationId xmlns:a16="http://schemas.microsoft.com/office/drawing/2014/main" id="{91A905C3-F1BE-39C4-9C6C-048A391D59F8}"/>
              </a:ext>
            </a:extLst>
          </p:cNvPr>
          <p:cNvPicPr>
            <a:picLocks noChangeAspect="1"/>
          </p:cNvPicPr>
          <p:nvPr/>
        </p:nvPicPr>
        <p:blipFill>
          <a:blip r:embed="rId3"/>
          <a:stretch>
            <a:fillRect/>
          </a:stretch>
        </p:blipFill>
        <p:spPr>
          <a:xfrm>
            <a:off x="297254" y="1998050"/>
            <a:ext cx="8595226" cy="2750941"/>
          </a:xfrm>
          <a:prstGeom prst="rect">
            <a:avLst/>
          </a:prstGeom>
        </p:spPr>
      </p:pic>
    </p:spTree>
    <p:extLst>
      <p:ext uri="{BB962C8B-B14F-4D97-AF65-F5344CB8AC3E}">
        <p14:creationId xmlns:p14="http://schemas.microsoft.com/office/powerpoint/2010/main" val="2436833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2"/>
          <p:cNvSpPr>
            <a:spLocks noGrp="1" noChangeArrowheads="1"/>
          </p:cNvSpPr>
          <p:nvPr>
            <p:ph type="title" idx="4294967295"/>
          </p:nvPr>
        </p:nvSpPr>
        <p:spPr>
          <a:xfrm>
            <a:off x="562209" y="497634"/>
            <a:ext cx="8352928" cy="1070693"/>
          </a:xfrm>
        </p:spPr>
        <p:txBody>
          <a:bodyPr>
            <a:normAutofit fontScale="90000"/>
          </a:bodyPr>
          <a:lstStyle/>
          <a:p>
            <a:pPr eaLnBrk="1" hangingPunct="1"/>
            <a:r>
              <a:rPr lang="en-US" dirty="0">
                <a:latin typeface="Liberation Sans"/>
              </a:rPr>
              <a:t>Testing setup used with </a:t>
            </a:r>
            <a:r>
              <a:rPr lang="en-US" dirty="0" err="1">
                <a:latin typeface="Liberation Sans"/>
              </a:rPr>
              <a:t>DesignSpace</a:t>
            </a:r>
            <a:r>
              <a:rPr lang="en-US" dirty="0">
                <a:latin typeface="Liberation Sans"/>
              </a:rPr>
              <a:t> environments</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a:xfrm>
            <a:off x="3124200" y="6405362"/>
            <a:ext cx="2895600" cy="365125"/>
          </a:xfrm>
        </p:spPr>
        <p:txBody>
          <a:bodyPr/>
          <a:lstStyle/>
          <a:p>
            <a:r>
              <a:rPr lang="en-GB" dirty="0"/>
              <a:t>www.id-book.com</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18</a:t>
            </a:fld>
            <a:endParaRPr lang="en-GB" dirty="0"/>
          </a:p>
        </p:txBody>
      </p:sp>
      <p:sp>
        <p:nvSpPr>
          <p:cNvPr id="5" name="TextBox 4">
            <a:extLst>
              <a:ext uri="{FF2B5EF4-FFF2-40B4-BE49-F238E27FC236}">
                <a16:creationId xmlns:a16="http://schemas.microsoft.com/office/drawing/2014/main" id="{AAD47C2D-34E6-6943-877C-B601F6D4EE8B}"/>
              </a:ext>
            </a:extLst>
          </p:cNvPr>
          <p:cNvSpPr txBox="1"/>
          <p:nvPr/>
        </p:nvSpPr>
        <p:spPr>
          <a:xfrm>
            <a:off x="2707113" y="5713511"/>
            <a:ext cx="3800609" cy="307777"/>
          </a:xfrm>
          <a:prstGeom prst="rect">
            <a:avLst/>
          </a:prstGeom>
          <a:noFill/>
        </p:spPr>
        <p:txBody>
          <a:bodyPr wrap="square" rtlCol="0">
            <a:spAutoFit/>
          </a:bodyPr>
          <a:lstStyle/>
          <a:p>
            <a:r>
              <a:rPr lang="en-US" sz="1400" i="1" dirty="0"/>
              <a:t>Source</a:t>
            </a:r>
            <a:r>
              <a:rPr lang="en-US" sz="1400" dirty="0"/>
              <a:t>: </a:t>
            </a:r>
            <a:r>
              <a:rPr lang="en-US" sz="1400" dirty="0" err="1">
                <a:effectLst/>
                <a:latin typeface="Times New Roman" panose="02020603050405020304" pitchFamily="18" charset="0"/>
                <a:ea typeface="Times New Roman" panose="02020603050405020304" pitchFamily="18" charset="0"/>
              </a:rPr>
              <a:t>Siltanen</a:t>
            </a:r>
            <a:r>
              <a:rPr lang="en-US" sz="1400" dirty="0">
                <a:effectLst/>
                <a:latin typeface="Times New Roman" panose="02020603050405020304" pitchFamily="18" charset="0"/>
                <a:ea typeface="Times New Roman" panose="02020603050405020304" pitchFamily="18" charset="0"/>
              </a:rPr>
              <a:t> et al. (2021) MDPI / CC BY 4.0</a:t>
            </a:r>
          </a:p>
        </p:txBody>
      </p:sp>
      <p:pic>
        <p:nvPicPr>
          <p:cNvPr id="6" name="Picture 5" descr="The testing setup used with the DesignSpace environment">
            <a:extLst>
              <a:ext uri="{FF2B5EF4-FFF2-40B4-BE49-F238E27FC236}">
                <a16:creationId xmlns:a16="http://schemas.microsoft.com/office/drawing/2014/main" id="{2064B209-1448-A02D-3ADB-708110F24E7E}"/>
              </a:ext>
            </a:extLst>
          </p:cNvPr>
          <p:cNvPicPr>
            <a:picLocks noChangeAspect="1"/>
          </p:cNvPicPr>
          <p:nvPr/>
        </p:nvPicPr>
        <p:blipFill>
          <a:blip r:embed="rId3"/>
          <a:stretch>
            <a:fillRect/>
          </a:stretch>
        </p:blipFill>
        <p:spPr>
          <a:xfrm>
            <a:off x="562209" y="2420888"/>
            <a:ext cx="8090419" cy="2178982"/>
          </a:xfrm>
          <a:prstGeom prst="rect">
            <a:avLst/>
          </a:prstGeom>
        </p:spPr>
      </p:pic>
    </p:spTree>
    <p:extLst>
      <p:ext uri="{BB962C8B-B14F-4D97-AF65-F5344CB8AC3E}">
        <p14:creationId xmlns:p14="http://schemas.microsoft.com/office/powerpoint/2010/main" val="6309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idx="4294967295"/>
          </p:nvPr>
        </p:nvSpPr>
        <p:spPr>
          <a:xfrm>
            <a:off x="683568" y="116632"/>
            <a:ext cx="7772400" cy="1080120"/>
          </a:xfrm>
        </p:spPr>
        <p:txBody>
          <a:bodyPr/>
          <a:lstStyle/>
          <a:p>
            <a:pPr eaLnBrk="1" hangingPunct="1"/>
            <a:r>
              <a:rPr lang="en-US" dirty="0">
                <a:latin typeface="Liberation Sans"/>
              </a:rPr>
              <a:t>Experiments</a:t>
            </a:r>
          </a:p>
        </p:txBody>
      </p:sp>
      <p:sp>
        <p:nvSpPr>
          <p:cNvPr id="38917" name="Rectangle 3"/>
          <p:cNvSpPr>
            <a:spLocks noGrp="1" noChangeArrowheads="1"/>
          </p:cNvSpPr>
          <p:nvPr>
            <p:ph type="body" idx="4294967295"/>
          </p:nvPr>
        </p:nvSpPr>
        <p:spPr>
          <a:xfrm>
            <a:off x="765920" y="1268760"/>
            <a:ext cx="7920880" cy="4968552"/>
          </a:xfrm>
        </p:spPr>
        <p:txBody>
          <a:bodyPr>
            <a:normAutofit/>
          </a:bodyPr>
          <a:lstStyle/>
          <a:p>
            <a:pPr eaLnBrk="1" hangingPunct="1"/>
            <a:r>
              <a:rPr lang="en-US" sz="2800" dirty="0">
                <a:latin typeface="Liberation Sans"/>
              </a:rPr>
              <a:t>Test hypotheses</a:t>
            </a:r>
          </a:p>
          <a:p>
            <a:pPr eaLnBrk="1" hangingPunct="1">
              <a:spcBef>
                <a:spcPts val="900"/>
              </a:spcBef>
            </a:pPr>
            <a:r>
              <a:rPr lang="en-US" sz="2800" dirty="0">
                <a:latin typeface="Liberation Sans"/>
              </a:rPr>
              <a:t>Predict the relationship between two or more variables</a:t>
            </a:r>
          </a:p>
          <a:p>
            <a:pPr eaLnBrk="1" hangingPunct="1">
              <a:spcBef>
                <a:spcPts val="900"/>
              </a:spcBef>
            </a:pPr>
            <a:r>
              <a:rPr lang="en-US" sz="2800" dirty="0">
                <a:latin typeface="Liberation Sans"/>
              </a:rPr>
              <a:t>Independent variable is manipulated by the researcher</a:t>
            </a:r>
          </a:p>
          <a:p>
            <a:pPr eaLnBrk="1" hangingPunct="1">
              <a:spcBef>
                <a:spcPts val="900"/>
              </a:spcBef>
            </a:pPr>
            <a:r>
              <a:rPr lang="en-US" sz="2800" dirty="0">
                <a:latin typeface="Liberation Sans"/>
              </a:rPr>
              <a:t>Dependent variable influenced by the independent variable</a:t>
            </a:r>
          </a:p>
          <a:p>
            <a:pPr eaLnBrk="1" hangingPunct="1">
              <a:spcBef>
                <a:spcPts val="900"/>
              </a:spcBef>
            </a:pPr>
            <a:r>
              <a:rPr lang="en-US" sz="2800" dirty="0">
                <a:latin typeface="Liberation Sans"/>
              </a:rPr>
              <a:t>Typical experimental designs have one or two independent variables</a:t>
            </a:r>
          </a:p>
          <a:p>
            <a:pPr eaLnBrk="1" hangingPunct="1">
              <a:spcBef>
                <a:spcPts val="900"/>
              </a:spcBef>
            </a:pPr>
            <a:r>
              <a:rPr lang="en-US" sz="2800" dirty="0">
                <a:latin typeface="Liberation Sans"/>
              </a:rPr>
              <a:t>Validated statistically and replicable</a:t>
            </a:r>
          </a:p>
          <a:p>
            <a:pPr eaLnBrk="1" hangingPunct="1"/>
            <a:endParaRPr lang="en-US" sz="2800" dirty="0">
              <a:latin typeface="Liberation Sans"/>
            </a:endParaRP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19</a:t>
            </a:fld>
            <a:endParaRPr lang="en-GB" dirty="0"/>
          </a:p>
        </p:txBody>
      </p:sp>
    </p:spTree>
    <p:extLst>
      <p:ext uri="{BB962C8B-B14F-4D97-AF65-F5344CB8AC3E}">
        <p14:creationId xmlns:p14="http://schemas.microsoft.com/office/powerpoint/2010/main" val="2773626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a:spLocks noGrp="1" noChangeArrowheads="1"/>
          </p:cNvSpPr>
          <p:nvPr>
            <p:ph type="title" idx="4294967295"/>
          </p:nvPr>
        </p:nvSpPr>
        <p:spPr>
          <a:xfrm>
            <a:off x="609600" y="228600"/>
            <a:ext cx="7772400" cy="1143000"/>
          </a:xfrm>
        </p:spPr>
        <p:txBody>
          <a:bodyPr/>
          <a:lstStyle/>
          <a:p>
            <a:pPr eaLnBrk="1" hangingPunct="1"/>
            <a:r>
              <a:rPr lang="en-US" dirty="0">
                <a:latin typeface="Liberation Sans"/>
              </a:rPr>
              <a:t>Experimental designs</a:t>
            </a:r>
          </a:p>
        </p:txBody>
      </p:sp>
      <p:sp>
        <p:nvSpPr>
          <p:cNvPr id="40965" name="Rectangle 3"/>
          <p:cNvSpPr>
            <a:spLocks noGrp="1" noChangeArrowheads="1"/>
          </p:cNvSpPr>
          <p:nvPr>
            <p:ph type="body" idx="4294967295"/>
          </p:nvPr>
        </p:nvSpPr>
        <p:spPr>
          <a:xfrm>
            <a:off x="467544" y="1556792"/>
            <a:ext cx="8424936" cy="4648200"/>
          </a:xfrm>
        </p:spPr>
        <p:txBody>
          <a:bodyPr>
            <a:normAutofit/>
          </a:bodyPr>
          <a:lstStyle/>
          <a:p>
            <a:pPr marL="0" indent="0" eaLnBrk="1" hangingPunct="1">
              <a:buNone/>
            </a:pPr>
            <a:r>
              <a:rPr lang="en-US" dirty="0">
                <a:latin typeface="Liberation Sans"/>
              </a:rPr>
              <a:t>Different participants (between participants):</a:t>
            </a:r>
            <a:r>
              <a:rPr lang="en-US" sz="2800" dirty="0">
                <a:latin typeface="Liberation Sans"/>
              </a:rPr>
              <a:t> </a:t>
            </a:r>
          </a:p>
          <a:p>
            <a:pPr marL="228600" indent="0" eaLnBrk="1" hangingPunct="1">
              <a:buNone/>
            </a:pPr>
            <a:r>
              <a:rPr lang="en-US" sz="2800" dirty="0">
                <a:latin typeface="Liberation Sans"/>
              </a:rPr>
              <a:t>Single group of participants is allocated randomly to the experimental conditions</a:t>
            </a:r>
          </a:p>
          <a:p>
            <a:pPr marL="0" indent="0" eaLnBrk="1" hangingPunct="1">
              <a:spcBef>
                <a:spcPts val="2400"/>
              </a:spcBef>
              <a:buNone/>
            </a:pPr>
            <a:r>
              <a:rPr lang="en-US" dirty="0">
                <a:latin typeface="Liberation Sans"/>
              </a:rPr>
              <a:t>Same participants (within participants):</a:t>
            </a:r>
          </a:p>
          <a:p>
            <a:pPr marL="228600" indent="0" eaLnBrk="1" hangingPunct="1">
              <a:buNone/>
            </a:pPr>
            <a:r>
              <a:rPr lang="en-US" sz="2800" dirty="0">
                <a:latin typeface="Liberation Sans"/>
              </a:rPr>
              <a:t>All participants participate in both conditions</a:t>
            </a:r>
          </a:p>
          <a:p>
            <a:pPr marL="0" indent="0" eaLnBrk="1" hangingPunct="1">
              <a:spcBef>
                <a:spcPts val="2400"/>
              </a:spcBef>
              <a:buNone/>
            </a:pPr>
            <a:r>
              <a:rPr lang="en-US" dirty="0">
                <a:latin typeface="Liberation Sans"/>
              </a:rPr>
              <a:t>Matched participants (pairwise design):</a:t>
            </a:r>
          </a:p>
          <a:p>
            <a:pPr marL="228600" indent="0" eaLnBrk="1" hangingPunct="1">
              <a:buNone/>
            </a:pPr>
            <a:r>
              <a:rPr lang="en-US" sz="2800" dirty="0">
                <a:latin typeface="Liberation Sans"/>
              </a:rPr>
              <a:t>Participants are matched in pairs, for example, based on expertise, gender, and so on</a:t>
            </a:r>
            <a:r>
              <a:rPr lang="en-US" dirty="0">
                <a:latin typeface="Liberation Sans"/>
              </a:rPr>
              <a:t> </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20</a:t>
            </a:fld>
            <a:endParaRPr lang="en-GB" dirty="0"/>
          </a:p>
        </p:txBody>
      </p:sp>
    </p:spTree>
    <p:extLst>
      <p:ext uri="{BB962C8B-B14F-4D97-AF65-F5344CB8AC3E}">
        <p14:creationId xmlns:p14="http://schemas.microsoft.com/office/powerpoint/2010/main" val="2962837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p:cNvSpPr>
            <a:spLocks noGrp="1" noChangeArrowheads="1"/>
          </p:cNvSpPr>
          <p:nvPr>
            <p:ph type="title" idx="4294967295"/>
          </p:nvPr>
        </p:nvSpPr>
        <p:spPr>
          <a:xfrm>
            <a:off x="685800" y="228600"/>
            <a:ext cx="7772400" cy="1143000"/>
          </a:xfrm>
        </p:spPr>
        <p:txBody>
          <a:bodyPr>
            <a:normAutofit fontScale="90000"/>
          </a:bodyPr>
          <a:lstStyle/>
          <a:p>
            <a:pPr eaLnBrk="1" hangingPunct="1"/>
            <a:r>
              <a:rPr lang="en-US" dirty="0">
                <a:latin typeface="Liberation Sans"/>
              </a:rPr>
              <a:t>Different, same, matched participant design</a:t>
            </a:r>
          </a:p>
        </p:txBody>
      </p:sp>
      <p:graphicFrame>
        <p:nvGraphicFramePr>
          <p:cNvPr id="43010" name="Object 2" descr="Table depicting advtanges and disadvatages of diifferent, same, and matched participant design"/>
          <p:cNvGraphicFramePr>
            <a:graphicFrameLocks noGrp="1" noChangeAspect="1"/>
          </p:cNvGraphicFramePr>
          <p:nvPr>
            <p:ph type="tbl" idx="4294967295"/>
            <p:extLst>
              <p:ext uri="{D42A27DB-BD31-4B8C-83A1-F6EECF244321}">
                <p14:modId xmlns:p14="http://schemas.microsoft.com/office/powerpoint/2010/main" val="2053004349"/>
              </p:ext>
            </p:extLst>
          </p:nvPr>
        </p:nvGraphicFramePr>
        <p:xfrm>
          <a:off x="620092" y="1700808"/>
          <a:ext cx="7480300" cy="4787900"/>
        </p:xfrm>
        <a:graphic>
          <a:graphicData uri="http://schemas.openxmlformats.org/presentationml/2006/ole">
            <mc:AlternateContent xmlns:mc="http://schemas.openxmlformats.org/markup-compatibility/2006">
              <mc:Choice xmlns:v="urn:schemas-microsoft-com:vml" Requires="v">
                <p:oleObj name="Document" r:id="rId3" imgW="7480300" imgH="4787900" progId="Word.Document.8">
                  <p:embed/>
                </p:oleObj>
              </mc:Choice>
              <mc:Fallback>
                <p:oleObj name="Document" r:id="rId3" imgW="7480300" imgH="4787900" progId="Word.Document.8">
                  <p:embed/>
                  <p:pic>
                    <p:nvPicPr>
                      <p:cNvPr id="0" name=""/>
                      <p:cNvPicPr>
                        <a:picLocks noChangeAspect="1" noChangeArrowheads="1"/>
                      </p:cNvPicPr>
                      <p:nvPr/>
                    </p:nvPicPr>
                    <p:blipFill>
                      <a:blip r:embed="rId4"/>
                      <a:srcRect/>
                      <a:stretch>
                        <a:fillRect/>
                      </a:stretch>
                    </p:blipFill>
                    <p:spPr bwMode="auto">
                      <a:xfrm>
                        <a:off x="620092" y="1700808"/>
                        <a:ext cx="7480300" cy="4787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 name="Straight Connector 5">
            <a:extLst>
              <a:ext uri="{C183D7F6-B498-43B3-948B-1728B52AA6E4}">
                <adec:decorative xmlns:adec="http://schemas.microsoft.com/office/drawing/2017/decorative" val="1"/>
              </a:ext>
            </a:extLst>
          </p:cNvPr>
          <p:cNvCxnSpPr/>
          <p:nvPr/>
        </p:nvCxnSpPr>
        <p:spPr>
          <a:xfrm>
            <a:off x="8100392" y="1700808"/>
            <a:ext cx="0" cy="4248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21</a:t>
            </a:fld>
            <a:endParaRPr lang="en-GB" dirty="0"/>
          </a:p>
        </p:txBody>
      </p:sp>
    </p:spTree>
    <p:extLst>
      <p:ext uri="{BB962C8B-B14F-4D97-AF65-F5344CB8AC3E}">
        <p14:creationId xmlns:p14="http://schemas.microsoft.com/office/powerpoint/2010/main" val="1291289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idx="4294967295"/>
          </p:nvPr>
        </p:nvSpPr>
        <p:spPr>
          <a:xfrm>
            <a:off x="685800" y="304800"/>
            <a:ext cx="7772400" cy="1143000"/>
          </a:xfrm>
        </p:spPr>
        <p:txBody>
          <a:bodyPr/>
          <a:lstStyle/>
          <a:p>
            <a:pPr eaLnBrk="1" hangingPunct="1"/>
            <a:r>
              <a:rPr lang="en-US" dirty="0">
                <a:latin typeface="Liberation Sans"/>
              </a:rPr>
              <a:t>In-the-wild studies</a:t>
            </a:r>
          </a:p>
        </p:txBody>
      </p:sp>
      <p:sp>
        <p:nvSpPr>
          <p:cNvPr id="45061" name="Rectangle 3"/>
          <p:cNvSpPr>
            <a:spLocks noGrp="1" noChangeArrowheads="1"/>
          </p:cNvSpPr>
          <p:nvPr>
            <p:ph type="body" idx="4294967295"/>
          </p:nvPr>
        </p:nvSpPr>
        <p:spPr>
          <a:xfrm>
            <a:off x="251520" y="1447800"/>
            <a:ext cx="8784976" cy="4717504"/>
          </a:xfrm>
        </p:spPr>
        <p:txBody>
          <a:bodyPr>
            <a:normAutofit fontScale="92500" lnSpcReduction="20000"/>
          </a:bodyPr>
          <a:lstStyle/>
          <a:p>
            <a:pPr eaLnBrk="1" hangingPunct="1">
              <a:lnSpc>
                <a:spcPct val="90000"/>
              </a:lnSpc>
            </a:pPr>
            <a:r>
              <a:rPr lang="en-US" dirty="0">
                <a:latin typeface="Liberation Sans"/>
              </a:rPr>
              <a:t>Done in natural settings </a:t>
            </a:r>
            <a:endParaRPr lang="en-US" sz="900" dirty="0">
              <a:latin typeface="Liberation Sans"/>
            </a:endParaRPr>
          </a:p>
          <a:p>
            <a:pPr eaLnBrk="1" hangingPunct="1">
              <a:lnSpc>
                <a:spcPct val="90000"/>
              </a:lnSpc>
              <a:spcBef>
                <a:spcPts val="1200"/>
              </a:spcBef>
            </a:pPr>
            <a:r>
              <a:rPr lang="en-US" dirty="0">
                <a:latin typeface="Liberation Sans"/>
              </a:rPr>
              <a:t>“In-the-wild” is a term for prototypes being used freely in natural settings – broader and typically less controlled than traditional field studies</a:t>
            </a:r>
            <a:endParaRPr lang="en-US" sz="900" dirty="0">
              <a:latin typeface="Liberation Sans"/>
            </a:endParaRPr>
          </a:p>
          <a:p>
            <a:pPr eaLnBrk="1" hangingPunct="1">
              <a:lnSpc>
                <a:spcPct val="90000"/>
              </a:lnSpc>
              <a:spcBef>
                <a:spcPts val="1200"/>
              </a:spcBef>
            </a:pPr>
            <a:r>
              <a:rPr lang="en-US" dirty="0">
                <a:latin typeface="Liberation Sans"/>
              </a:rPr>
              <a:t>Seek to understand what users do naturally and how technology impacts them</a:t>
            </a:r>
            <a:endParaRPr lang="en-US" sz="900" dirty="0">
              <a:latin typeface="Liberation Sans"/>
            </a:endParaRPr>
          </a:p>
          <a:p>
            <a:pPr eaLnBrk="1" hangingPunct="1">
              <a:lnSpc>
                <a:spcPct val="90000"/>
              </a:lnSpc>
              <a:spcBef>
                <a:spcPts val="1200"/>
              </a:spcBef>
            </a:pPr>
            <a:r>
              <a:rPr lang="en-US" dirty="0">
                <a:latin typeface="Liberation Sans"/>
              </a:rPr>
              <a:t>In-the-wild studies are used in product design to:</a:t>
            </a:r>
          </a:p>
          <a:p>
            <a:pPr eaLnBrk="1" hangingPunct="1">
              <a:lnSpc>
                <a:spcPct val="90000"/>
              </a:lnSpc>
            </a:pPr>
            <a:endParaRPr lang="en-US" sz="700" dirty="0">
              <a:latin typeface="Liberation Sans"/>
            </a:endParaRPr>
          </a:p>
          <a:p>
            <a:pPr lvl="1">
              <a:lnSpc>
                <a:spcPct val="90000"/>
              </a:lnSpc>
              <a:buFont typeface="Wingdings" pitchFamily="2" charset="2"/>
              <a:buChar char="§"/>
            </a:pPr>
            <a:r>
              <a:rPr lang="en-US" dirty="0">
                <a:solidFill>
                  <a:schemeClr val="tx1"/>
                </a:solidFill>
                <a:latin typeface="Liberation Sans"/>
              </a:rPr>
              <a:t>Identify opportunities for new technology</a:t>
            </a:r>
          </a:p>
          <a:p>
            <a:pPr lvl="1">
              <a:lnSpc>
                <a:spcPct val="90000"/>
              </a:lnSpc>
              <a:spcBef>
                <a:spcPts val="900"/>
              </a:spcBef>
              <a:buFont typeface="Wingdings" pitchFamily="2" charset="2"/>
              <a:buChar char="§"/>
            </a:pPr>
            <a:r>
              <a:rPr lang="en-US" dirty="0">
                <a:solidFill>
                  <a:schemeClr val="tx1"/>
                </a:solidFill>
                <a:latin typeface="Liberation Sans"/>
              </a:rPr>
              <a:t>Determine design requirements</a:t>
            </a:r>
          </a:p>
          <a:p>
            <a:pPr lvl="1">
              <a:lnSpc>
                <a:spcPct val="90000"/>
              </a:lnSpc>
              <a:spcBef>
                <a:spcPts val="900"/>
              </a:spcBef>
              <a:buFont typeface="Wingdings" pitchFamily="2" charset="2"/>
              <a:buChar char="§"/>
            </a:pPr>
            <a:r>
              <a:rPr lang="en-US" dirty="0">
                <a:solidFill>
                  <a:schemeClr val="tx1"/>
                </a:solidFill>
                <a:latin typeface="Liberation Sans"/>
              </a:rPr>
              <a:t>Decide how best to introduce new technology</a:t>
            </a:r>
          </a:p>
          <a:p>
            <a:pPr lvl="1">
              <a:lnSpc>
                <a:spcPct val="90000"/>
              </a:lnSpc>
              <a:spcBef>
                <a:spcPts val="900"/>
              </a:spcBef>
              <a:buFont typeface="Wingdings" pitchFamily="2" charset="2"/>
              <a:buChar char="§"/>
            </a:pPr>
            <a:r>
              <a:rPr lang="en-US" dirty="0">
                <a:solidFill>
                  <a:schemeClr val="tx1"/>
                </a:solidFill>
                <a:latin typeface="Liberation Sans"/>
              </a:rPr>
              <a:t>Evaluate technology in use</a:t>
            </a:r>
          </a:p>
          <a:p>
            <a:pPr marL="457200" lvl="1" indent="0">
              <a:lnSpc>
                <a:spcPct val="90000"/>
              </a:lnSpc>
              <a:spcBef>
                <a:spcPts val="900"/>
              </a:spcBef>
              <a:buNone/>
            </a:pPr>
            <a:endParaRPr lang="en-US" sz="3200" dirty="0">
              <a:latin typeface="Liberation Sans"/>
            </a:endParaRP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22</a:t>
            </a:fld>
            <a:endParaRPr lang="en-GB" dirty="0"/>
          </a:p>
        </p:txBody>
      </p:sp>
    </p:spTree>
    <p:extLst>
      <p:ext uri="{BB962C8B-B14F-4D97-AF65-F5344CB8AC3E}">
        <p14:creationId xmlns:p14="http://schemas.microsoft.com/office/powerpoint/2010/main" val="469092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idx="4294967295"/>
          </p:nvPr>
        </p:nvSpPr>
        <p:spPr>
          <a:xfrm>
            <a:off x="899592" y="260648"/>
            <a:ext cx="7344816" cy="1143000"/>
          </a:xfrm>
        </p:spPr>
        <p:txBody>
          <a:bodyPr>
            <a:normAutofit fontScale="90000"/>
          </a:bodyPr>
          <a:lstStyle/>
          <a:p>
            <a:pPr eaLnBrk="1" hangingPunct="1"/>
            <a:r>
              <a:rPr lang="en-US" dirty="0">
                <a:latin typeface="Liberation Sans"/>
              </a:rPr>
              <a:t>An in-the-wild study of a pain-monitoring device</a:t>
            </a:r>
          </a:p>
        </p:txBody>
      </p:sp>
      <p:sp>
        <p:nvSpPr>
          <p:cNvPr id="45061" name="Rectangle 3"/>
          <p:cNvSpPr>
            <a:spLocks noGrp="1" noChangeArrowheads="1"/>
          </p:cNvSpPr>
          <p:nvPr>
            <p:ph type="body" idx="4294967295"/>
          </p:nvPr>
        </p:nvSpPr>
        <p:spPr>
          <a:xfrm>
            <a:off x="457200" y="1700808"/>
            <a:ext cx="8382000" cy="4536504"/>
          </a:xfrm>
        </p:spPr>
        <p:txBody>
          <a:bodyPr>
            <a:normAutofit fontScale="92500"/>
          </a:bodyPr>
          <a:lstStyle/>
          <a:p>
            <a:pPr eaLnBrk="1" hangingPunct="1">
              <a:lnSpc>
                <a:spcPct val="90000"/>
              </a:lnSpc>
            </a:pPr>
            <a:r>
              <a:rPr lang="en-US" sz="2800" dirty="0">
                <a:latin typeface="Liberation Sans"/>
              </a:rPr>
              <a:t>Monitoring patients’ pain is a known challenge for physicians</a:t>
            </a:r>
          </a:p>
          <a:p>
            <a:pPr eaLnBrk="1" hangingPunct="1">
              <a:lnSpc>
                <a:spcPct val="90000"/>
              </a:lnSpc>
              <a:spcBef>
                <a:spcPts val="800"/>
              </a:spcBef>
            </a:pPr>
            <a:r>
              <a:rPr lang="en-US" sz="2800" dirty="0">
                <a:latin typeface="Liberation Sans"/>
              </a:rPr>
              <a:t>Goal of the study was to evaluate the use of a pain-monitoring device for use after ambulatory surgery</a:t>
            </a:r>
          </a:p>
          <a:p>
            <a:pPr>
              <a:lnSpc>
                <a:spcPct val="90000"/>
              </a:lnSpc>
              <a:spcBef>
                <a:spcPts val="800"/>
              </a:spcBef>
            </a:pPr>
            <a:r>
              <a:rPr lang="en-US" sz="2800" dirty="0">
                <a:latin typeface="Liberation Sans"/>
              </a:rPr>
              <a:t>Painpad is a keypad device </a:t>
            </a:r>
          </a:p>
          <a:p>
            <a:pPr eaLnBrk="1" hangingPunct="1">
              <a:lnSpc>
                <a:spcPct val="90000"/>
              </a:lnSpc>
              <a:spcBef>
                <a:spcPts val="800"/>
              </a:spcBef>
            </a:pPr>
            <a:r>
              <a:rPr lang="en-US" sz="2800" dirty="0">
                <a:latin typeface="Liberation Sans"/>
              </a:rPr>
              <a:t>It was usability tested extensively in the lab before being brought into two hospitals</a:t>
            </a:r>
          </a:p>
          <a:p>
            <a:pPr>
              <a:lnSpc>
                <a:spcPct val="90000"/>
              </a:lnSpc>
              <a:spcBef>
                <a:spcPts val="800"/>
              </a:spcBef>
            </a:pPr>
            <a:r>
              <a:rPr lang="en-US" sz="2800" dirty="0">
                <a:latin typeface="Liberation Sans"/>
              </a:rPr>
              <a:t>Goal was to understand how Painpad was used in the natural environment and as part of routines in two UK hospitals.</a:t>
            </a:r>
          </a:p>
          <a:p>
            <a:pPr>
              <a:lnSpc>
                <a:spcPct val="90000"/>
              </a:lnSpc>
              <a:spcBef>
                <a:spcPts val="800"/>
              </a:spcBef>
            </a:pPr>
            <a:r>
              <a:rPr lang="en-US" sz="2800" dirty="0">
                <a:latin typeface="Liberation Sans"/>
              </a:rPr>
              <a:t>How pain-monitoring changed with </a:t>
            </a:r>
            <a:r>
              <a:rPr lang="en-US" sz="2800" dirty="0" err="1">
                <a:latin typeface="Liberation Sans"/>
              </a:rPr>
              <a:t>Painpad</a:t>
            </a:r>
            <a:endParaRPr lang="en-US" sz="2400" dirty="0">
              <a:latin typeface="Liberation Sans"/>
            </a:endParaRPr>
          </a:p>
          <a:p>
            <a:pPr eaLnBrk="1" hangingPunct="1">
              <a:lnSpc>
                <a:spcPct val="90000"/>
              </a:lnSpc>
            </a:pPr>
            <a:endParaRPr lang="en-US" sz="2400" dirty="0">
              <a:latin typeface="Liberation Sans"/>
            </a:endParaRP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23</a:t>
            </a:fld>
            <a:endParaRPr lang="en-GB" dirty="0"/>
          </a:p>
        </p:txBody>
      </p:sp>
    </p:spTree>
    <p:extLst>
      <p:ext uri="{BB962C8B-B14F-4D97-AF65-F5344CB8AC3E}">
        <p14:creationId xmlns:p14="http://schemas.microsoft.com/office/powerpoint/2010/main" val="663545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Title 1"/>
          <p:cNvSpPr>
            <a:spLocks noGrp="1"/>
          </p:cNvSpPr>
          <p:nvPr>
            <p:ph type="title" idx="4294967295"/>
          </p:nvPr>
        </p:nvSpPr>
        <p:spPr/>
        <p:txBody>
          <a:bodyPr>
            <a:normAutofit/>
          </a:bodyPr>
          <a:lstStyle/>
          <a:p>
            <a:r>
              <a:rPr lang="en-US" dirty="0">
                <a:latin typeface="Liberation Sans"/>
              </a:rPr>
              <a:t>Painpad</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24</a:t>
            </a:fld>
            <a:endParaRPr lang="en-GB" dirty="0"/>
          </a:p>
        </p:txBody>
      </p:sp>
      <p:pic>
        <p:nvPicPr>
          <p:cNvPr id="7" name="Picture 6" descr="Photo depicts Painpad, a tangible device for inpatient self-logging of pain.">
            <a:extLst>
              <a:ext uri="{FF2B5EF4-FFF2-40B4-BE49-F238E27FC236}">
                <a16:creationId xmlns:a16="http://schemas.microsoft.com/office/drawing/2014/main" id="{6BBDCC09-8995-1B4F-BFCD-42E3C152D9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2732" y="1417638"/>
            <a:ext cx="3934022" cy="3967081"/>
          </a:xfrm>
          <a:prstGeom prst="rect">
            <a:avLst/>
          </a:prstGeom>
        </p:spPr>
      </p:pic>
      <p:sp>
        <p:nvSpPr>
          <p:cNvPr id="8" name="TextBox 7">
            <a:extLst>
              <a:ext uri="{FF2B5EF4-FFF2-40B4-BE49-F238E27FC236}">
                <a16:creationId xmlns:a16="http://schemas.microsoft.com/office/drawing/2014/main" id="{C7623027-42E4-2746-AA17-11AEFADD5746}"/>
              </a:ext>
            </a:extLst>
          </p:cNvPr>
          <p:cNvSpPr txBox="1"/>
          <p:nvPr/>
        </p:nvSpPr>
        <p:spPr>
          <a:xfrm>
            <a:off x="1386095" y="5448194"/>
            <a:ext cx="6371809" cy="461665"/>
          </a:xfrm>
          <a:prstGeom prst="rect">
            <a:avLst/>
          </a:prstGeom>
          <a:noFill/>
        </p:spPr>
        <p:txBody>
          <a:bodyPr wrap="none" rtlCol="0">
            <a:spAutoFit/>
          </a:bodyPr>
          <a:lstStyle/>
          <a:p>
            <a:r>
              <a:rPr lang="en-US" sz="2400" dirty="0"/>
              <a:t>A tangible device for inpatient self-logging of pain</a:t>
            </a:r>
          </a:p>
        </p:txBody>
      </p:sp>
      <p:sp>
        <p:nvSpPr>
          <p:cNvPr id="5" name="TextBox 4">
            <a:extLst>
              <a:ext uri="{FF2B5EF4-FFF2-40B4-BE49-F238E27FC236}">
                <a16:creationId xmlns:a16="http://schemas.microsoft.com/office/drawing/2014/main" id="{CE9C6608-985A-0D4C-A9DE-75C2B3B0883B}"/>
              </a:ext>
            </a:extLst>
          </p:cNvPr>
          <p:cNvSpPr txBox="1"/>
          <p:nvPr/>
        </p:nvSpPr>
        <p:spPr>
          <a:xfrm>
            <a:off x="931372" y="5973334"/>
            <a:ext cx="7296741" cy="369332"/>
          </a:xfrm>
          <a:prstGeom prst="rect">
            <a:avLst/>
          </a:prstGeom>
          <a:noFill/>
        </p:spPr>
        <p:txBody>
          <a:bodyPr wrap="none" rtlCol="0">
            <a:spAutoFit/>
          </a:bodyPr>
          <a:lstStyle/>
          <a:p>
            <a:r>
              <a:rPr lang="en-US" dirty="0"/>
              <a:t>Source: Price et al., 2018. Reproduced with permission of </a:t>
            </a:r>
            <a:r>
              <a:rPr lang="en-US" dirty="0">
                <a:hlinkClick r:id="rId3"/>
              </a:rPr>
              <a:t>ACM Publications</a:t>
            </a:r>
            <a:r>
              <a:rPr lang="en-US" dirty="0"/>
              <a:t>.</a:t>
            </a:r>
          </a:p>
        </p:txBody>
      </p:sp>
    </p:spTree>
    <p:extLst>
      <p:ext uri="{BB962C8B-B14F-4D97-AF65-F5344CB8AC3E}">
        <p14:creationId xmlns:p14="http://schemas.microsoft.com/office/powerpoint/2010/main" val="4013900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idx="4294967295"/>
          </p:nvPr>
        </p:nvSpPr>
        <p:spPr>
          <a:xfrm>
            <a:off x="457200" y="274638"/>
            <a:ext cx="8229600" cy="893812"/>
          </a:xfrm>
        </p:spPr>
        <p:txBody>
          <a:bodyPr/>
          <a:lstStyle/>
          <a:p>
            <a:pPr eaLnBrk="1" hangingPunct="1"/>
            <a:r>
              <a:rPr lang="en-US" dirty="0">
                <a:latin typeface="Liberation Sans"/>
              </a:rPr>
              <a:t>Data collection and participants</a:t>
            </a:r>
          </a:p>
        </p:txBody>
      </p:sp>
      <p:sp>
        <p:nvSpPr>
          <p:cNvPr id="47109" name="Rectangle 3"/>
          <p:cNvSpPr>
            <a:spLocks noGrp="1" noChangeArrowheads="1"/>
          </p:cNvSpPr>
          <p:nvPr>
            <p:ph type="body" idx="4294967295"/>
          </p:nvPr>
        </p:nvSpPr>
        <p:spPr>
          <a:xfrm>
            <a:off x="457200" y="1340768"/>
            <a:ext cx="8229600" cy="4752528"/>
          </a:xfrm>
        </p:spPr>
        <p:txBody>
          <a:bodyPr>
            <a:normAutofit fontScale="55000" lnSpcReduction="20000"/>
          </a:bodyPr>
          <a:lstStyle/>
          <a:p>
            <a:pPr eaLnBrk="1" hangingPunct="1">
              <a:lnSpc>
                <a:spcPct val="120000"/>
              </a:lnSpc>
            </a:pPr>
            <a:r>
              <a:rPr lang="en-US" sz="3800" dirty="0">
                <a:latin typeface="Liberation Sans"/>
              </a:rPr>
              <a:t>Two studies in two hospitals involving 54 people </a:t>
            </a:r>
          </a:p>
          <a:p>
            <a:pPr eaLnBrk="1" hangingPunct="1">
              <a:lnSpc>
                <a:spcPct val="120000"/>
              </a:lnSpc>
              <a:spcBef>
                <a:spcPts val="600"/>
              </a:spcBef>
            </a:pPr>
            <a:r>
              <a:rPr lang="en-US" sz="3800" dirty="0">
                <a:latin typeface="Liberation Sans"/>
              </a:rPr>
              <a:t>13 males, 41 females</a:t>
            </a:r>
          </a:p>
          <a:p>
            <a:pPr eaLnBrk="1" hangingPunct="1">
              <a:lnSpc>
                <a:spcPct val="120000"/>
              </a:lnSpc>
              <a:spcBef>
                <a:spcPts val="600"/>
              </a:spcBef>
            </a:pPr>
            <a:r>
              <a:rPr lang="en-US" sz="3800" dirty="0">
                <a:latin typeface="Liberation Sans"/>
              </a:rPr>
              <a:t>Privacy was an important concern</a:t>
            </a:r>
          </a:p>
          <a:p>
            <a:pPr eaLnBrk="1" hangingPunct="1">
              <a:lnSpc>
                <a:spcPct val="120000"/>
              </a:lnSpc>
              <a:spcBef>
                <a:spcPts val="600"/>
              </a:spcBef>
            </a:pPr>
            <a:r>
              <a:rPr lang="en-US" sz="3800" dirty="0">
                <a:latin typeface="Liberation Sans"/>
              </a:rPr>
              <a:t>Hospital stay ranged from 1-7 days, mean and median age 64.6, 64.5 years</a:t>
            </a:r>
          </a:p>
          <a:p>
            <a:pPr eaLnBrk="1" hangingPunct="1">
              <a:lnSpc>
                <a:spcPct val="120000"/>
              </a:lnSpc>
              <a:spcBef>
                <a:spcPts val="600"/>
              </a:spcBef>
            </a:pPr>
            <a:r>
              <a:rPr lang="en-US" sz="3800" dirty="0">
                <a:latin typeface="Liberation Sans"/>
              </a:rPr>
              <a:t>Patients given Painpad after surgery and prompted to report pain levels every two hours</a:t>
            </a:r>
          </a:p>
          <a:p>
            <a:pPr eaLnBrk="1" hangingPunct="1">
              <a:lnSpc>
                <a:spcPct val="120000"/>
              </a:lnSpc>
              <a:spcBef>
                <a:spcPts val="600"/>
              </a:spcBef>
            </a:pPr>
            <a:r>
              <a:rPr lang="en-US" sz="3800" dirty="0">
                <a:latin typeface="Liberation Sans"/>
              </a:rPr>
              <a:t>Nurses also collected scores</a:t>
            </a:r>
          </a:p>
          <a:p>
            <a:pPr eaLnBrk="1" hangingPunct="1">
              <a:lnSpc>
                <a:spcPct val="120000"/>
              </a:lnSpc>
              <a:spcBef>
                <a:spcPts val="600"/>
              </a:spcBef>
            </a:pPr>
            <a:r>
              <a:rPr lang="en-US" sz="3800" dirty="0">
                <a:latin typeface="Liberation Sans"/>
              </a:rPr>
              <a:t>All data entered into charts</a:t>
            </a:r>
          </a:p>
          <a:p>
            <a:pPr eaLnBrk="1" hangingPunct="1">
              <a:lnSpc>
                <a:spcPct val="120000"/>
              </a:lnSpc>
              <a:spcBef>
                <a:spcPts val="600"/>
              </a:spcBef>
            </a:pPr>
            <a:r>
              <a:rPr lang="en-US" sz="3800" dirty="0">
                <a:latin typeface="Liberation Sans"/>
              </a:rPr>
              <a:t>Patients in one hospital were given a user-satisfaction survey when they left</a:t>
            </a:r>
          </a:p>
          <a:p>
            <a:pPr eaLnBrk="1" hangingPunct="1">
              <a:lnSpc>
                <a:spcPct val="120000"/>
              </a:lnSpc>
              <a:spcBef>
                <a:spcPts val="600"/>
              </a:spcBef>
            </a:pPr>
            <a:r>
              <a:rPr lang="en-US" sz="3800" dirty="0">
                <a:latin typeface="Liberation Sans"/>
              </a:rPr>
              <a:t>Also rated Painpad on a 1-5 Likert scale</a:t>
            </a:r>
          </a:p>
          <a:p>
            <a:pPr lvl="1" eaLnBrk="1" hangingPunct="1">
              <a:lnSpc>
                <a:spcPct val="120000"/>
              </a:lnSpc>
            </a:pPr>
            <a:endParaRPr lang="en-US" sz="600" dirty="0">
              <a:solidFill>
                <a:schemeClr val="tx1"/>
              </a:solidFill>
              <a:latin typeface="Liberation Sans"/>
              <a:ea typeface="ＭＳ Ｐゴシック" charset="0"/>
            </a:endParaRP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25</a:t>
            </a:fld>
            <a:endParaRPr lang="en-GB" dirty="0"/>
          </a:p>
        </p:txBody>
      </p:sp>
    </p:spTree>
    <p:extLst>
      <p:ext uri="{BB962C8B-B14F-4D97-AF65-F5344CB8AC3E}">
        <p14:creationId xmlns:p14="http://schemas.microsoft.com/office/powerpoint/2010/main" val="14432761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itle 1"/>
          <p:cNvSpPr>
            <a:spLocks noGrp="1"/>
          </p:cNvSpPr>
          <p:nvPr>
            <p:ph type="title" idx="4294967295"/>
          </p:nvPr>
        </p:nvSpPr>
        <p:spPr/>
        <p:txBody>
          <a:bodyPr/>
          <a:lstStyle/>
          <a:p>
            <a:pPr eaLnBrk="1" hangingPunct="1"/>
            <a:r>
              <a:rPr lang="en-US" dirty="0">
                <a:latin typeface="Liberation Sans"/>
              </a:rPr>
              <a:t>Data analysis and presentation</a:t>
            </a:r>
          </a:p>
        </p:txBody>
      </p:sp>
      <p:sp>
        <p:nvSpPr>
          <p:cNvPr id="49157" name="Content Placeholder 2"/>
          <p:cNvSpPr>
            <a:spLocks noGrp="1"/>
          </p:cNvSpPr>
          <p:nvPr>
            <p:ph idx="4294967295"/>
          </p:nvPr>
        </p:nvSpPr>
        <p:spPr/>
        <p:txBody>
          <a:bodyPr>
            <a:normAutofit fontScale="85000" lnSpcReduction="20000"/>
          </a:bodyPr>
          <a:lstStyle/>
          <a:p>
            <a:pPr eaLnBrk="1" hangingPunct="1"/>
            <a:r>
              <a:rPr lang="en-US" dirty="0">
                <a:latin typeface="Liberation Sans"/>
              </a:rPr>
              <a:t>Three types of data were collected: </a:t>
            </a:r>
            <a:endParaRPr lang="en-US" sz="800" dirty="0">
              <a:latin typeface="Liberation Sans"/>
            </a:endParaRPr>
          </a:p>
          <a:p>
            <a:pPr lvl="1">
              <a:spcBef>
                <a:spcPts val="900"/>
              </a:spcBef>
              <a:buFont typeface="Wingdings" pitchFamily="2" charset="2"/>
              <a:buChar char="§"/>
            </a:pPr>
            <a:r>
              <a:rPr lang="en-US" dirty="0">
                <a:solidFill>
                  <a:schemeClr val="tx1"/>
                </a:solidFill>
                <a:latin typeface="Liberation Sans"/>
              </a:rPr>
              <a:t>Satisfaction with Painpad was based on questionnaire responses</a:t>
            </a:r>
          </a:p>
          <a:p>
            <a:pPr lvl="1">
              <a:spcBef>
                <a:spcPts val="900"/>
              </a:spcBef>
              <a:buFont typeface="Wingdings" pitchFamily="2" charset="2"/>
              <a:buChar char="§"/>
            </a:pPr>
            <a:r>
              <a:rPr lang="en-US" dirty="0">
                <a:solidFill>
                  <a:schemeClr val="tx1"/>
                </a:solidFill>
                <a:latin typeface="Liberation Sans"/>
              </a:rPr>
              <a:t>Patients’ compliance with the two-hour routine</a:t>
            </a:r>
          </a:p>
          <a:p>
            <a:pPr lvl="1">
              <a:spcBef>
                <a:spcPts val="900"/>
              </a:spcBef>
              <a:buFont typeface="Wingdings" pitchFamily="2" charset="2"/>
              <a:buChar char="§"/>
            </a:pPr>
            <a:r>
              <a:rPr lang="en-US" dirty="0">
                <a:solidFill>
                  <a:schemeClr val="tx1"/>
                </a:solidFill>
                <a:latin typeface="Liberation Sans"/>
              </a:rPr>
              <a:t>How data collected from Painpad compared with data collected by nurses</a:t>
            </a:r>
          </a:p>
          <a:p>
            <a:pPr>
              <a:spcBef>
                <a:spcPts val="1200"/>
              </a:spcBef>
            </a:pPr>
            <a:r>
              <a:rPr lang="en-US" dirty="0">
                <a:latin typeface="Liberation Sans"/>
              </a:rPr>
              <a:t>Data showed: </a:t>
            </a:r>
          </a:p>
          <a:p>
            <a:pPr lvl="1">
              <a:spcBef>
                <a:spcPts val="900"/>
              </a:spcBef>
              <a:buFont typeface="Wingdings" pitchFamily="2" charset="2"/>
              <a:buChar char="§"/>
            </a:pPr>
            <a:r>
              <a:rPr lang="en-US" dirty="0">
                <a:solidFill>
                  <a:schemeClr val="tx1"/>
                </a:solidFill>
                <a:latin typeface="Liberation Sans"/>
              </a:rPr>
              <a:t>Satisfaction with Painpad 4.63 on Likert scale</a:t>
            </a:r>
          </a:p>
          <a:p>
            <a:pPr lvl="1">
              <a:spcBef>
                <a:spcPts val="900"/>
              </a:spcBef>
              <a:buFont typeface="Wingdings" pitchFamily="2" charset="2"/>
              <a:buChar char="§"/>
            </a:pPr>
            <a:r>
              <a:rPr lang="en-US" dirty="0">
                <a:solidFill>
                  <a:schemeClr val="tx1"/>
                </a:solidFill>
                <a:latin typeface="Liberation Sans"/>
              </a:rPr>
              <a:t>Patients’ compliance was mixed: some liked it while others disliked or didn’t notice the prompts</a:t>
            </a:r>
          </a:p>
          <a:p>
            <a:pPr lvl="1">
              <a:spcBef>
                <a:spcPts val="900"/>
              </a:spcBef>
              <a:buFont typeface="Wingdings" pitchFamily="2" charset="2"/>
              <a:buChar char="§"/>
            </a:pPr>
            <a:r>
              <a:rPr lang="en-US" dirty="0">
                <a:solidFill>
                  <a:schemeClr val="tx1"/>
                </a:solidFill>
                <a:latin typeface="Liberation Sans"/>
              </a:rPr>
              <a:t>Patients recorded more scores with Painpad than through the nurses</a:t>
            </a:r>
            <a:endParaRPr lang="en-US" sz="800" dirty="0">
              <a:solidFill>
                <a:schemeClr val="tx1"/>
              </a:solidFill>
              <a:latin typeface="Liberation Sans"/>
            </a:endParaRPr>
          </a:p>
          <a:p>
            <a:pPr eaLnBrk="1" hangingPunct="1"/>
            <a:endParaRPr lang="en-US" dirty="0">
              <a:latin typeface="Liberation Sans"/>
            </a:endParaRP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26</a:t>
            </a:fld>
            <a:endParaRPr lang="en-GB" dirty="0"/>
          </a:p>
        </p:txBody>
      </p:sp>
    </p:spTree>
    <p:extLst>
      <p:ext uri="{BB962C8B-B14F-4D97-AF65-F5344CB8AC3E}">
        <p14:creationId xmlns:p14="http://schemas.microsoft.com/office/powerpoint/2010/main" val="275450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idx="4294967295"/>
          </p:nvPr>
        </p:nvSpPr>
        <p:spPr>
          <a:xfrm>
            <a:off x="611560" y="188640"/>
            <a:ext cx="7772400" cy="609600"/>
          </a:xfrm>
        </p:spPr>
        <p:txBody>
          <a:bodyPr>
            <a:normAutofit fontScale="90000"/>
          </a:bodyPr>
          <a:lstStyle/>
          <a:p>
            <a:pPr eaLnBrk="1" hangingPunct="1"/>
            <a:r>
              <a:rPr lang="en-US" dirty="0">
                <a:latin typeface="Liberation Sans"/>
              </a:rPr>
              <a:t>Long-term studies</a:t>
            </a:r>
          </a:p>
        </p:txBody>
      </p:sp>
      <p:sp>
        <p:nvSpPr>
          <p:cNvPr id="51205" name="Rectangle 3"/>
          <p:cNvSpPr>
            <a:spLocks noGrp="1" noChangeArrowheads="1"/>
          </p:cNvSpPr>
          <p:nvPr>
            <p:ph type="body" idx="4294967295"/>
          </p:nvPr>
        </p:nvSpPr>
        <p:spPr>
          <a:xfrm>
            <a:off x="230560" y="1047412"/>
            <a:ext cx="8534400" cy="5616624"/>
          </a:xfrm>
        </p:spPr>
        <p:txBody>
          <a:bodyPr>
            <a:noAutofit/>
          </a:bodyPr>
          <a:lstStyle/>
          <a:p>
            <a:pPr>
              <a:spcBef>
                <a:spcPts val="1200"/>
              </a:spcBef>
            </a:pPr>
            <a:r>
              <a:rPr lang="en-US" sz="2600" dirty="0">
                <a:latin typeface="Liberation Sans"/>
              </a:rPr>
              <a:t>Some studies involve leaving designs with participants for extended periods so that participants have time to get to know how to use a product in their own setting</a:t>
            </a:r>
          </a:p>
          <a:p>
            <a:pPr>
              <a:spcBef>
                <a:spcPts val="1200"/>
              </a:spcBef>
            </a:pPr>
            <a:r>
              <a:rPr lang="en-US" sz="2600" dirty="0">
                <a:latin typeface="Liberation Sans"/>
              </a:rPr>
              <a:t>Typically these are complex technical products that take time to learn, such as visualization tools</a:t>
            </a:r>
          </a:p>
          <a:p>
            <a:pPr>
              <a:spcBef>
                <a:spcPts val="1200"/>
              </a:spcBef>
            </a:pPr>
            <a:r>
              <a:rPr lang="en-US" sz="2600" dirty="0">
                <a:latin typeface="Liberation Sans"/>
              </a:rPr>
              <a:t>These evaluations often start with an interview and then the product is left with the participant for 2-4 weeks</a:t>
            </a:r>
          </a:p>
          <a:p>
            <a:pPr>
              <a:spcBef>
                <a:spcPts val="1200"/>
              </a:spcBef>
            </a:pPr>
            <a:r>
              <a:rPr lang="en-US" sz="2600" dirty="0">
                <a:latin typeface="Liberation Sans"/>
              </a:rPr>
              <a:t>Data is then collected, often consisting of: structured interviews, daily use diaries, automatic logging of usage</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27</a:t>
            </a:fld>
            <a:endParaRPr lang="en-GB" dirty="0"/>
          </a:p>
        </p:txBody>
      </p:sp>
    </p:spTree>
    <p:extLst>
      <p:ext uri="{BB962C8B-B14F-4D97-AF65-F5344CB8AC3E}">
        <p14:creationId xmlns:p14="http://schemas.microsoft.com/office/powerpoint/2010/main" val="146263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idx="4294967295"/>
          </p:nvPr>
        </p:nvSpPr>
        <p:spPr>
          <a:xfrm>
            <a:off x="974812" y="312395"/>
            <a:ext cx="7194376" cy="1143000"/>
          </a:xfrm>
        </p:spPr>
        <p:txBody>
          <a:bodyPr>
            <a:normAutofit fontScale="90000"/>
          </a:bodyPr>
          <a:lstStyle/>
          <a:p>
            <a:pPr eaLnBrk="1" hangingPunct="1"/>
            <a:r>
              <a:rPr lang="en-US" dirty="0">
                <a:latin typeface="Liberation Sans"/>
              </a:rPr>
              <a:t>How many participants is enough for user testing?</a:t>
            </a:r>
          </a:p>
        </p:txBody>
      </p:sp>
      <p:sp>
        <p:nvSpPr>
          <p:cNvPr id="35845" name="Rectangle 3"/>
          <p:cNvSpPr>
            <a:spLocks noGrp="1" noChangeArrowheads="1"/>
          </p:cNvSpPr>
          <p:nvPr>
            <p:ph type="body" idx="4294967295"/>
          </p:nvPr>
        </p:nvSpPr>
        <p:spPr>
          <a:xfrm>
            <a:off x="457200" y="1752600"/>
            <a:ext cx="8305800" cy="4648200"/>
          </a:xfrm>
        </p:spPr>
        <p:txBody>
          <a:bodyPr>
            <a:normAutofit fontScale="92500" lnSpcReduction="20000"/>
          </a:bodyPr>
          <a:lstStyle/>
          <a:p>
            <a:pPr eaLnBrk="1" hangingPunct="1">
              <a:lnSpc>
                <a:spcPct val="90000"/>
              </a:lnSpc>
            </a:pPr>
            <a:r>
              <a:rPr lang="en-US" dirty="0">
                <a:latin typeface="Liberation Sans"/>
              </a:rPr>
              <a:t>The number is a practical issue</a:t>
            </a:r>
          </a:p>
          <a:p>
            <a:pPr eaLnBrk="1" hangingPunct="1">
              <a:lnSpc>
                <a:spcPct val="90000"/>
              </a:lnSpc>
              <a:spcBef>
                <a:spcPts val="1500"/>
              </a:spcBef>
            </a:pPr>
            <a:r>
              <a:rPr lang="en-US" dirty="0">
                <a:latin typeface="Liberation Sans"/>
              </a:rPr>
              <a:t>Depends on:</a:t>
            </a:r>
            <a:endParaRPr lang="en-US" sz="600" dirty="0">
              <a:latin typeface="Liberation Sans"/>
            </a:endParaRPr>
          </a:p>
          <a:p>
            <a:pPr lvl="1" eaLnBrk="1" hangingPunct="1">
              <a:lnSpc>
                <a:spcPct val="90000"/>
              </a:lnSpc>
              <a:spcBef>
                <a:spcPts val="1200"/>
              </a:spcBef>
              <a:buFont typeface="Wingdings" pitchFamily="2" charset="2"/>
              <a:buChar char="§"/>
            </a:pPr>
            <a:r>
              <a:rPr lang="en-US" dirty="0">
                <a:solidFill>
                  <a:schemeClr val="tx1"/>
                </a:solidFill>
                <a:latin typeface="Liberation Sans"/>
                <a:ea typeface="ＭＳ Ｐゴシック" charset="0"/>
              </a:rPr>
              <a:t>Schedule for testing</a:t>
            </a:r>
          </a:p>
          <a:p>
            <a:pPr lvl="1" eaLnBrk="1" hangingPunct="1">
              <a:lnSpc>
                <a:spcPct val="90000"/>
              </a:lnSpc>
              <a:spcBef>
                <a:spcPts val="1200"/>
              </a:spcBef>
              <a:buFont typeface="Wingdings" pitchFamily="2" charset="2"/>
              <a:buChar char="§"/>
            </a:pPr>
            <a:r>
              <a:rPr lang="en-US" dirty="0">
                <a:solidFill>
                  <a:schemeClr val="tx1"/>
                </a:solidFill>
                <a:latin typeface="Liberation Sans"/>
                <a:ea typeface="ＭＳ Ｐゴシック" charset="0"/>
              </a:rPr>
              <a:t>Availability of participants</a:t>
            </a:r>
          </a:p>
          <a:p>
            <a:pPr lvl="1" eaLnBrk="1" hangingPunct="1">
              <a:lnSpc>
                <a:spcPct val="90000"/>
              </a:lnSpc>
              <a:spcBef>
                <a:spcPts val="1200"/>
              </a:spcBef>
              <a:buFont typeface="Wingdings" pitchFamily="2" charset="2"/>
              <a:buChar char="§"/>
            </a:pPr>
            <a:r>
              <a:rPr lang="en-US" dirty="0">
                <a:solidFill>
                  <a:schemeClr val="tx1"/>
                </a:solidFill>
                <a:latin typeface="Liberation Sans"/>
                <a:ea typeface="ＭＳ Ｐゴシック" charset="0"/>
              </a:rPr>
              <a:t>Cost of running tests</a:t>
            </a:r>
            <a:endParaRPr lang="en-US" sz="1100" dirty="0">
              <a:solidFill>
                <a:schemeClr val="tx1"/>
              </a:solidFill>
              <a:latin typeface="Liberation Sans"/>
              <a:ea typeface="ＭＳ Ｐゴシック" charset="0"/>
            </a:endParaRPr>
          </a:p>
          <a:p>
            <a:pPr eaLnBrk="1" hangingPunct="1">
              <a:lnSpc>
                <a:spcPct val="90000"/>
              </a:lnSpc>
              <a:spcBef>
                <a:spcPts val="1500"/>
              </a:spcBef>
            </a:pPr>
            <a:r>
              <a:rPr lang="en-US" dirty="0">
                <a:latin typeface="Liberation Sans"/>
              </a:rPr>
              <a:t>Typically 5-10 participants if possible</a:t>
            </a:r>
            <a:endParaRPr lang="en-US" sz="1000" dirty="0">
              <a:latin typeface="Liberation Sans"/>
            </a:endParaRPr>
          </a:p>
          <a:p>
            <a:pPr eaLnBrk="1" hangingPunct="1">
              <a:lnSpc>
                <a:spcPct val="90000"/>
              </a:lnSpc>
              <a:spcBef>
                <a:spcPts val="1500"/>
              </a:spcBef>
            </a:pPr>
            <a:r>
              <a:rPr lang="en-US" dirty="0">
                <a:latin typeface="Liberation Sans"/>
              </a:rPr>
              <a:t>Some experts argue that testing should continue until no new insights are gained</a:t>
            </a:r>
          </a:p>
          <a:p>
            <a:pPr eaLnBrk="1" hangingPunct="1">
              <a:lnSpc>
                <a:spcPct val="90000"/>
              </a:lnSpc>
              <a:spcBef>
                <a:spcPts val="1500"/>
              </a:spcBef>
            </a:pPr>
            <a:r>
              <a:rPr lang="en-US" dirty="0">
                <a:latin typeface="Liberation Sans"/>
              </a:rPr>
              <a:t>Others suggest that 5 participants is enough to identify any serious problems</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28</a:t>
            </a:fld>
            <a:endParaRPr lang="en-GB" dirty="0"/>
          </a:p>
        </p:txBody>
      </p:sp>
    </p:spTree>
    <p:extLst>
      <p:ext uri="{BB962C8B-B14F-4D97-AF65-F5344CB8AC3E}">
        <p14:creationId xmlns:p14="http://schemas.microsoft.com/office/powerpoint/2010/main" val="994886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idx="4294967295"/>
          </p:nvPr>
        </p:nvSpPr>
        <p:spPr>
          <a:xfrm>
            <a:off x="685800" y="304800"/>
            <a:ext cx="7772400" cy="1143000"/>
          </a:xfrm>
        </p:spPr>
        <p:txBody>
          <a:bodyPr>
            <a:normAutofit fontScale="90000"/>
          </a:bodyPr>
          <a:lstStyle/>
          <a:p>
            <a:r>
              <a:rPr lang="en-US" dirty="0">
                <a:latin typeface="Liberation Sans"/>
              </a:rPr>
              <a:t>How many participants is enough for other types of evaluation?</a:t>
            </a:r>
          </a:p>
        </p:txBody>
      </p:sp>
      <p:sp>
        <p:nvSpPr>
          <p:cNvPr id="19461" name="Rectangle 3"/>
          <p:cNvSpPr>
            <a:spLocks noGrp="1" noChangeArrowheads="1"/>
          </p:cNvSpPr>
          <p:nvPr>
            <p:ph type="body" idx="4294967295"/>
          </p:nvPr>
        </p:nvSpPr>
        <p:spPr>
          <a:xfrm>
            <a:off x="304800" y="1916832"/>
            <a:ext cx="8534400" cy="4314800"/>
          </a:xfrm>
        </p:spPr>
        <p:txBody>
          <a:bodyPr>
            <a:normAutofit fontScale="92500" lnSpcReduction="20000"/>
          </a:bodyPr>
          <a:lstStyle/>
          <a:p>
            <a:pPr eaLnBrk="1" hangingPunct="1">
              <a:lnSpc>
                <a:spcPct val="90000"/>
              </a:lnSpc>
              <a:spcBef>
                <a:spcPts val="2400"/>
              </a:spcBef>
            </a:pPr>
            <a:r>
              <a:rPr lang="en-US" dirty="0">
                <a:latin typeface="Liberation Sans"/>
              </a:rPr>
              <a:t>Experiments test hypotheses to discover new knowledge by investigating the relationship between two or more variables</a:t>
            </a:r>
          </a:p>
          <a:p>
            <a:pPr eaLnBrk="1" hangingPunct="1">
              <a:lnSpc>
                <a:spcPct val="90000"/>
              </a:lnSpc>
              <a:spcBef>
                <a:spcPts val="2400"/>
              </a:spcBef>
            </a:pPr>
            <a:r>
              <a:rPr lang="en-US" dirty="0">
                <a:latin typeface="Liberation Sans"/>
              </a:rPr>
              <a:t>The number of participants needed depends on the type of experiment being conducted</a:t>
            </a:r>
          </a:p>
          <a:p>
            <a:pPr eaLnBrk="1" hangingPunct="1">
              <a:lnSpc>
                <a:spcPct val="90000"/>
              </a:lnSpc>
              <a:spcBef>
                <a:spcPts val="2400"/>
              </a:spcBef>
            </a:pPr>
            <a:r>
              <a:rPr lang="en-US" dirty="0">
                <a:latin typeface="Liberation Sans"/>
              </a:rPr>
              <a:t>It is advisable to consult a statistician before deciding</a:t>
            </a:r>
          </a:p>
          <a:p>
            <a:pPr eaLnBrk="1" hangingPunct="1">
              <a:lnSpc>
                <a:spcPct val="90000"/>
              </a:lnSpc>
              <a:spcBef>
                <a:spcPts val="2400"/>
              </a:spcBef>
            </a:pPr>
            <a:r>
              <a:rPr lang="en-US" dirty="0">
                <a:latin typeface="Liberation Sans"/>
              </a:rPr>
              <a:t>In-the-wild studies also vary from a few people in a home to a software team to a whole community</a:t>
            </a:r>
          </a:p>
          <a:p>
            <a:pPr eaLnBrk="1" hangingPunct="1">
              <a:lnSpc>
                <a:spcPct val="90000"/>
              </a:lnSpc>
            </a:pPr>
            <a:endParaRPr lang="en-US" sz="2800" dirty="0">
              <a:latin typeface="Liberation Sans"/>
            </a:endParaRP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29</a:t>
            </a:fld>
            <a:endParaRPr lang="en-GB" dirty="0"/>
          </a:p>
        </p:txBody>
      </p:sp>
    </p:spTree>
    <p:extLst>
      <p:ext uri="{BB962C8B-B14F-4D97-AF65-F5344CB8AC3E}">
        <p14:creationId xmlns:p14="http://schemas.microsoft.com/office/powerpoint/2010/main" val="4273400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idx="4294967295"/>
          </p:nvPr>
        </p:nvSpPr>
        <p:spPr>
          <a:xfrm>
            <a:off x="457200" y="152400"/>
            <a:ext cx="8229600" cy="990600"/>
          </a:xfrm>
        </p:spPr>
        <p:txBody>
          <a:bodyPr/>
          <a:lstStyle/>
          <a:p>
            <a:pPr eaLnBrk="1" hangingPunct="1"/>
            <a:r>
              <a:rPr lang="en-US" dirty="0">
                <a:latin typeface="Liberation Sans"/>
              </a:rPr>
              <a:t>Usability testing and research</a:t>
            </a:r>
          </a:p>
        </p:txBody>
      </p:sp>
      <p:sp>
        <p:nvSpPr>
          <p:cNvPr id="21509" name="Rectangle 3"/>
          <p:cNvSpPr>
            <a:spLocks noGrp="1" noChangeArrowheads="1"/>
          </p:cNvSpPr>
          <p:nvPr>
            <p:ph type="body" sz="half" idx="4294967295"/>
          </p:nvPr>
        </p:nvSpPr>
        <p:spPr>
          <a:xfrm>
            <a:off x="457200" y="1219200"/>
            <a:ext cx="4042792" cy="4876800"/>
          </a:xfrm>
          <a:ln w="25400">
            <a:solidFill>
              <a:schemeClr val="accent6">
                <a:lumMod val="75000"/>
              </a:schemeClr>
            </a:solidFill>
            <a:miter lim="800000"/>
            <a:headEnd/>
            <a:tailEnd/>
          </a:ln>
        </p:spPr>
        <p:txBody>
          <a:bodyPr/>
          <a:lstStyle/>
          <a:p>
            <a:pPr eaLnBrk="1" hangingPunct="1">
              <a:lnSpc>
                <a:spcPct val="90000"/>
              </a:lnSpc>
              <a:buFontTx/>
              <a:buNone/>
            </a:pPr>
            <a:r>
              <a:rPr lang="en-US" sz="2400" b="1" dirty="0">
                <a:latin typeface="Liberation Sans"/>
              </a:rPr>
              <a:t>Usability Testing</a:t>
            </a:r>
            <a:endParaRPr lang="en-US" sz="2400" dirty="0">
              <a:latin typeface="Liberation Sans"/>
            </a:endParaRPr>
          </a:p>
          <a:p>
            <a:pPr eaLnBrk="1" hangingPunct="1">
              <a:lnSpc>
                <a:spcPct val="90000"/>
              </a:lnSpc>
              <a:spcBef>
                <a:spcPts val="900"/>
              </a:spcBef>
            </a:pPr>
            <a:r>
              <a:rPr lang="en-US" sz="2400" dirty="0">
                <a:latin typeface="Liberation Sans"/>
              </a:rPr>
              <a:t>Improve products</a:t>
            </a:r>
          </a:p>
          <a:p>
            <a:pPr eaLnBrk="1" hangingPunct="1">
              <a:lnSpc>
                <a:spcPct val="90000"/>
              </a:lnSpc>
              <a:spcBef>
                <a:spcPts val="1200"/>
              </a:spcBef>
            </a:pPr>
            <a:r>
              <a:rPr lang="en-US" sz="2400" dirty="0">
                <a:latin typeface="Liberation Sans"/>
              </a:rPr>
              <a:t>Few participants</a:t>
            </a:r>
          </a:p>
          <a:p>
            <a:pPr eaLnBrk="1" hangingPunct="1">
              <a:lnSpc>
                <a:spcPct val="90000"/>
              </a:lnSpc>
              <a:spcBef>
                <a:spcPts val="1200"/>
              </a:spcBef>
            </a:pPr>
            <a:r>
              <a:rPr lang="en-US" sz="2400" dirty="0">
                <a:latin typeface="Liberation Sans"/>
              </a:rPr>
              <a:t>Results inform design</a:t>
            </a:r>
          </a:p>
          <a:p>
            <a:pPr eaLnBrk="1" hangingPunct="1">
              <a:lnSpc>
                <a:spcPct val="90000"/>
              </a:lnSpc>
              <a:spcBef>
                <a:spcPts val="1200"/>
              </a:spcBef>
            </a:pPr>
            <a:r>
              <a:rPr lang="en-US" sz="2400" dirty="0">
                <a:latin typeface="Liberation Sans"/>
              </a:rPr>
              <a:t>Usually not completely replicable</a:t>
            </a:r>
          </a:p>
          <a:p>
            <a:pPr eaLnBrk="1" hangingPunct="1">
              <a:lnSpc>
                <a:spcPct val="90000"/>
              </a:lnSpc>
              <a:spcBef>
                <a:spcPts val="1200"/>
              </a:spcBef>
            </a:pPr>
            <a:r>
              <a:rPr lang="en-US" sz="2400" dirty="0">
                <a:latin typeface="Liberation Sans"/>
              </a:rPr>
              <a:t>Conditions controlled as much as possible</a:t>
            </a:r>
          </a:p>
          <a:p>
            <a:pPr eaLnBrk="1" hangingPunct="1">
              <a:lnSpc>
                <a:spcPct val="90000"/>
              </a:lnSpc>
              <a:spcBef>
                <a:spcPts val="1200"/>
              </a:spcBef>
            </a:pPr>
            <a:r>
              <a:rPr lang="en-US" sz="2400" dirty="0">
                <a:latin typeface="Liberation Sans"/>
              </a:rPr>
              <a:t>Procedure planned</a:t>
            </a:r>
          </a:p>
          <a:p>
            <a:pPr eaLnBrk="1" hangingPunct="1">
              <a:lnSpc>
                <a:spcPct val="90000"/>
              </a:lnSpc>
              <a:spcBef>
                <a:spcPts val="1200"/>
              </a:spcBef>
            </a:pPr>
            <a:r>
              <a:rPr lang="en-US" sz="2400" dirty="0">
                <a:latin typeface="Liberation Sans"/>
              </a:rPr>
              <a:t>Results reported to developers</a:t>
            </a:r>
          </a:p>
        </p:txBody>
      </p:sp>
      <p:sp>
        <p:nvSpPr>
          <p:cNvPr id="21510" name="Rectangle 4"/>
          <p:cNvSpPr>
            <a:spLocks noGrp="1" noChangeArrowheads="1"/>
          </p:cNvSpPr>
          <p:nvPr>
            <p:ph type="body" sz="half" idx="4294967295"/>
          </p:nvPr>
        </p:nvSpPr>
        <p:spPr>
          <a:xfrm>
            <a:off x="4644008" y="1219200"/>
            <a:ext cx="4042792" cy="4876800"/>
          </a:xfrm>
          <a:ln w="25400">
            <a:solidFill>
              <a:schemeClr val="accent6">
                <a:lumMod val="75000"/>
              </a:schemeClr>
            </a:solidFill>
            <a:miter lim="800000"/>
            <a:headEnd/>
            <a:tailEnd/>
          </a:ln>
        </p:spPr>
        <p:txBody>
          <a:bodyPr>
            <a:normAutofit/>
          </a:bodyPr>
          <a:lstStyle/>
          <a:p>
            <a:pPr eaLnBrk="1" hangingPunct="1">
              <a:lnSpc>
                <a:spcPct val="90000"/>
              </a:lnSpc>
              <a:buFontTx/>
              <a:buNone/>
            </a:pPr>
            <a:r>
              <a:rPr lang="en-US" sz="2400" b="1" dirty="0">
                <a:latin typeface="Liberation Sans"/>
              </a:rPr>
              <a:t>Experiments for Research</a:t>
            </a:r>
            <a:endParaRPr lang="en-US" sz="2400" dirty="0">
              <a:latin typeface="Liberation Sans"/>
            </a:endParaRPr>
          </a:p>
          <a:p>
            <a:pPr eaLnBrk="1" hangingPunct="1">
              <a:lnSpc>
                <a:spcPct val="90000"/>
              </a:lnSpc>
              <a:spcBef>
                <a:spcPts val="900"/>
              </a:spcBef>
            </a:pPr>
            <a:r>
              <a:rPr lang="en-US" sz="2400" dirty="0">
                <a:latin typeface="Liberation Sans"/>
              </a:rPr>
              <a:t>Discover knowledge</a:t>
            </a:r>
          </a:p>
          <a:p>
            <a:pPr eaLnBrk="1" hangingPunct="1">
              <a:lnSpc>
                <a:spcPct val="90000"/>
              </a:lnSpc>
              <a:spcBef>
                <a:spcPts val="1200"/>
              </a:spcBef>
            </a:pPr>
            <a:r>
              <a:rPr lang="en-US" sz="2400" dirty="0">
                <a:latin typeface="Liberation Sans"/>
              </a:rPr>
              <a:t>Often many participants</a:t>
            </a:r>
          </a:p>
          <a:p>
            <a:pPr eaLnBrk="1" hangingPunct="1">
              <a:lnSpc>
                <a:spcPct val="90000"/>
              </a:lnSpc>
              <a:spcBef>
                <a:spcPts val="1200"/>
              </a:spcBef>
            </a:pPr>
            <a:r>
              <a:rPr lang="en-US" sz="2400" dirty="0">
                <a:latin typeface="Liberation Sans"/>
              </a:rPr>
              <a:t>Results validated statistically </a:t>
            </a:r>
          </a:p>
          <a:p>
            <a:pPr eaLnBrk="1" hangingPunct="1">
              <a:lnSpc>
                <a:spcPct val="90000"/>
              </a:lnSpc>
              <a:spcBef>
                <a:spcPts val="1200"/>
              </a:spcBef>
            </a:pPr>
            <a:r>
              <a:rPr lang="en-US" sz="2400" dirty="0">
                <a:latin typeface="Liberation Sans"/>
              </a:rPr>
              <a:t>Must be replicable</a:t>
            </a:r>
          </a:p>
          <a:p>
            <a:pPr eaLnBrk="1" hangingPunct="1">
              <a:lnSpc>
                <a:spcPct val="90000"/>
              </a:lnSpc>
              <a:spcBef>
                <a:spcPts val="1200"/>
              </a:spcBef>
            </a:pPr>
            <a:r>
              <a:rPr lang="en-US" sz="2400" dirty="0">
                <a:latin typeface="Liberation Sans"/>
              </a:rPr>
              <a:t>Strongly controlled conditions</a:t>
            </a:r>
          </a:p>
          <a:p>
            <a:pPr eaLnBrk="1" hangingPunct="1">
              <a:lnSpc>
                <a:spcPct val="90000"/>
              </a:lnSpc>
              <a:spcBef>
                <a:spcPts val="1200"/>
              </a:spcBef>
            </a:pPr>
            <a:r>
              <a:rPr lang="en-US" sz="2400" dirty="0">
                <a:latin typeface="Liberation Sans"/>
              </a:rPr>
              <a:t>Experimental design</a:t>
            </a:r>
          </a:p>
          <a:p>
            <a:pPr eaLnBrk="1" hangingPunct="1">
              <a:lnSpc>
                <a:spcPct val="90000"/>
              </a:lnSpc>
              <a:spcBef>
                <a:spcPts val="1200"/>
              </a:spcBef>
            </a:pPr>
            <a:r>
              <a:rPr lang="en-US" sz="2400" dirty="0">
                <a:latin typeface="Liberation Sans"/>
              </a:rPr>
              <a:t>Scientific report to scientific community</a:t>
            </a:r>
          </a:p>
          <a:p>
            <a:pPr eaLnBrk="1" hangingPunct="1">
              <a:lnSpc>
                <a:spcPct val="90000"/>
              </a:lnSpc>
            </a:pPr>
            <a:endParaRPr lang="en-US" sz="2400" dirty="0">
              <a:latin typeface="Liberation Sans"/>
            </a:endParaRP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30</a:t>
            </a:fld>
            <a:endParaRPr lang="en-GB" dirty="0"/>
          </a:p>
        </p:txBody>
      </p:sp>
    </p:spTree>
    <p:extLst>
      <p:ext uri="{BB962C8B-B14F-4D97-AF65-F5344CB8AC3E}">
        <p14:creationId xmlns:p14="http://schemas.microsoft.com/office/powerpoint/2010/main" val="2308286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idx="4294967295"/>
          </p:nvPr>
        </p:nvSpPr>
        <p:spPr>
          <a:xfrm>
            <a:off x="611560" y="188640"/>
            <a:ext cx="7772400" cy="432048"/>
          </a:xfrm>
        </p:spPr>
        <p:txBody>
          <a:bodyPr>
            <a:normAutofit fontScale="90000"/>
          </a:bodyPr>
          <a:lstStyle/>
          <a:p>
            <a:pPr eaLnBrk="1" hangingPunct="1"/>
            <a:r>
              <a:rPr lang="en-US" dirty="0">
                <a:latin typeface="Liberation Sans"/>
              </a:rPr>
              <a:t>Summary</a:t>
            </a:r>
          </a:p>
        </p:txBody>
      </p:sp>
      <p:sp>
        <p:nvSpPr>
          <p:cNvPr id="51205" name="Rectangle 3"/>
          <p:cNvSpPr>
            <a:spLocks noGrp="1" noChangeArrowheads="1"/>
          </p:cNvSpPr>
          <p:nvPr>
            <p:ph type="body" idx="4294967295"/>
          </p:nvPr>
        </p:nvSpPr>
        <p:spPr>
          <a:xfrm>
            <a:off x="304800" y="836712"/>
            <a:ext cx="8534400" cy="5519638"/>
          </a:xfrm>
        </p:spPr>
        <p:txBody>
          <a:bodyPr>
            <a:noAutofit/>
          </a:bodyPr>
          <a:lstStyle/>
          <a:p>
            <a:r>
              <a:rPr lang="en-US" sz="2400" dirty="0">
                <a:latin typeface="Liberation Sans"/>
              </a:rPr>
              <a:t>Usability testing takes place in controlled spaces - usability labs, temporary labs</a:t>
            </a:r>
          </a:p>
          <a:p>
            <a:pPr>
              <a:spcBef>
                <a:spcPts val="1200"/>
              </a:spcBef>
            </a:pPr>
            <a:r>
              <a:rPr lang="en-US" sz="2400" dirty="0">
                <a:latin typeface="Liberation Sans"/>
              </a:rPr>
              <a:t>Usability testing focuses on performance measures - how long and how many errors are made when completing a set of predefined tasks</a:t>
            </a:r>
          </a:p>
          <a:p>
            <a:pPr>
              <a:spcBef>
                <a:spcPts val="1200"/>
              </a:spcBef>
            </a:pPr>
            <a:r>
              <a:rPr lang="en-US" sz="2400" dirty="0">
                <a:latin typeface="Liberation Sans"/>
              </a:rPr>
              <a:t>Indirect observation (video and keystroke logging), user satisfaction questionnaires, and interviews are also collected</a:t>
            </a:r>
          </a:p>
          <a:p>
            <a:pPr>
              <a:spcBef>
                <a:spcPts val="1200"/>
              </a:spcBef>
            </a:pPr>
            <a:r>
              <a:rPr lang="en-US" sz="2400" dirty="0">
                <a:latin typeface="Liberation Sans"/>
              </a:rPr>
              <a:t>Remote testing has been conducted since the early 1990s but it became important during the Covid19 pandemic</a:t>
            </a:r>
          </a:p>
          <a:p>
            <a:pPr>
              <a:spcBef>
                <a:spcPts val="1200"/>
              </a:spcBef>
            </a:pPr>
            <a:r>
              <a:rPr lang="en-US" sz="2400" dirty="0">
                <a:latin typeface="Liberation Sans"/>
              </a:rPr>
              <a:t>Remote testing uses portable equipment - video and audio recording using smart phones, mobile eye-tracking and automated keystroke logging</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a:xfrm>
            <a:off x="3124200" y="6486797"/>
            <a:ext cx="2895600" cy="365125"/>
          </a:xfrm>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31</a:t>
            </a:fld>
            <a:endParaRPr lang="en-GB" dirty="0"/>
          </a:p>
        </p:txBody>
      </p:sp>
    </p:spTree>
    <p:extLst>
      <p:ext uri="{BB962C8B-B14F-4D97-AF65-F5344CB8AC3E}">
        <p14:creationId xmlns:p14="http://schemas.microsoft.com/office/powerpoint/2010/main" val="14481858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idx="4294967295"/>
          </p:nvPr>
        </p:nvSpPr>
        <p:spPr>
          <a:xfrm>
            <a:off x="611560" y="188640"/>
            <a:ext cx="7772400" cy="609600"/>
          </a:xfrm>
        </p:spPr>
        <p:txBody>
          <a:bodyPr>
            <a:normAutofit fontScale="90000"/>
          </a:bodyPr>
          <a:lstStyle/>
          <a:p>
            <a:pPr eaLnBrk="1" hangingPunct="1"/>
            <a:r>
              <a:rPr lang="en-US" dirty="0">
                <a:latin typeface="Liberation Sans"/>
              </a:rPr>
              <a:t>Summary </a:t>
            </a:r>
            <a:r>
              <a:rPr lang="en-US" sz="3100" i="1" dirty="0">
                <a:latin typeface="Liberation Sans"/>
              </a:rPr>
              <a:t>(continued)</a:t>
            </a:r>
          </a:p>
        </p:txBody>
      </p:sp>
      <p:sp>
        <p:nvSpPr>
          <p:cNvPr id="51205" name="Rectangle 3"/>
          <p:cNvSpPr>
            <a:spLocks noGrp="1" noChangeArrowheads="1"/>
          </p:cNvSpPr>
          <p:nvPr>
            <p:ph type="body" idx="4294967295"/>
          </p:nvPr>
        </p:nvSpPr>
        <p:spPr>
          <a:xfrm>
            <a:off x="251520" y="836712"/>
            <a:ext cx="8534400" cy="5616624"/>
          </a:xfrm>
        </p:spPr>
        <p:txBody>
          <a:bodyPr>
            <a:noAutofit/>
          </a:bodyPr>
          <a:lstStyle/>
          <a:p>
            <a:pPr>
              <a:spcBef>
                <a:spcPts val="900"/>
              </a:spcBef>
            </a:pPr>
            <a:r>
              <a:rPr lang="en-US" sz="2300" dirty="0">
                <a:latin typeface="Liberation Sans"/>
              </a:rPr>
              <a:t>Long-term studies of several weeks are used to evaluate complex products that participants need time to learn and use in their own work</a:t>
            </a:r>
          </a:p>
          <a:p>
            <a:pPr>
              <a:spcBef>
                <a:spcPts val="900"/>
              </a:spcBef>
            </a:pPr>
            <a:r>
              <a:rPr lang="en-US" sz="2300" dirty="0">
                <a:latin typeface="Liberation Sans"/>
              </a:rPr>
              <a:t>Experiments test a hypothesis by manipulating certain variables while keeping others constant</a:t>
            </a:r>
          </a:p>
          <a:p>
            <a:pPr>
              <a:spcBef>
                <a:spcPts val="600"/>
              </a:spcBef>
            </a:pPr>
            <a:r>
              <a:rPr lang="en-US" sz="2300" dirty="0">
                <a:latin typeface="Liberation Sans"/>
              </a:rPr>
              <a:t>The experimenter controls independent variable(s) in order to measure changes in the dependent variable(s)</a:t>
            </a:r>
          </a:p>
          <a:p>
            <a:pPr>
              <a:spcBef>
                <a:spcPts val="600"/>
              </a:spcBef>
            </a:pPr>
            <a:r>
              <a:rPr lang="en-US" sz="2300" dirty="0">
                <a:latin typeface="Liberation Sans"/>
              </a:rPr>
              <a:t>In-the-wild studies are carried out in natural settings to discover how people interact with technology in the real world</a:t>
            </a:r>
          </a:p>
          <a:p>
            <a:pPr>
              <a:spcBef>
                <a:spcPts val="600"/>
              </a:spcBef>
            </a:pPr>
            <a:r>
              <a:rPr lang="en-US" sz="2300" dirty="0">
                <a:latin typeface="Liberation Sans"/>
              </a:rPr>
              <a:t>In-the-wild studies involve deployment of prototypes or technologies in natural settings</a:t>
            </a:r>
          </a:p>
          <a:p>
            <a:pPr>
              <a:spcBef>
                <a:spcPts val="600"/>
              </a:spcBef>
            </a:pPr>
            <a:r>
              <a:rPr lang="en-US" sz="2300" dirty="0">
                <a:latin typeface="Liberation Sans"/>
              </a:rPr>
              <a:t>Sometimes the findings of in-the-wild studies are unexpected, especially for studies that explore how novel technologies are used by participants in their own homes, places of work, or outside</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11"/>
          </p:nvPr>
        </p:nvSpPr>
        <p:spPr/>
        <p:txBody>
          <a:bodyPr/>
          <a:lstStyle/>
          <a:p>
            <a:r>
              <a:rPr lang="en-GB" dirty="0"/>
              <a:t>www.id-book.com</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A7EA2D8D-44E5-43C4-BBA1-AE3E32EF0894}" type="slidenum">
              <a:rPr lang="en-GB" smtClean="0"/>
              <a:t>32</a:t>
            </a:fld>
            <a:endParaRPr lang="en-GB" dirty="0"/>
          </a:p>
        </p:txBody>
      </p:sp>
    </p:spTree>
    <p:extLst>
      <p:ext uri="{BB962C8B-B14F-4D97-AF65-F5344CB8AC3E}">
        <p14:creationId xmlns:p14="http://schemas.microsoft.com/office/powerpoint/2010/main" val="163295042"/>
      </p:ext>
    </p:extLst>
  </p:cSld>
  <p:clrMapOvr>
    <a:masterClrMapping/>
  </p:clrMapOvr>
</p:sld>
</file>

<file path=ppt/theme/theme1.xml><?xml version="1.0" encoding="utf-8"?>
<a:theme xmlns:a="http://schemas.openxmlformats.org/drawingml/2006/main" name="Office Theme">
  <a:themeElements>
    <a:clrScheme name="Custom 9">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77A363"/>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4075258BC7634081DBF3E07F65C327" ma:contentTypeVersion="15" ma:contentTypeDescription="Create a new document." ma:contentTypeScope="" ma:versionID="cfe8fdb4317e47cebcebabe6b0fa36e1">
  <xsd:schema xmlns:xsd="http://www.w3.org/2001/XMLSchema" xmlns:xs="http://www.w3.org/2001/XMLSchema" xmlns:p="http://schemas.microsoft.com/office/2006/metadata/properties" xmlns:ns2="c96dbaf1-3300-413c-a4ca-a854d5fe7f26" xmlns:ns3="6cc947ed-c583-4373-b50d-b582b6970f8f" targetNamespace="http://schemas.microsoft.com/office/2006/metadata/properties" ma:root="true" ma:fieldsID="0c26bccc45014a537e93fb37921f0b52" ns2:_="" ns3:_="">
    <xsd:import namespace="c96dbaf1-3300-413c-a4ca-a854d5fe7f26"/>
    <xsd:import namespace="6cc947ed-c583-4373-b50d-b582b6970f8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6dbaf1-3300-413c-a4ca-a854d5fe7f2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c5930324-421d-46e1-b7d0-8ee487aa681b}" ma:internalName="TaxCatchAll" ma:showField="CatchAllData" ma:web="c96dbaf1-3300-413c-a4ca-a854d5fe7f2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cc947ed-c583-4373-b50d-b582b6970f8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7414def-154c-4d25-b3bb-ada8546948f6"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96dbaf1-3300-413c-a4ca-a854d5fe7f26" xsi:nil="true"/>
    <lcf76f155ced4ddcb4097134ff3c332f xmlns="6cc947ed-c583-4373-b50d-b582b6970f8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A23DF6E-E149-4525-AC7D-13B4A696B4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6dbaf1-3300-413c-a4ca-a854d5fe7f26"/>
    <ds:schemaRef ds:uri="6cc947ed-c583-4373-b50d-b582b6970f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842F583-5123-468C-A3E5-2E628BA22112}">
  <ds:schemaRefs>
    <ds:schemaRef ds:uri="http://schemas.microsoft.com/sharepoint/v3/contenttype/forms"/>
  </ds:schemaRefs>
</ds:datastoreItem>
</file>

<file path=customXml/itemProps3.xml><?xml version="1.0" encoding="utf-8"?>
<ds:datastoreItem xmlns:ds="http://schemas.openxmlformats.org/officeDocument/2006/customXml" ds:itemID="{7D797DE0-76DF-4E81-9223-0D27D5102A3B}">
  <ds:schemaRefs>
    <ds:schemaRef ds:uri="http://schemas.microsoft.com/office/2006/metadata/properties"/>
    <ds:schemaRef ds:uri="http://schemas.microsoft.com/office/infopath/2007/PartnerControls"/>
    <ds:schemaRef ds:uri="c96dbaf1-3300-413c-a4ca-a854d5fe7f26"/>
    <ds:schemaRef ds:uri="6cc947ed-c583-4373-b50d-b582b6970f8f"/>
  </ds:schemaRefs>
</ds:datastoreItem>
</file>

<file path=docProps/app.xml><?xml version="1.0" encoding="utf-8"?>
<Properties xmlns="http://schemas.openxmlformats.org/officeDocument/2006/extended-properties" xmlns:vt="http://schemas.openxmlformats.org/officeDocument/2006/docPropsVTypes">
  <TotalTime>17634</TotalTime>
  <Words>2033</Words>
  <Application>Microsoft Office PowerPoint</Application>
  <PresentationFormat>On-screen Show (4:3)</PresentationFormat>
  <Paragraphs>293</Paragraphs>
  <Slides>32</Slides>
  <Notes>22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32</vt:i4>
      </vt:variant>
    </vt:vector>
  </HeadingPairs>
  <TitlesOfParts>
    <vt:vector size="41" baseType="lpstr">
      <vt:lpstr>Arial</vt:lpstr>
      <vt:lpstr>Calibri</vt:lpstr>
      <vt:lpstr>Liberation Sans</vt:lpstr>
      <vt:lpstr>Times</vt:lpstr>
      <vt:lpstr>Times New Roman</vt:lpstr>
      <vt:lpstr>Wingdings</vt:lpstr>
      <vt:lpstr>Office Theme</vt:lpstr>
      <vt:lpstr>Clip</vt:lpstr>
      <vt:lpstr>Document</vt:lpstr>
      <vt:lpstr>Chapter 15  EVALUATION STUDIES:  From Controlled to Natural Settings</vt:lpstr>
      <vt:lpstr>Goals</vt:lpstr>
      <vt:lpstr>Usability testing</vt:lpstr>
      <vt:lpstr>Quantitative measures</vt:lpstr>
      <vt:lpstr>Usability lab with designers watching a user and assistant through a one-way mirror and recording</vt:lpstr>
      <vt:lpstr>Layout of a usability lab used by US Health &amp; Human Services Dept.</vt:lpstr>
      <vt:lpstr>Tobii Glasses Mobile Eye-Tracking System</vt:lpstr>
      <vt:lpstr>Equipment is getting smaller</vt:lpstr>
      <vt:lpstr>Remote testing</vt:lpstr>
      <vt:lpstr>Case 1: iPad usability  (Budiu &amp; Nielsen, 2010)</vt:lpstr>
      <vt:lpstr>iPad usability testing procedure</vt:lpstr>
      <vt:lpstr>Examples of the tasks used in the iPad evaluation</vt:lpstr>
      <vt:lpstr>Problems and actions</vt:lpstr>
      <vt:lpstr>Problems and actions (continued)</vt:lpstr>
      <vt:lpstr>Case 2: Remote testing with extended VR (XR) (Sanni Siltanen et al., 2021)</vt:lpstr>
      <vt:lpstr>A participant in a test session</vt:lpstr>
      <vt:lpstr>Screenshots from the DesignSpace VR environments</vt:lpstr>
      <vt:lpstr>Testing setup used with DesignSpace environments</vt:lpstr>
      <vt:lpstr>Experiments</vt:lpstr>
      <vt:lpstr>Experimental designs</vt:lpstr>
      <vt:lpstr>Different, same, matched participant design</vt:lpstr>
      <vt:lpstr>In-the-wild studies</vt:lpstr>
      <vt:lpstr>An in-the-wild study of a pain-monitoring device</vt:lpstr>
      <vt:lpstr>Painpad</vt:lpstr>
      <vt:lpstr>Data collection and participants</vt:lpstr>
      <vt:lpstr>Data analysis and presentation</vt:lpstr>
      <vt:lpstr>Long-term studies</vt:lpstr>
      <vt:lpstr>How many participants is enough for user testing?</vt:lpstr>
      <vt:lpstr>How many participants is enough for other types of evaluation?</vt:lpstr>
      <vt:lpstr>Usability testing and research</vt:lpstr>
      <vt:lpstr>Summary</vt:lpstr>
      <vt:lpstr>Summary (continued)</vt:lpstr>
    </vt:vector>
  </TitlesOfParts>
  <Company>John Wiley and Sons,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King, Georgia - Chichester</dc:creator>
  <cp:lastModifiedBy>Shanmugam</cp:lastModifiedBy>
  <cp:revision>119</cp:revision>
  <dcterms:created xsi:type="dcterms:W3CDTF">2015-01-06T09:40:09Z</dcterms:created>
  <dcterms:modified xsi:type="dcterms:W3CDTF">2023-02-22T11:57:06Z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0x010100EF4075258BC7634081DBF3E07F65C327</vt:lpwstr>
  </property>
</Properties>
</file>