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73" r:id="rId3"/>
    <p:sldId id="259" r:id="rId4"/>
    <p:sldId id="260" r:id="rId5"/>
    <p:sldId id="257" r:id="rId6"/>
    <p:sldId id="265" r:id="rId7"/>
    <p:sldId id="262" r:id="rId8"/>
    <p:sldId id="264" r:id="rId9"/>
    <p:sldId id="263" r:id="rId10"/>
    <p:sldId id="269" r:id="rId11"/>
    <p:sldId id="258" r:id="rId12"/>
    <p:sldId id="268" r:id="rId13"/>
    <p:sldId id="266" r:id="rId14"/>
    <p:sldId id="276" r:id="rId15"/>
    <p:sldId id="277" r:id="rId16"/>
    <p:sldId id="261" r:id="rId17"/>
    <p:sldId id="26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85685" autoAdjust="0"/>
  </p:normalViewPr>
  <p:slideViewPr>
    <p:cSldViewPr snapToGrid="0">
      <p:cViewPr varScale="1">
        <p:scale>
          <a:sx n="108" d="100"/>
          <a:sy n="108" d="100"/>
        </p:scale>
        <p:origin x="9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8518BD-72BC-438B-BBB7-9178DD8CD515}" type="datetimeFigureOut">
              <a:rPr lang="en-US" smtClean="0"/>
              <a:t>8/29/25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09982-B4F3-48A9-B199-2F6CA9676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31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Sketching and design emerged during the medieval period, so these concepts are nothing new. However, what I believe many people forget is that the intention of sketching is to separate design from the process of making.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09982-B4F3-48A9-B199-2F6CA9676C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720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As we iterate our wireframes and get clarity on requirements and constraints, some of our ideas naturally fall away. It is at this stage I would say a real prototype exists. Our designs are still not final, but we have defined a set of ideas we know can actually be pursued, and we begin to refine and exemplify them. We may invest some light coding in them to achieve a degree of interactivity, but a prototype is still a communication tool and artifact.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09982-B4F3-48A9-B199-2F6CA9676C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377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74320" indent="-274320">
              <a:buClr>
                <a:schemeClr val="accent3"/>
              </a:buClr>
              <a:buFont typeface="Wingdings" pitchFamily="2" charset="2"/>
              <a:buChar char="Ø"/>
              <a:defRPr/>
            </a:pPr>
            <a:r>
              <a:rPr lang="en-US" sz="1200" dirty="0"/>
              <a:t>Low-fidelity prototyping is generally limited function, limited    interaction prototyping effort.</a:t>
            </a:r>
          </a:p>
          <a:p>
            <a:pPr marL="274320" indent="-274320">
              <a:buClr>
                <a:schemeClr val="accent3"/>
              </a:buClr>
              <a:buFont typeface="Wingdings" pitchFamily="2" charset="2"/>
              <a:buChar char="Ø"/>
              <a:defRPr/>
            </a:pPr>
            <a:endParaRPr lang="en-US" sz="1200" dirty="0"/>
          </a:p>
          <a:p>
            <a:pPr marL="274320" indent="-274320">
              <a:buClr>
                <a:schemeClr val="accent3"/>
              </a:buClr>
              <a:buFont typeface="Wingdings" pitchFamily="2" charset="2"/>
              <a:buChar char="Ø"/>
              <a:defRPr/>
            </a:pPr>
            <a:r>
              <a:rPr lang="en-US" sz="1200" dirty="0"/>
              <a:t>They are constructed to depict concepts, design alternatives and screen layouts. They are intended to demonstrate general look and feel of the interface.</a:t>
            </a:r>
          </a:p>
          <a:p>
            <a:pPr marL="274320" indent="-274320">
              <a:buClr>
                <a:schemeClr val="accent3"/>
              </a:buClr>
              <a:buFont typeface="Wingdings" pitchFamily="2" charset="2"/>
              <a:buChar char="Ø"/>
              <a:defRPr/>
            </a:pPr>
            <a:endParaRPr lang="en-US" sz="1200" dirty="0"/>
          </a:p>
          <a:p>
            <a:pPr marL="274320" indent="-274320">
              <a:buClr>
                <a:schemeClr val="accent3"/>
              </a:buClr>
              <a:buFont typeface="Wingdings" pitchFamily="2" charset="2"/>
              <a:buChar char="Ø"/>
              <a:defRPr/>
            </a:pPr>
            <a:r>
              <a:rPr lang="en-US" sz="1200" dirty="0"/>
              <a:t>They are created to educate , communicate and inform, but not to train, test or serve as a basis for which to code.</a:t>
            </a:r>
          </a:p>
          <a:p>
            <a:pPr marL="274320" indent="-274320">
              <a:buClr>
                <a:schemeClr val="accent3"/>
              </a:buClr>
              <a:buFont typeface="Wingdings" pitchFamily="2" charset="2"/>
              <a:buChar char="Ø"/>
              <a:defRPr/>
            </a:pPr>
            <a:endParaRPr lang="en-US" sz="1200" dirty="0"/>
          </a:p>
          <a:p>
            <a:pPr marL="274320" indent="-274320">
              <a:buClr>
                <a:schemeClr val="accent3"/>
              </a:buClr>
              <a:buFont typeface="Wingdings" pitchFamily="2" charset="2"/>
              <a:buChar char="Ø"/>
              <a:defRPr/>
            </a:pPr>
            <a:r>
              <a:rPr lang="en-US" sz="1200" dirty="0"/>
              <a:t>Low fidelity prototyping is used early in the design cycle to show general conceptual approaches without much investment in development.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09982-B4F3-48A9-B199-2F6CA9676C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11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0FAB13A-A22F-42AE-B4BA-7CF02ABBBE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24697B-8145-4B68-B116-901E3774F91D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39266" name="Rectangle 2">
            <a:extLst>
              <a:ext uri="{FF2B5EF4-FFF2-40B4-BE49-F238E27FC236}">
                <a16:creationId xmlns:a16="http://schemas.microsoft.com/office/drawing/2014/main" id="{F343F6F9-ABAE-452C-AAB1-8D579C1445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C5169B8F-C288-48FB-B7D9-E88149C6DD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800"/>
              <a:t>Low-Fi prototypes : differs from final prod. In interaction, visual appearance, level of details. And while the method id quick and easy it encourage to try alternative designs. </a:t>
            </a:r>
          </a:p>
          <a:p>
            <a:r>
              <a:rPr lang="en-US" altLang="en-US" sz="1800"/>
              <a:t>Allows designers to focus on high-level interaction design and information architecture rather than on details or visual style. </a:t>
            </a:r>
          </a:p>
          <a:p>
            <a:endParaRPr lang="en-US" altLang="en-US" sz="1800"/>
          </a:p>
          <a:p>
            <a:r>
              <a:rPr lang="en-US" altLang="en-US" sz="180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87494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4B353C2-1B56-446E-958B-2DC180E519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B64138-458C-4612-A84C-A3173BA1AB79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40290" name="Rectangle 2">
            <a:extLst>
              <a:ext uri="{FF2B5EF4-FFF2-40B4-BE49-F238E27FC236}">
                <a16:creationId xmlns:a16="http://schemas.microsoft.com/office/drawing/2014/main" id="{9BD9186A-1ED2-4D8E-B69B-11F6891C01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F5BD8BD0-7DEA-4528-85C7-AC661B96FB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3512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7AB30A4-85E6-4C15-AF46-7788FDB305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2EB50F-4169-405A-8C4E-8833B252705B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41314" name="Rectangle 2">
            <a:extLst>
              <a:ext uri="{FF2B5EF4-FFF2-40B4-BE49-F238E27FC236}">
                <a16:creationId xmlns:a16="http://schemas.microsoft.com/office/drawing/2014/main" id="{95B8B074-896B-4307-952A-EA812AD8DE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326BC344-4A1D-41E9-AB9B-51CF1C2AD2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2682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D87A-25CA-4DB7-BCB3-CB8D235B7574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EAC0-0087-4CCB-9DFD-8F577C29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63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D87A-25CA-4DB7-BCB3-CB8D235B7574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EAC0-0087-4CCB-9DFD-8F577C29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6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D87A-25CA-4DB7-BCB3-CB8D235B7574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EAC0-0087-4CCB-9DFD-8F577C29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834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D87A-25CA-4DB7-BCB3-CB8D235B7574}" type="datetimeFigureOut">
              <a:rPr lang="en-US" smtClean="0"/>
              <a:t>8/29/25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EAC0-0087-4CCB-9DFD-8F577C29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988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D87A-25CA-4DB7-BCB3-CB8D235B7574}" type="datetimeFigureOut">
              <a:rPr lang="en-US" smtClean="0"/>
              <a:t>8/29/25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EAC0-0087-4CCB-9DFD-8F577C29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90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D87A-25CA-4DB7-BCB3-CB8D235B7574}" type="datetimeFigureOut">
              <a:rPr lang="en-US" smtClean="0"/>
              <a:t>8/29/25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EAC0-0087-4CCB-9DFD-8F577C29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092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D87A-25CA-4DB7-BCB3-CB8D235B7574}" type="datetimeFigureOut">
              <a:rPr lang="en-US" smtClean="0"/>
              <a:t>8/29/25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EAC0-0087-4CCB-9DFD-8F577C29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598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D87A-25CA-4DB7-BCB3-CB8D235B7574}" type="datetimeFigureOut">
              <a:rPr lang="en-US" smtClean="0"/>
              <a:t>8/29/25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EAC0-0087-4CCB-9DFD-8F577C29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43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D87A-25CA-4DB7-BCB3-CB8D235B7574}" type="datetimeFigureOut">
              <a:rPr lang="en-US" smtClean="0"/>
              <a:t>8/29/25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EAC0-0087-4CCB-9DFD-8F577C29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70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D87A-25CA-4DB7-BCB3-CB8D235B7574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EAC0-0087-4CCB-9DFD-8F577C29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71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D87A-25CA-4DB7-BCB3-CB8D235B7574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EAC0-0087-4CCB-9DFD-8F577C294FB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8599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D87A-25CA-4DB7-BCB3-CB8D235B7574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EAC0-0087-4CCB-9DFD-8F577C29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787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D87A-25CA-4DB7-BCB3-CB8D235B7574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EAC0-0087-4CCB-9DFD-8F577C294FB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54050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D87A-25CA-4DB7-BCB3-CB8D235B7574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EAC0-0087-4CCB-9DFD-8F577C29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6745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D87A-25CA-4DB7-BCB3-CB8D235B7574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EAC0-0087-4CCB-9DFD-8F577C29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927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2D87A-25CA-4DB7-BCB3-CB8D235B7574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AEAC0-0087-4CCB-9DFD-8F577C29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018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2D87A-25CA-4DB7-BCB3-CB8D235B7574}" type="datetimeFigureOut">
              <a:rPr lang="en-US" smtClean="0"/>
              <a:t>8/29/25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9EAEAC0-0087-4CCB-9DFD-8F577C294F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1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600" b="1" dirty="0"/>
              <a:t>Prototyping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i="1" dirty="0">
                <a:solidFill>
                  <a:srgbClr val="FF0000"/>
                </a:solidFill>
              </a:rPr>
              <a:t>Week 2</a:t>
            </a:r>
          </a:p>
          <a:p>
            <a:r>
              <a:rPr lang="en-US" sz="2000" dirty="0">
                <a:solidFill>
                  <a:srgbClr val="FF0000"/>
                </a:solidFill>
              </a:rPr>
              <a:t>HCI Fall 2025</a:t>
            </a:r>
          </a:p>
        </p:txBody>
      </p:sp>
    </p:spTree>
    <p:extLst>
      <p:ext uri="{BB962C8B-B14F-4D97-AF65-F5344CB8AC3E}">
        <p14:creationId xmlns:p14="http://schemas.microsoft.com/office/powerpoint/2010/main" val="2514226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/>
              <a:t>User Interface Prototyping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677334" y="1642821"/>
            <a:ext cx="8596668" cy="4398542"/>
          </a:xfrm>
        </p:spPr>
        <p:txBody>
          <a:bodyPr>
            <a:normAutofit/>
          </a:bodyPr>
          <a:lstStyle/>
          <a:p>
            <a:pPr algn="just"/>
            <a:r>
              <a:rPr lang="en-US" altLang="en-US" sz="2300" dirty="0"/>
              <a:t>Development of highly interactive software system with graphical user interfaces (GUI) has become increasingly common and acceptance of such a system depends highly on the quality of GUI.</a:t>
            </a:r>
          </a:p>
          <a:p>
            <a:pPr algn="just">
              <a:buFont typeface="Wingdings 2" panose="05020102010507070707" pitchFamily="18" charset="2"/>
              <a:buNone/>
            </a:pPr>
            <a:r>
              <a:rPr lang="en-US" altLang="en-US" sz="2300" dirty="0"/>
              <a:t>   </a:t>
            </a:r>
          </a:p>
          <a:p>
            <a:pPr algn="just"/>
            <a:r>
              <a:rPr lang="en-US" altLang="en-US" sz="2300" dirty="0"/>
              <a:t> Prototyping is an excellent means of generating ideas about how the GUI can be designed and it helps to evaluate quality of solution at an early stage.</a:t>
            </a:r>
          </a:p>
          <a:p>
            <a:pPr algn="just">
              <a:buFont typeface="Wingdings 2" panose="05020102010507070707" pitchFamily="18" charset="2"/>
              <a:buNone/>
            </a:pPr>
            <a:endParaRPr lang="en-US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213803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Sketch to Design Continuum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673" y="1396220"/>
            <a:ext cx="8763329" cy="507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491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Sketch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26636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2100" dirty="0"/>
              <a:t>In the context of design, </a:t>
            </a:r>
            <a:r>
              <a:rPr lang="en-US" sz="2100" i="1" dirty="0"/>
              <a:t>sketching</a:t>
            </a:r>
            <a:r>
              <a:rPr lang="en-US" sz="2100" dirty="0"/>
              <a:t> is rapid, freehand drawing that we do with </a:t>
            </a:r>
            <a:r>
              <a:rPr lang="en-US" sz="2100" i="1" dirty="0"/>
              <a:t>no</a:t>
            </a:r>
            <a:r>
              <a:rPr lang="en-US" sz="2100" dirty="0"/>
              <a:t> intention of its becoming a finished product. </a:t>
            </a:r>
          </a:p>
          <a:p>
            <a:pPr algn="just"/>
            <a:r>
              <a:rPr lang="en-US" sz="2100" dirty="0"/>
              <a:t>In fact, many times, sketching is only a foundation upon which we can overlay our actual design work. </a:t>
            </a:r>
          </a:p>
          <a:p>
            <a:pPr algn="just"/>
            <a:r>
              <a:rPr lang="en-US" sz="2100" dirty="0"/>
              <a:t>Thus, sketching is a tool that supports the </a:t>
            </a:r>
            <a:r>
              <a:rPr lang="en-US" sz="2100" i="1" dirty="0"/>
              <a:t>process</a:t>
            </a:r>
            <a:r>
              <a:rPr lang="en-US" sz="2100" dirty="0"/>
              <a:t> of making, </a:t>
            </a:r>
            <a:r>
              <a:rPr lang="en-US" sz="2100" i="1" dirty="0"/>
              <a:t>not</a:t>
            </a:r>
            <a:r>
              <a:rPr lang="en-US" sz="2100" dirty="0"/>
              <a:t> the actual design itself. </a:t>
            </a:r>
          </a:p>
          <a:p>
            <a:pPr algn="just"/>
            <a:r>
              <a:rPr lang="en-US" sz="2100" dirty="0"/>
              <a:t>Unfortunately, it’s all too easy to forget this fact in our quest to get to an end product. </a:t>
            </a:r>
          </a:p>
        </p:txBody>
      </p:sp>
    </p:spTree>
    <p:extLst>
      <p:ext uri="{BB962C8B-B14F-4D97-AF65-F5344CB8AC3E}">
        <p14:creationId xmlns:p14="http://schemas.microsoft.com/office/powerpoint/2010/main" val="1637033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Wireframes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95640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2100" dirty="0"/>
              <a:t>A wireframe, in comparison, is a basic visual guide we use to suggest the structure of a Web site, as well as the relationships between its pages. </a:t>
            </a:r>
          </a:p>
          <a:p>
            <a:pPr algn="just"/>
            <a:r>
              <a:rPr lang="en-US" sz="2100" dirty="0"/>
              <a:t>Wireframes come long before we do any visual design. </a:t>
            </a:r>
          </a:p>
          <a:p>
            <a:pPr algn="just"/>
            <a:r>
              <a:rPr lang="en-US" sz="2100" dirty="0"/>
              <a:t>A wireframe’s purpose is to communicate and explore the concepts that come out of sketching—that is, those concepts you actually want to pursue further during user interface design. </a:t>
            </a:r>
          </a:p>
          <a:p>
            <a:pPr algn="just"/>
            <a:r>
              <a:rPr lang="en-US" sz="2100" dirty="0"/>
              <a:t>Wire framing lets us outline a Web site’s basic, overall structure and flow and helps us explore divergent ideas from our sketches.</a:t>
            </a:r>
          </a:p>
        </p:txBody>
      </p:sp>
    </p:spTree>
    <p:extLst>
      <p:ext uri="{BB962C8B-B14F-4D97-AF65-F5344CB8AC3E}">
        <p14:creationId xmlns:p14="http://schemas.microsoft.com/office/powerpoint/2010/main" val="185015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55448"/>
            <a:ext cx="10171670" cy="544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410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Prototyping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95640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2100" dirty="0"/>
              <a:t>A prototype is an expression of design intent. </a:t>
            </a:r>
          </a:p>
          <a:p>
            <a:pPr algn="just"/>
            <a:r>
              <a:rPr lang="en-US" sz="2100" dirty="0"/>
              <a:t>Prototyping allows designers to present their designs and see them in action. In the context of digital products, a prototype is a simulation of the final interaction between the user and the interface.</a:t>
            </a:r>
          </a:p>
          <a:p>
            <a:pPr algn="just"/>
            <a:r>
              <a:rPr lang="en-US" sz="2100" dirty="0"/>
              <a:t>Depending on what a product team needs a prototype to do, it can simulate an entire app or just a single interaction.</a:t>
            </a:r>
          </a:p>
        </p:txBody>
      </p:sp>
    </p:spTree>
    <p:extLst>
      <p:ext uri="{BB962C8B-B14F-4D97-AF65-F5344CB8AC3E}">
        <p14:creationId xmlns:p14="http://schemas.microsoft.com/office/powerpoint/2010/main" val="1233681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974" y="495708"/>
            <a:ext cx="10497194" cy="613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929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26757"/>
            <a:ext cx="10515600" cy="76393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is fidelity?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8770749" cy="49325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dirty="0"/>
              <a:t>Prototypes don’t necessarily look like final products — they can have different fidelity. </a:t>
            </a:r>
          </a:p>
          <a:p>
            <a:pPr marL="0" indent="0">
              <a:buNone/>
            </a:pPr>
            <a:r>
              <a:rPr lang="en-US" sz="2100" dirty="0"/>
              <a:t>The fidelity of a prototype refers to how it conveys the look-and-feel of the final product (basically, its level of detail and realism).</a:t>
            </a:r>
          </a:p>
          <a:p>
            <a:pPr marL="0" indent="0">
              <a:buNone/>
            </a:pPr>
            <a:r>
              <a:rPr lang="en-US" sz="2100" dirty="0"/>
              <a:t>Fidelity can vary in the areas of:</a:t>
            </a:r>
          </a:p>
          <a:p>
            <a:r>
              <a:rPr lang="en-US" sz="2100" i="1" dirty="0"/>
              <a:t>Visual design</a:t>
            </a:r>
          </a:p>
          <a:p>
            <a:r>
              <a:rPr lang="en-US" sz="2100" i="1" dirty="0"/>
              <a:t>Content</a:t>
            </a:r>
          </a:p>
          <a:p>
            <a:r>
              <a:rPr lang="en-US" sz="2100" i="1" dirty="0"/>
              <a:t>Interactivity</a:t>
            </a:r>
          </a:p>
          <a:p>
            <a:pPr marL="0" indent="0">
              <a:buNone/>
            </a:pPr>
            <a:r>
              <a:rPr lang="en-US" sz="2100" dirty="0"/>
              <a:t>.</a:t>
            </a:r>
          </a:p>
          <a:p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4037371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26757"/>
            <a:ext cx="10515600" cy="76393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is fidelity?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8941231" cy="49325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dirty="0"/>
              <a:t>There are many types of prototypes, ranging anywhere between these two extremes:</a:t>
            </a:r>
          </a:p>
          <a:p>
            <a:r>
              <a:rPr lang="en-US" sz="2100" i="1" dirty="0"/>
              <a:t>Low-Fidelity</a:t>
            </a:r>
          </a:p>
          <a:p>
            <a:r>
              <a:rPr lang="en-US" sz="2100" i="1" dirty="0"/>
              <a:t>High-Fidelity</a:t>
            </a:r>
          </a:p>
          <a:p>
            <a:pPr marL="0" indent="0">
              <a:buNone/>
            </a:pPr>
            <a:r>
              <a:rPr lang="en-US" sz="2100" dirty="0"/>
              <a:t>Product teams choose a prototype’s fidelity based on the goals of prototyping, completeness of design, and available resources.</a:t>
            </a:r>
          </a:p>
          <a:p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0791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Low-Fidelity Prototyping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73817"/>
            <a:ext cx="8596668" cy="4367545"/>
          </a:xfrm>
        </p:spPr>
        <p:txBody>
          <a:bodyPr>
            <a:normAutofit lnSpcReduction="10000"/>
          </a:bodyPr>
          <a:lstStyle/>
          <a:p>
            <a:pPr algn="just" fontAlgn="base"/>
            <a:r>
              <a:rPr lang="en-US" sz="2100" b="1" dirty="0"/>
              <a:t>Low-fidelity prototypes</a:t>
            </a:r>
            <a:r>
              <a:rPr lang="en-US" sz="2100" dirty="0"/>
              <a:t> are often paper-based and do not allow user interactions.  They range from a series of hand-drawn mock-ups to printouts. </a:t>
            </a:r>
          </a:p>
          <a:p>
            <a:pPr marL="0" indent="0" algn="just" fontAlgn="base">
              <a:buNone/>
            </a:pPr>
            <a:endParaRPr lang="en-US" sz="2100" dirty="0"/>
          </a:p>
          <a:p>
            <a:pPr algn="just" fontAlgn="base"/>
            <a:r>
              <a:rPr lang="en-US" sz="2100" dirty="0"/>
              <a:t>Low-fidelity prototypes </a:t>
            </a:r>
            <a:r>
              <a:rPr lang="en-GB" sz="2100" dirty="0"/>
              <a:t>u</a:t>
            </a:r>
            <a:r>
              <a:rPr lang="en-GB" altLang="en-US" sz="2100" dirty="0"/>
              <a:t>ses a medium which is unlike the final medium, e.g. paper, cardboard, sketches and storyboard. </a:t>
            </a:r>
          </a:p>
          <a:p>
            <a:pPr marL="0" indent="0" algn="just" fontAlgn="base">
              <a:buNone/>
            </a:pPr>
            <a:endParaRPr lang="en-GB" altLang="en-US" sz="2100" dirty="0"/>
          </a:p>
          <a:p>
            <a:pPr algn="just" fontAlgn="base"/>
            <a:r>
              <a:rPr lang="en-GB" altLang="en-US" sz="2100" dirty="0"/>
              <a:t>It is quick, cheap and easily changed.</a:t>
            </a:r>
          </a:p>
          <a:p>
            <a:pPr marL="0" indent="0" algn="just" fontAlgn="base">
              <a:buNone/>
            </a:pPr>
            <a:endParaRPr lang="en-GB" altLang="en-US" sz="2100" dirty="0"/>
          </a:p>
          <a:p>
            <a:pPr algn="just" fontAlgn="base"/>
            <a:r>
              <a:rPr lang="en-US" sz="2100" dirty="0"/>
              <a:t> An additional advantage to this approach is that when using rough sketches, users may feel more comfortable suggesting changes.</a:t>
            </a:r>
          </a:p>
          <a:p>
            <a:pPr algn="just"/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4287585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0659" y="-889688"/>
            <a:ext cx="12585567" cy="7315201"/>
          </a:xfrm>
        </p:spPr>
      </p:pic>
    </p:spTree>
    <p:extLst>
      <p:ext uri="{BB962C8B-B14F-4D97-AF65-F5344CB8AC3E}">
        <p14:creationId xmlns:p14="http://schemas.microsoft.com/office/powerpoint/2010/main" val="677634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02" y="926242"/>
            <a:ext cx="99822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050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59417"/>
            <a:ext cx="10515600" cy="93127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Storyboarding 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90689"/>
            <a:ext cx="8596668" cy="4350674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  <a:buFontTx/>
              <a:buChar char="•"/>
            </a:pPr>
            <a:r>
              <a:rPr lang="en-GB" altLang="en-US" sz="2100" dirty="0"/>
              <a:t>Often used with scenarios, bringing more detail, and a chance to role play</a:t>
            </a:r>
          </a:p>
          <a:p>
            <a:pPr algn="just">
              <a:spcBef>
                <a:spcPts val="600"/>
              </a:spcBef>
              <a:buFontTx/>
              <a:buChar char="•"/>
            </a:pPr>
            <a:endParaRPr lang="en-GB" altLang="en-US" sz="2100" dirty="0"/>
          </a:p>
          <a:p>
            <a:pPr algn="just">
              <a:spcBef>
                <a:spcPts val="600"/>
              </a:spcBef>
              <a:buFontTx/>
              <a:buChar char="•"/>
            </a:pPr>
            <a:r>
              <a:rPr lang="en-GB" altLang="en-US" sz="2100" dirty="0"/>
              <a:t>It is a series of sketches showing how a user might progress through a task using the device </a:t>
            </a:r>
          </a:p>
          <a:p>
            <a:pPr algn="just">
              <a:spcBef>
                <a:spcPts val="600"/>
              </a:spcBef>
              <a:buFontTx/>
              <a:buChar char="•"/>
            </a:pPr>
            <a:endParaRPr lang="en-GB" altLang="en-US" sz="2100" dirty="0"/>
          </a:p>
          <a:p>
            <a:pPr algn="just">
              <a:spcBef>
                <a:spcPts val="600"/>
              </a:spcBef>
              <a:buFontTx/>
              <a:buChar char="•"/>
            </a:pPr>
            <a:r>
              <a:rPr lang="en-GB" altLang="en-US" sz="2100" dirty="0"/>
              <a:t>Used early in design</a:t>
            </a:r>
          </a:p>
          <a:p>
            <a:pPr>
              <a:spcBef>
                <a:spcPts val="600"/>
              </a:spcBef>
              <a:buFontTx/>
              <a:buChar char="•"/>
            </a:pPr>
            <a:endParaRPr lang="en-GB" altLang="en-US" sz="2100" dirty="0">
              <a:latin typeface="Verdana" panose="020B060403050404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GB" altLang="en-US" sz="2100" dirty="0">
                <a:latin typeface="Verdana" panose="020B0604030504040204" pitchFamily="34" charset="0"/>
              </a:rPr>
              <a:t> 		</a:t>
            </a:r>
            <a:endParaRPr lang="en-US" altLang="en-US" sz="2100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496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9049"/>
            <a:ext cx="10515600" cy="961639"/>
          </a:xfrm>
        </p:spPr>
        <p:txBody>
          <a:bodyPr>
            <a:normAutofit fontScale="90000"/>
          </a:bodyPr>
          <a:lstStyle/>
          <a:p>
            <a:r>
              <a:rPr lang="en-US" dirty="0"/>
              <a:t>High-Fidelity Prototyping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90689"/>
            <a:ext cx="8885120" cy="4350674"/>
          </a:xfrm>
        </p:spPr>
        <p:txBody>
          <a:bodyPr>
            <a:normAutofit lnSpcReduction="10000"/>
          </a:bodyPr>
          <a:lstStyle/>
          <a:p>
            <a:pPr algn="just" fontAlgn="base"/>
            <a:r>
              <a:rPr lang="en-US" sz="2300" dirty="0"/>
              <a:t>High-fidelity prototypes are computer-based, and usually allow realistic (mouse-keyboard) user interactions. </a:t>
            </a:r>
          </a:p>
          <a:p>
            <a:pPr algn="just" fontAlgn="base"/>
            <a:endParaRPr lang="en-US" sz="2300" dirty="0"/>
          </a:p>
          <a:p>
            <a:pPr algn="just" fontAlgn="base"/>
            <a:r>
              <a:rPr lang="en-US" sz="2300" dirty="0"/>
              <a:t>It </a:t>
            </a:r>
            <a:r>
              <a:rPr lang="en-US" altLang="en-US" sz="2300" dirty="0"/>
              <a:t>represent the core functionality of the products user interface.</a:t>
            </a:r>
          </a:p>
          <a:p>
            <a:pPr marL="0" indent="0" algn="just" fontAlgn="base">
              <a:buNone/>
            </a:pPr>
            <a:endParaRPr lang="en-US" altLang="en-US" sz="2300" dirty="0"/>
          </a:p>
          <a:p>
            <a:pPr algn="just"/>
            <a:r>
              <a:rPr lang="en-US" altLang="en-US" sz="2300" dirty="0"/>
              <a:t>High fidelity prototypes are fully interactive systems.</a:t>
            </a:r>
          </a:p>
          <a:p>
            <a:pPr marL="0" indent="0" algn="just">
              <a:buNone/>
            </a:pPr>
            <a:r>
              <a:rPr lang="en-US" altLang="en-US" sz="2300" dirty="0"/>
              <a:t> </a:t>
            </a:r>
          </a:p>
          <a:p>
            <a:pPr algn="just"/>
            <a:r>
              <a:rPr lang="en-US" altLang="en-US" sz="2300" dirty="0"/>
              <a:t>Users can enter data in entry fields, respond to messages, select icon to open windows and interact with user interface as if it were a real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146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9049"/>
            <a:ext cx="10515600" cy="961639"/>
          </a:xfrm>
        </p:spPr>
        <p:txBody>
          <a:bodyPr>
            <a:normAutofit fontScale="90000"/>
          </a:bodyPr>
          <a:lstStyle/>
          <a:p>
            <a:r>
              <a:rPr lang="en-US" dirty="0"/>
              <a:t>High-Fidelity Prototyping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90689"/>
            <a:ext cx="8885120" cy="4350674"/>
          </a:xfrm>
        </p:spPr>
        <p:txBody>
          <a:bodyPr>
            <a:normAutofit/>
          </a:bodyPr>
          <a:lstStyle/>
          <a:p>
            <a:pPr algn="just"/>
            <a:r>
              <a:rPr lang="en-US" sz="2300" dirty="0"/>
              <a:t>High-fidelity prototypes take you as close as possible to a true representation of the user interface. </a:t>
            </a:r>
          </a:p>
          <a:p>
            <a:pPr marL="0" indent="0" algn="just">
              <a:buNone/>
            </a:pPr>
            <a:endParaRPr lang="en-US" sz="2300" dirty="0"/>
          </a:p>
          <a:p>
            <a:pPr algn="just"/>
            <a:r>
              <a:rPr lang="en-US" sz="2300" dirty="0"/>
              <a:t>High-fidelity prototypes are assumed to be much more effective in collecting true human performance data (e.g., time to complete a task), and in demonstrating actual products to clients, management, and others.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50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60" y="1155605"/>
            <a:ext cx="9460771" cy="473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037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0ABD2C-8E46-4BF4-835C-3C788F0FB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CB85D-C560-4DE5-85A8-2E744F6EF11F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59B128BC-39DC-4D9A-9E09-60A411E881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7333" y="497236"/>
            <a:ext cx="9520551" cy="1110712"/>
          </a:xfrm>
        </p:spPr>
        <p:txBody>
          <a:bodyPr>
            <a:normAutofit/>
          </a:bodyPr>
          <a:lstStyle/>
          <a:p>
            <a:r>
              <a:rPr lang="en-US" altLang="en-US" sz="3000" b="1" dirty="0"/>
              <a:t>Advantages &amp; Disadvantages </a:t>
            </a:r>
            <a:br>
              <a:rPr lang="en-US" altLang="en-US" sz="3000" b="1" dirty="0"/>
            </a:br>
            <a:r>
              <a:rPr lang="en-US" altLang="en-US" sz="3000" b="1" dirty="0"/>
              <a:t>Low-Fidelity 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98200921-95CC-4179-9B78-46B19968F6C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43923" y="2141132"/>
            <a:ext cx="9629975" cy="2004878"/>
          </a:xfrm>
        </p:spPr>
        <p:txBody>
          <a:bodyPr>
            <a:noAutofit/>
          </a:bodyPr>
          <a:lstStyle/>
          <a:p>
            <a:pPr algn="just">
              <a:lnSpc>
                <a:spcPct val="80000"/>
              </a:lnSpc>
            </a:pPr>
            <a:r>
              <a:rPr lang="en-US" altLang="en-US" sz="2000" dirty="0"/>
              <a:t>Low-fidelity representations, such as sketches, differ from the final product in interaction design, visual appearance, and/or level of details. The method is quick &amp; cheap which encourage iterative design idea tryouts between/during usability tests. </a:t>
            </a:r>
          </a:p>
          <a:p>
            <a:pPr algn="just">
              <a:lnSpc>
                <a:spcPct val="80000"/>
              </a:lnSpc>
            </a:pPr>
            <a:r>
              <a:rPr lang="en-US" altLang="en-US" sz="2000" dirty="0"/>
              <a:t>Quick Low-fidelity tests allows designers and users to focus on high-level interaction design and information architecture, rather than on details or visual style. </a:t>
            </a:r>
          </a:p>
        </p:txBody>
      </p:sp>
      <p:sp>
        <p:nvSpPr>
          <p:cNvPr id="93189" name="Text Box 5">
            <a:extLst>
              <a:ext uri="{FF2B5EF4-FFF2-40B4-BE49-F238E27FC236}">
                <a16:creationId xmlns:a16="http://schemas.microsoft.com/office/drawing/2014/main" id="{16A177D4-79E8-4D95-8534-8852AAC9A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663" y="1674892"/>
            <a:ext cx="762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en-US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Advantages                                     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AF3270AF-C25B-4625-8582-40B09A95F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663" y="4146010"/>
            <a:ext cx="762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en-US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Disadvantages                                     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ED42616C-32E4-4CE7-B814-30EB912FC910}"/>
              </a:ext>
            </a:extLst>
          </p:cNvPr>
          <p:cNvSpPr txBox="1">
            <a:spLocks noChangeArrowheads="1"/>
          </p:cNvSpPr>
          <p:nvPr/>
        </p:nvSpPr>
        <p:spPr>
          <a:xfrm>
            <a:off x="443923" y="4746784"/>
            <a:ext cx="9031151" cy="1861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en-US" sz="2000" dirty="0"/>
              <a:t>Users might judge a low-fidelity prototype as unprofessional. </a:t>
            </a:r>
          </a:p>
          <a:p>
            <a:pPr algn="just">
              <a:lnSpc>
                <a:spcPct val="80000"/>
              </a:lnSpc>
            </a:pPr>
            <a:r>
              <a:rPr lang="en-US" altLang="en-US" sz="2000" dirty="0"/>
              <a:t>While Low-fidelity prototypes allow spontaneous changes for exploring interactions, they also sacrifice some realism.</a:t>
            </a:r>
          </a:p>
          <a:p>
            <a:pPr algn="just">
              <a:lnSpc>
                <a:spcPct val="80000"/>
              </a:lnSpc>
            </a:pPr>
            <a:r>
              <a:rPr lang="en-US" altLang="en-US" sz="2000" dirty="0"/>
              <a:t>Limitations in navigation and flow while a control person has to “make the interaction”.</a:t>
            </a:r>
          </a:p>
        </p:txBody>
      </p:sp>
    </p:spTree>
    <p:extLst>
      <p:ext uri="{BB962C8B-B14F-4D97-AF65-F5344CB8AC3E}">
        <p14:creationId xmlns:p14="http://schemas.microsoft.com/office/powerpoint/2010/main" val="1418745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A6932-EB2A-42EF-84CD-C738E224D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B4CF0-C41C-4E37-B657-6AB25C178666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012C441A-1C4F-40DD-8A1E-0AA5D4CD68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7334" y="355600"/>
            <a:ext cx="8596668" cy="1320800"/>
          </a:xfrm>
        </p:spPr>
        <p:txBody>
          <a:bodyPr>
            <a:normAutofit/>
          </a:bodyPr>
          <a:lstStyle/>
          <a:p>
            <a:r>
              <a:rPr lang="en-US" altLang="en-US" sz="3000" b="1" dirty="0"/>
              <a:t>Advantages &amp; Disadvantages </a:t>
            </a:r>
            <a:br>
              <a:rPr lang="en-US" altLang="en-US" sz="3000" b="1" dirty="0"/>
            </a:br>
            <a:r>
              <a:rPr lang="en-US" altLang="en-US" sz="3000" b="1" dirty="0"/>
              <a:t>High-Fidelity</a:t>
            </a:r>
          </a:p>
        </p:txBody>
      </p:sp>
      <p:sp>
        <p:nvSpPr>
          <p:cNvPr id="95236" name="Text Box 4">
            <a:extLst>
              <a:ext uri="{FF2B5EF4-FFF2-40B4-BE49-F238E27FC236}">
                <a16:creationId xmlns:a16="http://schemas.microsoft.com/office/drawing/2014/main" id="{AA6C9CFE-9DDD-46DD-BBA0-EF7F4A7C9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334" y="1698258"/>
            <a:ext cx="762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en-US" sz="2400" dirty="0">
                <a:solidFill>
                  <a:schemeClr val="accent2"/>
                </a:solidFill>
              </a:rPr>
              <a:t>Advantages                     </a:t>
            </a:r>
            <a:r>
              <a:rPr lang="en-US" altLang="en-US" sz="2000" dirty="0"/>
              <a:t> </a:t>
            </a:r>
          </a:p>
        </p:txBody>
      </p:sp>
      <p:sp>
        <p:nvSpPr>
          <p:cNvPr id="95240" name="Rectangle 8">
            <a:extLst>
              <a:ext uri="{FF2B5EF4-FFF2-40B4-BE49-F238E27FC236}">
                <a16:creationId xmlns:a16="http://schemas.microsoft.com/office/drawing/2014/main" id="{905F0F3C-5B1F-4766-B5A9-2D49ABD31A1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09588" y="2209800"/>
            <a:ext cx="9429750" cy="1478797"/>
          </a:xfrm>
          <a:noFill/>
          <a:ln/>
        </p:spPr>
        <p:txBody>
          <a:bodyPr>
            <a:normAutofit/>
          </a:bodyPr>
          <a:lstStyle/>
          <a:p>
            <a:pPr algn="just"/>
            <a:r>
              <a:rPr lang="en-US" altLang="en-US" sz="2000" dirty="0"/>
              <a:t>High-fidelity prototypes offer more realistic interactions than low-fidelity.  </a:t>
            </a:r>
          </a:p>
          <a:p>
            <a:pPr algn="just"/>
            <a:r>
              <a:rPr lang="en-US" altLang="en-US" sz="2000" dirty="0"/>
              <a:t>Better at conveying the range of design possibilities. </a:t>
            </a:r>
          </a:p>
          <a:p>
            <a:pPr algn="just"/>
            <a:r>
              <a:rPr lang="en-US" altLang="en-US" sz="2000" dirty="0"/>
              <a:t>User-driven.</a:t>
            </a:r>
          </a:p>
        </p:txBody>
      </p:sp>
      <p:sp>
        <p:nvSpPr>
          <p:cNvPr id="95241" name="Rectangle 9">
            <a:extLst>
              <a:ext uri="{FF2B5EF4-FFF2-40B4-BE49-F238E27FC236}">
                <a16:creationId xmlns:a16="http://schemas.microsoft.com/office/drawing/2014/main" id="{041D514B-768D-4047-86A9-C945E2C839B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09587" y="4221997"/>
            <a:ext cx="8913381" cy="3906927"/>
          </a:xfrm>
          <a:noFill/>
          <a:ln/>
        </p:spPr>
        <p:txBody>
          <a:bodyPr>
            <a:normAutofit/>
          </a:bodyPr>
          <a:lstStyle/>
          <a:p>
            <a:pPr algn="just">
              <a:lnSpc>
                <a:spcPct val="80000"/>
              </a:lnSpc>
            </a:pPr>
            <a:r>
              <a:rPr lang="en-US" altLang="en-US" sz="2000" dirty="0"/>
              <a:t>High-fidelity prototyping may make designers reluctant to change designs and less likely to fully explore the design space. </a:t>
            </a:r>
          </a:p>
          <a:p>
            <a:pPr algn="just">
              <a:lnSpc>
                <a:spcPct val="80000"/>
              </a:lnSpc>
            </a:pPr>
            <a:r>
              <a:rPr lang="en-US" altLang="en-US" sz="2000" dirty="0"/>
              <a:t>Take a long to build and requires skill. </a:t>
            </a:r>
          </a:p>
          <a:p>
            <a:pPr algn="just">
              <a:lnSpc>
                <a:spcPct val="80000"/>
              </a:lnSpc>
            </a:pPr>
            <a:r>
              <a:rPr lang="en-US" altLang="en-US" sz="2000" dirty="0"/>
              <a:t>Reviewers and testers tend to comment on surface aspects rather than content.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064C1C22-2468-4212-AD9B-D4F9AA662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334" y="3514339"/>
            <a:ext cx="762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en-US" sz="2400" dirty="0">
                <a:solidFill>
                  <a:schemeClr val="accent2"/>
                </a:solidFill>
              </a:rPr>
              <a:t>Disadvantages</a:t>
            </a:r>
            <a:r>
              <a:rPr lang="en-US" alt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0697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8F1DF3D-F3CC-4878-8008-1C4100F50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BF26E-45F7-4618-82A7-C3043CD51252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6B90BBFF-32D1-491B-BB39-D01FA9963A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Conclusion 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B3B035A4-40C9-4C99-8B0B-638EAF01F1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2866" y="1472340"/>
            <a:ext cx="9520552" cy="4321050"/>
          </a:xfrm>
        </p:spPr>
        <p:txBody>
          <a:bodyPr>
            <a:normAutofit fontScale="92500"/>
          </a:bodyPr>
          <a:lstStyle/>
          <a:p>
            <a:pPr algn="just">
              <a:lnSpc>
                <a:spcPct val="80000"/>
              </a:lnSpc>
            </a:pPr>
            <a:r>
              <a:rPr lang="en-US" altLang="en-US" sz="2400" dirty="0"/>
              <a:t>Low-fidelity prototypes have big advantages in cost and ease of iteration, and allow designers to focus on interaction design and information architecture rather than aesthetic details. </a:t>
            </a:r>
          </a:p>
          <a:p>
            <a:pPr marL="0" indent="0" algn="just">
              <a:lnSpc>
                <a:spcPct val="80000"/>
              </a:lnSpc>
              <a:buNone/>
            </a:pPr>
            <a:endParaRPr lang="en-US" altLang="en-US" sz="2400" dirty="0"/>
          </a:p>
          <a:p>
            <a:pPr algn="just">
              <a:lnSpc>
                <a:spcPct val="80000"/>
              </a:lnSpc>
            </a:pPr>
            <a:r>
              <a:rPr lang="en-US" altLang="en-US" sz="2400" dirty="0"/>
              <a:t>Prototyping on paper eases testing of alternative design and enables testing in a more exploratory, dynamic way. </a:t>
            </a:r>
          </a:p>
          <a:p>
            <a:pPr marL="0" indent="0" algn="just">
              <a:lnSpc>
                <a:spcPct val="80000"/>
              </a:lnSpc>
              <a:buNone/>
            </a:pPr>
            <a:endParaRPr lang="en-US" altLang="en-US" sz="2400" dirty="0"/>
          </a:p>
          <a:p>
            <a:pPr algn="just">
              <a:lnSpc>
                <a:spcPct val="80000"/>
              </a:lnSpc>
            </a:pPr>
            <a:r>
              <a:rPr lang="en-US" altLang="en-US" sz="2400" dirty="0"/>
              <a:t>Computer prototypes allow automatic recording of user tests, can be distributed electronically, and can help document the design process.</a:t>
            </a:r>
          </a:p>
          <a:p>
            <a:pPr marL="0" indent="0" algn="just">
              <a:lnSpc>
                <a:spcPct val="80000"/>
              </a:lnSpc>
              <a:buNone/>
            </a:pPr>
            <a:endParaRPr lang="en-US" altLang="en-US" sz="2400" dirty="0"/>
          </a:p>
          <a:p>
            <a:pPr algn="just">
              <a:lnSpc>
                <a:spcPct val="80000"/>
              </a:lnSpc>
            </a:pPr>
            <a:r>
              <a:rPr lang="en-US" altLang="en-US" sz="2400" dirty="0"/>
              <a:t>What kind of prototype method to choose is not a simple decision. Do combine and apply several techniques might be a good idea.  </a:t>
            </a:r>
          </a:p>
          <a:p>
            <a:pPr algn="just">
              <a:lnSpc>
                <a:spcPct val="80000"/>
              </a:lnSpc>
            </a:pPr>
            <a:endParaRPr lang="en-US" altLang="en-US" sz="2400" dirty="0"/>
          </a:p>
          <a:p>
            <a:pPr algn="just">
              <a:lnSpc>
                <a:spcPct val="80000"/>
              </a:lnSpc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359874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Prototyping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tools such as Figma, Adobe XD, Sketch, and InVision allow designers to create interactive prototypes. These tools enable live collaboration, developer handoff, and seamless updates across teams.</a:t>
            </a:r>
          </a:p>
          <a:p>
            <a:endParaRPr/>
          </a:p>
          <a:p>
            <a:r>
              <a:t>Example: Figma enables multiple designers to work on the same prototype in real-time, similar to Google Docs.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AI-Assisted Prototyping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tools can generate wireframes and design layouts directly from text prompts, speeding up the design process.</a:t>
            </a:r>
          </a:p>
          <a:p>
            <a:endParaRPr/>
          </a:p>
          <a:p>
            <a:r>
              <a:t>Examples:</a:t>
            </a:r>
          </a:p>
          <a:p>
            <a:r>
              <a:t>- Galileo AI: Generates UI designs from plain English descriptions.</a:t>
            </a:r>
          </a:p>
          <a:p>
            <a:r>
              <a:t>- Uizard: Converts hand-drawn sketches into editable digital prototypes.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Code-Linked Prototypes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tools now export production-ready code from prototypes, bridging the gap between design and development.</a:t>
            </a:r>
          </a:p>
          <a:p>
            <a:endParaRPr/>
          </a:p>
          <a:p>
            <a:r>
              <a:t>Examples:</a:t>
            </a:r>
          </a:p>
          <a:p>
            <a:r>
              <a:t>- Framer: Allows designers to create interactive prototypes that can be directly used in production.</a:t>
            </a:r>
          </a:p>
          <a:p>
            <a:r>
              <a:t>- FlutterFlow: Generates Flutter code from visual designs.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 &amp; Conversational Prototyping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Prototyping has expanded beyond GUIs into voice interfaces and conversational flows.</a:t>
            </a:r>
          </a:p>
          <a:p>
            <a:endParaRPr/>
          </a:p>
          <a:p>
            <a:r>
              <a:t>Examples:</a:t>
            </a:r>
          </a:p>
          <a:p>
            <a:r>
              <a:t>- Voiceflow: Prototypes Alexa and Google Assistant apps.</a:t>
            </a:r>
          </a:p>
          <a:p>
            <a:r>
              <a:t>- Botmock: Designs and tests chatbot interactions before development.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AR/VR &amp; Spatial Prototyping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Immersive prototyping enables design for augmented and virtual reality experiences.</a:t>
            </a:r>
          </a:p>
          <a:p>
            <a:endParaRPr/>
          </a:p>
          <a:p>
            <a:r>
              <a:t>Examples:</a:t>
            </a:r>
          </a:p>
          <a:p>
            <a:r>
              <a:t>- Adobe Aero: Creates AR experiences without coding.</a:t>
            </a:r>
          </a:p>
          <a:p>
            <a:r>
              <a:t>- ShapesXR: Prototyping tool for VR collaboration and spatial design.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Remote Usability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Remote testing platforms integrate directly with prototypes to gather user feedback.</a:t>
            </a:r>
          </a:p>
          <a:p>
            <a:endParaRPr/>
          </a:p>
          <a:p>
            <a:r>
              <a:t>Examples:</a:t>
            </a:r>
          </a:p>
          <a:p>
            <a:r>
              <a:t>- Maze: Connects with Figma and InVision for usability tests.</a:t>
            </a:r>
          </a:p>
          <a:p>
            <a:r>
              <a:t>- UserTesting: Provides video feedback from real users.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Analytics-Integrated Prototyping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platforms provide analytics within prototypes, including heatmaps, click-tracking, and journey maps.</a:t>
            </a:r>
          </a:p>
          <a:p>
            <a:endParaRPr/>
          </a:p>
          <a:p>
            <a:r>
              <a:t>Example: Hotjar and FullStory integrate with prototypes to visualize user behavior.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Accessibility &amp; Inclusivity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Accessibility-first design ensures products can be used by everyone, including those with disabilities.</a:t>
            </a:r>
          </a:p>
          <a:p>
            <a:endParaRPr/>
          </a:p>
          <a:p>
            <a:r>
              <a:t>Examples:</a:t>
            </a:r>
          </a:p>
          <a:p>
            <a:r>
              <a:t>- Stark plugin for Figma: Checks color contrast and accessibility compliance.</a:t>
            </a:r>
          </a:p>
          <a:p>
            <a:r>
              <a:t>- Axe DevTools: Tests prototypes for screen reader compatibility.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Prototyping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Prototyping is evolving into smart, collaborative, and AI-powered simulations that closely mirror real-world use. This reduces development costs, speeds up iteration, and enhances user satisfaction.</a:t>
            </a:r>
          </a:p>
          <a:p>
            <a:endParaRPr/>
          </a:p>
          <a:p>
            <a:r>
              <a:t>Example: Combining AI tools like Galileo with testing platforms like Maze provides an end-to-end design validation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76</TotalTime>
  <Words>1636</Words>
  <Application>Microsoft Macintosh PowerPoint</Application>
  <PresentationFormat>Widescreen</PresentationFormat>
  <Paragraphs>158</Paragraphs>
  <Slides>29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Trebuchet MS</vt:lpstr>
      <vt:lpstr>Verdana</vt:lpstr>
      <vt:lpstr>Wingdings</vt:lpstr>
      <vt:lpstr>Wingdings 2</vt:lpstr>
      <vt:lpstr>Wingdings 3</vt:lpstr>
      <vt:lpstr>Facet</vt:lpstr>
      <vt:lpstr>Prototyping </vt:lpstr>
      <vt:lpstr>User Interface Prototyping</vt:lpstr>
      <vt:lpstr>The Sketch to Design Continuum</vt:lpstr>
      <vt:lpstr>Sketch</vt:lpstr>
      <vt:lpstr>Wireframes</vt:lpstr>
      <vt:lpstr>PowerPoint Presentation</vt:lpstr>
      <vt:lpstr>Prototyping </vt:lpstr>
      <vt:lpstr>PowerPoint Presentation</vt:lpstr>
      <vt:lpstr>What is fidelity? </vt:lpstr>
      <vt:lpstr>What is fidelity? </vt:lpstr>
      <vt:lpstr>Low-Fidelity Prototyping </vt:lpstr>
      <vt:lpstr>PowerPoint Presentation</vt:lpstr>
      <vt:lpstr>PowerPoint Presentation</vt:lpstr>
      <vt:lpstr>Storyboarding  </vt:lpstr>
      <vt:lpstr>High-Fidelity Prototyping </vt:lpstr>
      <vt:lpstr>High-Fidelity Prototyping </vt:lpstr>
      <vt:lpstr>PowerPoint Presentation</vt:lpstr>
      <vt:lpstr>Advantages &amp; Disadvantages  Low-Fidelity </vt:lpstr>
      <vt:lpstr>Advantages &amp; Disadvantages  High-Fidelity</vt:lpstr>
      <vt:lpstr>Conclusion </vt:lpstr>
      <vt:lpstr>Interactive Prototyping Tools</vt:lpstr>
      <vt:lpstr>AI-Assisted Prototyping</vt:lpstr>
      <vt:lpstr>Code-Linked Prototypes</vt:lpstr>
      <vt:lpstr>Voice &amp; Conversational Prototyping</vt:lpstr>
      <vt:lpstr>AR/VR &amp; Spatial Prototyping</vt:lpstr>
      <vt:lpstr>Remote Usability Testing</vt:lpstr>
      <vt:lpstr>Analytics-Integrated Prototyping</vt:lpstr>
      <vt:lpstr>Accessibility &amp; Inclusivity</vt:lpstr>
      <vt:lpstr>Future of Prototyping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fofo lolo</dc:creator>
  <cp:lastModifiedBy>Dr. Shakeel Ahmed Khoja / Professor and Dean School of Mathematics and Computer Science</cp:lastModifiedBy>
  <cp:revision>39</cp:revision>
  <dcterms:created xsi:type="dcterms:W3CDTF">2018-01-23T10:45:06Z</dcterms:created>
  <dcterms:modified xsi:type="dcterms:W3CDTF">2025-08-29T07:12:45Z</dcterms:modified>
</cp:coreProperties>
</file>