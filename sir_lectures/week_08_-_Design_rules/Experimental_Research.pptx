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264" r:id="rId21"/>
    <p:sldId id="256" r:id="rId22"/>
    <p:sldId id="257" r:id="rId23"/>
    <p:sldId id="259" r:id="rId24"/>
    <p:sldId id="265" r:id="rId25"/>
    <p:sldId id="325" r:id="rId26"/>
    <p:sldId id="266" r:id="rId27"/>
    <p:sldId id="278" r:id="rId28"/>
    <p:sldId id="279" r:id="rId29"/>
    <p:sldId id="281" r:id="rId30"/>
    <p:sldId id="280" r:id="rId31"/>
    <p:sldId id="282" r:id="rId32"/>
    <p:sldId id="267" r:id="rId33"/>
    <p:sldId id="268" r:id="rId34"/>
    <p:sldId id="269" r:id="rId35"/>
    <p:sldId id="270" r:id="rId36"/>
    <p:sldId id="271" r:id="rId37"/>
    <p:sldId id="272" r:id="rId38"/>
    <p:sldId id="274" r:id="rId39"/>
    <p:sldId id="275" r:id="rId40"/>
    <p:sldId id="284" r:id="rId41"/>
    <p:sldId id="283" r:id="rId4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 autoAdjust="0"/>
    <p:restoredTop sz="94660"/>
  </p:normalViewPr>
  <p:slideViewPr>
    <p:cSldViewPr>
      <p:cViewPr varScale="1">
        <p:scale>
          <a:sx n="126" d="100"/>
          <a:sy n="126" d="100"/>
        </p:scale>
        <p:origin x="14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D8261-8AB2-4620-AE3E-E6273AA31AEC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CE6EA-88D9-437C-9986-EE2AF4F6B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5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FBB847-5766-4BF9-AF0D-DDC038BA89FA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50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0011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00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214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447800"/>
            <a:ext cx="4000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000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472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20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13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96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311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102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94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228600"/>
            <a:ext cx="20383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9626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280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77724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8153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152400" y="838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 userDrawn="1"/>
        </p:nvSpPr>
        <p:spPr bwMode="auto">
          <a:xfrm>
            <a:off x="8991600" y="838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0" y="1295400"/>
            <a:ext cx="91440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1032" name="Picture 14" descr="research_methods_cover_croppe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46150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1524000"/>
          </a:xfrm>
        </p:spPr>
        <p:txBody>
          <a:bodyPr/>
          <a:lstStyle/>
          <a:p>
            <a:pPr eaLnBrk="1" hangingPunct="1"/>
            <a:r>
              <a:rPr lang="en-US" altLang="en-US"/>
              <a:t>Research Methods in</a:t>
            </a:r>
            <a:br>
              <a:rPr lang="en-US" altLang="en-US"/>
            </a:br>
            <a:r>
              <a:rPr lang="en-US" altLang="en-US"/>
              <a:t>Human-Computer Interaction</a:t>
            </a:r>
          </a:p>
        </p:txBody>
      </p:sp>
      <p:sp>
        <p:nvSpPr>
          <p:cNvPr id="20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495800" y="3276600"/>
            <a:ext cx="3581400" cy="2667000"/>
          </a:xfrm>
        </p:spPr>
        <p:txBody>
          <a:bodyPr/>
          <a:lstStyle/>
          <a:p>
            <a:pPr eaLnBrk="1" hangingPunct="1"/>
            <a:r>
              <a:rPr lang="en-US" altLang="en-US"/>
              <a:t>Chapter 2- Experimental Research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2052" name="Picture 6" descr="book_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24200"/>
            <a:ext cx="23796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3614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3075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behavioral research</a:t>
            </a:r>
          </a:p>
          <a:p>
            <a:pPr eaLnBrk="1" hangingPunct="1"/>
            <a:r>
              <a:rPr lang="en-US" altLang="en-US"/>
              <a:t>Research hypotheses</a:t>
            </a:r>
          </a:p>
          <a:p>
            <a:pPr eaLnBrk="1" hangingPunct="1"/>
            <a:r>
              <a:rPr lang="en-US" altLang="en-US"/>
              <a:t>Basics of experimental research</a:t>
            </a:r>
          </a:p>
          <a:p>
            <a:pPr eaLnBrk="1" hangingPunct="1"/>
            <a:r>
              <a:rPr lang="en-US" altLang="en-US"/>
              <a:t>Significance tests</a:t>
            </a:r>
          </a:p>
          <a:p>
            <a:pPr eaLnBrk="1" hangingPunct="1"/>
            <a:r>
              <a:rPr lang="en-US" altLang="en-US"/>
              <a:t>Limitations of experimental research</a:t>
            </a:r>
          </a:p>
        </p:txBody>
      </p:sp>
    </p:spTree>
    <p:extLst>
      <p:ext uri="{BB962C8B-B14F-4D97-AF65-F5344CB8AC3E}">
        <p14:creationId xmlns:p14="http://schemas.microsoft.com/office/powerpoint/2010/main" val="1948987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behavioral research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Descriptive investigations </a:t>
            </a:r>
            <a:r>
              <a:rPr lang="en-US" altLang="en-US" sz="2800" dirty="0"/>
              <a:t>focus on constructing an accurate description of what is happening.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Relational investigations</a:t>
            </a:r>
            <a:r>
              <a:rPr lang="en-US" altLang="en-US" sz="2800" dirty="0"/>
              <a:t> enable the researcher to identify relations between multiple factors. However, relational studies can rarely determine the causal relationship between multiple factors.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Experimental research </a:t>
            </a:r>
            <a:r>
              <a:rPr lang="en-US" altLang="en-US" sz="2800" dirty="0"/>
              <a:t>allows the establishment of a causal relationship.</a:t>
            </a:r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8074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behavioral research</a:t>
            </a:r>
          </a:p>
        </p:txBody>
      </p:sp>
      <p:pic>
        <p:nvPicPr>
          <p:cNvPr id="51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5" t="48000" r="15714" b="12381"/>
          <a:stretch>
            <a:fillRect/>
          </a:stretch>
        </p:blipFill>
        <p:spPr bwMode="auto">
          <a:xfrm>
            <a:off x="381000" y="2362200"/>
            <a:ext cx="83518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0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Research hypotheses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An experiment normally starts with a research hypothesis.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A hypothesis is a precise problem statement that can be directly tested through an empirical investigation.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Compared with a theory, a hypothesis is a smaller, more focused statement that can be examined by a single experiment</a:t>
            </a:r>
          </a:p>
        </p:txBody>
      </p:sp>
    </p:spTree>
    <p:extLst>
      <p:ext uri="{BB962C8B-B14F-4D97-AF65-F5344CB8AC3E}">
        <p14:creationId xmlns:p14="http://schemas.microsoft.com/office/powerpoint/2010/main" val="40557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hypotheses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19200"/>
            <a:ext cx="8153400" cy="48768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Null hypothesis:</a:t>
            </a:r>
            <a:r>
              <a:rPr lang="en-US" altLang="en-US" sz="2800" dirty="0"/>
              <a:t> typically states that there is no difference between experimental treatments.</a:t>
            </a:r>
          </a:p>
          <a:p>
            <a:pPr eaLnBrk="1" hangingPunct="1"/>
            <a:endParaRPr lang="en-US" altLang="en-US" sz="2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Alternative hypothesis: </a:t>
            </a:r>
            <a:r>
              <a:rPr lang="en-US" altLang="en-US" sz="2800" dirty="0"/>
              <a:t>a statement that is mutually exclusive with the null hypothesis.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The goal of an experiment is to find statistical evidence to refute or nullify the null hypothesis in order to support the alternative hypothesis.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A hypothesis should specify the independent variables and dependent variables.</a:t>
            </a:r>
          </a:p>
        </p:txBody>
      </p:sp>
    </p:spTree>
    <p:extLst>
      <p:ext uri="{BB962C8B-B14F-4D97-AF65-F5344CB8AC3E}">
        <p14:creationId xmlns:p14="http://schemas.microsoft.com/office/powerpoint/2010/main" val="39128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Research hypotheses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dirty="0"/>
              <a:t>Independent variables (IV) refer to the factors that the researchers are interested in studying or the possible “cause” of the change in the dependent variable. </a:t>
            </a:r>
          </a:p>
          <a:p>
            <a:pPr lvl="1" eaLnBrk="1" hangingPunct="1">
              <a:defRPr/>
            </a:pPr>
            <a:r>
              <a:rPr lang="en-US" sz="2000" dirty="0"/>
              <a:t>IV</a:t>
            </a:r>
            <a:r>
              <a:rPr lang="en-US" sz="2000" dirty="0">
                <a:ea typeface="+mn-ea"/>
                <a:cs typeface="+mn-cs"/>
              </a:rPr>
              <a:t> is independent of a participant’s behavior. </a:t>
            </a:r>
          </a:p>
          <a:p>
            <a:pPr lvl="1" eaLnBrk="1" hangingPunct="1">
              <a:defRPr/>
            </a:pPr>
            <a:r>
              <a:rPr lang="en-US" sz="2000" dirty="0"/>
              <a:t>IV is</a:t>
            </a:r>
            <a:r>
              <a:rPr lang="en-US" sz="2000" dirty="0">
                <a:ea typeface="+mn-ea"/>
                <a:cs typeface="+mn-cs"/>
              </a:rPr>
              <a:t> usually the treatments or conditions that the researchers can control.</a:t>
            </a:r>
          </a:p>
          <a:p>
            <a:pPr eaLnBrk="1" hangingPunct="1">
              <a:defRPr/>
            </a:pPr>
            <a:r>
              <a:rPr lang="en-US" sz="2400" dirty="0"/>
              <a:t>Dependent variables (DV) refer to the outcome or effect that the researchers are interested in. </a:t>
            </a:r>
          </a:p>
          <a:p>
            <a:pPr lvl="1" eaLnBrk="1" hangingPunct="1">
              <a:defRPr/>
            </a:pPr>
            <a:r>
              <a:rPr lang="en-US" sz="2000" dirty="0">
                <a:ea typeface="+mn-ea"/>
                <a:cs typeface="+mn-cs"/>
              </a:rPr>
              <a:t>DV is dependent on a participant’s behavior or the changes in the IVs</a:t>
            </a:r>
          </a:p>
          <a:p>
            <a:pPr lvl="1" eaLnBrk="1" hangingPunct="1">
              <a:defRPr/>
            </a:pPr>
            <a:r>
              <a:rPr lang="en-US" sz="2000" dirty="0">
                <a:ea typeface="+mn-ea"/>
                <a:cs typeface="+mn-cs"/>
              </a:rPr>
              <a:t>DV is usually the outcomes that the researchers need to measure.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68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Typical independent variables in HCI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Those that relate to technology</a:t>
            </a:r>
          </a:p>
          <a:p>
            <a:pPr lvl="1" eaLnBrk="1" hangingPunct="1"/>
            <a:r>
              <a:rPr lang="en-US" altLang="en-US" sz="2400"/>
              <a:t>Types of technology or device</a:t>
            </a:r>
          </a:p>
          <a:p>
            <a:pPr lvl="1" eaLnBrk="1" hangingPunct="1"/>
            <a:r>
              <a:rPr lang="en-US" altLang="en-US" sz="2400"/>
              <a:t>Types of design</a:t>
            </a:r>
          </a:p>
          <a:p>
            <a:pPr eaLnBrk="1" hangingPunct="1"/>
            <a:r>
              <a:rPr lang="en-US" altLang="en-US" sz="2800"/>
              <a:t>Those that relate to users: </a:t>
            </a:r>
            <a:r>
              <a:rPr lang="en-US" altLang="en-US" sz="2400"/>
              <a:t>age, gender, computer experience, professional domain, education, culture, motivation, mood, and disabilities</a:t>
            </a:r>
          </a:p>
          <a:p>
            <a:pPr eaLnBrk="1" hangingPunct="1"/>
            <a:r>
              <a:rPr lang="en-US" altLang="en-US" sz="2800"/>
              <a:t>Those that relate to context of use:</a:t>
            </a:r>
          </a:p>
          <a:p>
            <a:pPr lvl="1" eaLnBrk="1" hangingPunct="1"/>
            <a:r>
              <a:rPr lang="en-US" altLang="en-US" sz="2400"/>
              <a:t>Physical status</a:t>
            </a:r>
          </a:p>
          <a:p>
            <a:pPr lvl="1" eaLnBrk="1" hangingPunct="1"/>
            <a:r>
              <a:rPr lang="en-US" altLang="en-US" sz="2400"/>
              <a:t>User status</a:t>
            </a:r>
          </a:p>
          <a:p>
            <a:pPr lvl="1" eaLnBrk="1" hangingPunct="1"/>
            <a:r>
              <a:rPr lang="en-US" altLang="en-US" sz="2400"/>
              <a:t>Social status</a:t>
            </a:r>
          </a:p>
        </p:txBody>
      </p:sp>
    </p:spTree>
    <p:extLst>
      <p:ext uri="{BB962C8B-B14F-4D97-AF65-F5344CB8AC3E}">
        <p14:creationId xmlns:p14="http://schemas.microsoft.com/office/powerpoint/2010/main" val="301766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Typical dependent variables in HCI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Efficiency: </a:t>
            </a:r>
          </a:p>
          <a:p>
            <a:pPr lvl="1" eaLnBrk="1" hangingPunct="1">
              <a:defRPr/>
            </a:pPr>
            <a:r>
              <a:rPr lang="en-US" sz="2400" dirty="0"/>
              <a:t>e.g., task completion time, speed</a:t>
            </a:r>
          </a:p>
          <a:p>
            <a:pPr eaLnBrk="1" hangingPunct="1">
              <a:defRPr/>
            </a:pPr>
            <a:r>
              <a:rPr lang="en-US" sz="2800" dirty="0"/>
              <a:t>Accuracy: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e.g., error rate</a:t>
            </a:r>
          </a:p>
          <a:p>
            <a:pPr eaLnBrk="1" hangingPunct="1">
              <a:defRPr/>
            </a:pPr>
            <a:r>
              <a:rPr lang="en-US" sz="2800" dirty="0"/>
              <a:t>Subjective satisfaction: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e.g., </a:t>
            </a:r>
            <a:r>
              <a:rPr lang="en-US" sz="2400" dirty="0" err="1">
                <a:ea typeface="+mn-ea"/>
                <a:cs typeface="+mn-cs"/>
              </a:rPr>
              <a:t>Likert</a:t>
            </a:r>
            <a:r>
              <a:rPr lang="en-US" sz="2400" dirty="0">
                <a:ea typeface="+mn-ea"/>
                <a:cs typeface="+mn-cs"/>
              </a:rPr>
              <a:t> scale ratings</a:t>
            </a:r>
          </a:p>
          <a:p>
            <a:pPr eaLnBrk="1" hangingPunct="1">
              <a:defRPr/>
            </a:pPr>
            <a:r>
              <a:rPr lang="en-US" sz="2800" dirty="0"/>
              <a:t>Ease of learning and retention rate</a:t>
            </a:r>
          </a:p>
          <a:p>
            <a:pPr eaLnBrk="1" hangingPunct="1">
              <a:defRPr/>
            </a:pPr>
            <a:r>
              <a:rPr lang="en-US" sz="2800" dirty="0"/>
              <a:t>Physical or cognitive demand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e.g., NASA task load index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115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Components of experiment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Treatments, or conditions: the different techniques, devices, or procedures that we want to compare</a:t>
            </a:r>
          </a:p>
          <a:p>
            <a:pPr eaLnBrk="1" hangingPunct="1"/>
            <a:r>
              <a:rPr lang="en-US" altLang="en-US" sz="2800"/>
              <a:t>Units: the objects to which we apply the experiment treatments. In HCI research, the units are normally human subjects with specific characteristics, such as gender, age, or computing experience</a:t>
            </a:r>
          </a:p>
          <a:p>
            <a:pPr eaLnBrk="1" hangingPunct="1"/>
            <a:r>
              <a:rPr lang="en-US" altLang="en-US" sz="2800"/>
              <a:t>Assignment method: the way in which the experimental units are assigned different treatments.</a:t>
            </a:r>
          </a:p>
        </p:txBody>
      </p:sp>
    </p:spTree>
    <p:extLst>
      <p:ext uri="{BB962C8B-B14F-4D97-AF65-F5344CB8AC3E}">
        <p14:creationId xmlns:p14="http://schemas.microsoft.com/office/powerpoint/2010/main" val="37243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Randomization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Randomization: the random assignment of treatments to the experimental units or participants</a:t>
            </a:r>
          </a:p>
          <a:p>
            <a:pPr eaLnBrk="1" hangingPunct="1"/>
            <a:r>
              <a:rPr lang="en-US" altLang="en-US" sz="2800"/>
              <a:t>In a totally randomized experiment, no one, including the investigators themselves, is able to predict the condition to which a participant is going to be assigned</a:t>
            </a:r>
          </a:p>
          <a:p>
            <a:pPr eaLnBrk="1" hangingPunct="1"/>
            <a:r>
              <a:rPr lang="en-US" altLang="en-US" sz="2800"/>
              <a:t>Methods of randomization</a:t>
            </a:r>
          </a:p>
          <a:p>
            <a:pPr lvl="1" eaLnBrk="1" hangingPunct="1"/>
            <a:r>
              <a:rPr lang="en-US" altLang="en-US" sz="2400"/>
              <a:t>Preliminary methods</a:t>
            </a:r>
          </a:p>
          <a:p>
            <a:pPr lvl="1" eaLnBrk="1" hangingPunct="1"/>
            <a:r>
              <a:rPr lang="en-US" altLang="en-US" sz="2400"/>
              <a:t>Random table</a:t>
            </a:r>
          </a:p>
          <a:p>
            <a:pPr lvl="1" eaLnBrk="1" hangingPunct="1"/>
            <a:r>
              <a:rPr lang="en-US" altLang="en-US" sz="2400"/>
              <a:t>Software driven randomization</a:t>
            </a:r>
          </a:p>
        </p:txBody>
      </p:sp>
    </p:spTree>
    <p:extLst>
      <p:ext uri="{BB962C8B-B14F-4D97-AF65-F5344CB8AC3E}">
        <p14:creationId xmlns:p14="http://schemas.microsoft.com/office/powerpoint/2010/main" val="264831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Significance tests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Why do we need significance tests?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When the values of the members of the comparison groups are all known, you can directly compare them and draw a conclusion. No significance test is needed since there is no uncertainty involved.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When the population is large, we can only sample a sub-group of people from the entire population.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Significance tests allow us to determine how confident we are that the results observed from the sampling population can be generalized to the entire population.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210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I and Type II errors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All significance tests are subject to the risk of Type I and Type II errors.</a:t>
            </a:r>
          </a:p>
          <a:p>
            <a:pPr eaLnBrk="1" hangingPunct="1"/>
            <a:r>
              <a:rPr lang="en-US" altLang="en-US" sz="2800"/>
              <a:t>A Type I error (also called an </a:t>
            </a:r>
            <a:r>
              <a:rPr lang="en-US" altLang="en-US" sz="2800" i="1"/>
              <a:t>α error or a “false positive”) refers to the mistake of </a:t>
            </a:r>
            <a:r>
              <a:rPr lang="en-US" altLang="en-US" sz="2800"/>
              <a:t>rejecting the null hypothesis when it is true and should not be rejected. </a:t>
            </a:r>
          </a:p>
          <a:p>
            <a:pPr eaLnBrk="1" hangingPunct="1"/>
            <a:r>
              <a:rPr lang="en-US" altLang="en-US" sz="2800"/>
              <a:t>A Type II error (also called a </a:t>
            </a:r>
            <a:r>
              <a:rPr lang="en-US" altLang="en-US" sz="2800" i="1"/>
              <a:t>β error or a “false negative”) refers to the mistake of not rejecting the null </a:t>
            </a:r>
            <a:r>
              <a:rPr lang="en-US" altLang="en-US" sz="2800"/>
              <a:t>hypothesis when it is false and should be rejected.</a:t>
            </a:r>
          </a:p>
        </p:txBody>
      </p:sp>
    </p:spTree>
    <p:extLst>
      <p:ext uri="{BB962C8B-B14F-4D97-AF65-F5344CB8AC3E}">
        <p14:creationId xmlns:p14="http://schemas.microsoft.com/office/powerpoint/2010/main" val="145752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I and Type II errors</a:t>
            </a:r>
          </a:p>
        </p:txBody>
      </p:sp>
      <p:pic>
        <p:nvPicPr>
          <p:cNvPr id="1536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4" t="31238" r="23334" b="39810"/>
          <a:stretch>
            <a:fillRect/>
          </a:stretch>
        </p:blipFill>
        <p:spPr bwMode="auto">
          <a:xfrm>
            <a:off x="914400" y="1447800"/>
            <a:ext cx="70104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5" t="43906" r="20000" b="25620"/>
          <a:stretch>
            <a:fillRect/>
          </a:stretch>
        </p:blipFill>
        <p:spPr bwMode="auto">
          <a:xfrm>
            <a:off x="152400" y="3733800"/>
            <a:ext cx="89916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7321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I and Type II errors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It is generally believed that Type I errors are worse than Type II errors. </a:t>
            </a:r>
          </a:p>
          <a:p>
            <a:pPr eaLnBrk="1" hangingPunct="1">
              <a:defRPr/>
            </a:pPr>
            <a:r>
              <a:rPr lang="en-US" sz="2800" dirty="0"/>
              <a:t>Statisticians call Type I errors a mistake that involves “gullibility”.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A Type I error may result in a condition worse than the current state.</a:t>
            </a:r>
          </a:p>
          <a:p>
            <a:pPr eaLnBrk="1" hangingPunct="1">
              <a:defRPr/>
            </a:pPr>
            <a:r>
              <a:rPr lang="en-US" sz="2800" dirty="0"/>
              <a:t>Type II errors are mistakes that involve “blindness”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  <a:cs typeface="+mn-cs"/>
              </a:rPr>
              <a:t> A Type II error can cost the opportunity to improve the current state.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6610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Controlling risks of errors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In statistics, the probability of making a Type I error is called alpha (or significance level, p value). </a:t>
            </a:r>
          </a:p>
          <a:p>
            <a:pPr eaLnBrk="1" hangingPunct="1"/>
            <a:r>
              <a:rPr lang="en-US" altLang="en-US" sz="2800"/>
              <a:t>The probability of making a Type II error is called beta. </a:t>
            </a:r>
          </a:p>
          <a:p>
            <a:pPr eaLnBrk="1" hangingPunct="1"/>
            <a:r>
              <a:rPr lang="en-US" altLang="en-US" sz="2800"/>
              <a:t>The statistical power of a test, defined as 1−</a:t>
            </a:r>
            <a:r>
              <a:rPr lang="en-US" altLang="en-US" sz="2800" i="1"/>
              <a:t>β, </a:t>
            </a:r>
            <a:r>
              <a:rPr lang="en-US" altLang="en-US" sz="2800"/>
              <a:t>refers to the probability of successfully rejecting </a:t>
            </a:r>
            <a:r>
              <a:rPr lang="en-US" altLang="en-US" sz="2800" i="1"/>
              <a:t>a </a:t>
            </a:r>
            <a:r>
              <a:rPr lang="en-US" altLang="en-US" sz="2800"/>
              <a:t>null hypothesis when it is false and should be rejected</a:t>
            </a:r>
          </a:p>
        </p:txBody>
      </p:sp>
    </p:spTree>
    <p:extLst>
      <p:ext uri="{BB962C8B-B14F-4D97-AF65-F5344CB8AC3E}">
        <p14:creationId xmlns:p14="http://schemas.microsoft.com/office/powerpoint/2010/main" val="375520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Alpha and beta are interrelated. Under the same conditions, decreasing alpha reduces the chance of making Type I errors but increases the chance of making Type II errors.</a:t>
            </a:r>
          </a:p>
          <a:p>
            <a:pPr eaLnBrk="1" hangingPunct="1"/>
            <a:r>
              <a:rPr lang="en-US" altLang="en-US" sz="2800"/>
              <a:t>In experimental research, it is generally believed that Type I errors are worse than Type II errors. </a:t>
            </a:r>
          </a:p>
          <a:p>
            <a:pPr eaLnBrk="1" hangingPunct="1"/>
            <a:r>
              <a:rPr lang="en-US" altLang="en-US" sz="2800"/>
              <a:t>So a very low p value (0.05) is widely adopted to control the occurrence of Type I errors.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Controlling risks of errors</a:t>
            </a:r>
          </a:p>
        </p:txBody>
      </p:sp>
    </p:spTree>
    <p:extLst>
      <p:ext uri="{BB962C8B-B14F-4D97-AF65-F5344CB8AC3E}">
        <p14:creationId xmlns:p14="http://schemas.microsoft.com/office/powerpoint/2010/main" val="2849965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868363"/>
          </a:xfrm>
        </p:spPr>
        <p:txBody>
          <a:bodyPr/>
          <a:lstStyle/>
          <a:p>
            <a:pPr eaLnBrk="1" hangingPunct="1"/>
            <a:r>
              <a:rPr lang="en-US" altLang="en-US" sz="3600"/>
              <a:t>Limitations of Experimental Research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Experimental research requires well-defined, testable hypotheses that consist of a limited number of dependent and independent variables.</a:t>
            </a:r>
          </a:p>
          <a:p>
            <a:pPr eaLnBrk="1" hangingPunct="1"/>
            <a:r>
              <a:rPr lang="en-US" altLang="en-US" sz="2800"/>
              <a:t>Experimental research requires strict control of factors that may influence the dependent variables. </a:t>
            </a:r>
          </a:p>
          <a:p>
            <a:pPr eaLnBrk="1" hangingPunct="1"/>
            <a:r>
              <a:rPr lang="en-US" altLang="en-US" sz="2800"/>
              <a:t>Lab-based experiments may not be a good representation of users’ typical interaction behavior.</a:t>
            </a:r>
          </a:p>
        </p:txBody>
      </p:sp>
    </p:spTree>
    <p:extLst>
      <p:ext uri="{BB962C8B-B14F-4D97-AF65-F5344CB8AC3E}">
        <p14:creationId xmlns:p14="http://schemas.microsoft.com/office/powerpoint/2010/main" val="29447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End-of-chapter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  <a:p>
            <a:r>
              <a:rPr lang="en-US" altLang="en-US"/>
              <a:t>Discussion questions</a:t>
            </a:r>
          </a:p>
          <a:p>
            <a:r>
              <a:rPr lang="en-US" altLang="en-US"/>
              <a:t>Research design exercise</a:t>
            </a:r>
          </a:p>
        </p:txBody>
      </p:sp>
    </p:spTree>
    <p:extLst>
      <p:ext uri="{BB962C8B-B14F-4D97-AF65-F5344CB8AC3E}">
        <p14:creationId xmlns:p14="http://schemas.microsoft.com/office/powerpoint/2010/main" val="343338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1524000"/>
          </a:xfrm>
        </p:spPr>
        <p:txBody>
          <a:bodyPr/>
          <a:lstStyle/>
          <a:p>
            <a:pPr eaLnBrk="1" hangingPunct="1"/>
            <a:r>
              <a:rPr lang="en-US" altLang="en-US"/>
              <a:t>Research Methods in</a:t>
            </a:r>
            <a:br>
              <a:rPr lang="en-US" altLang="en-US"/>
            </a:br>
            <a:r>
              <a:rPr lang="en-US" altLang="en-US"/>
              <a:t>Human-Computer Interaction</a:t>
            </a:r>
          </a:p>
        </p:txBody>
      </p:sp>
      <p:sp>
        <p:nvSpPr>
          <p:cNvPr id="20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495800" y="3276600"/>
            <a:ext cx="3581400" cy="2667000"/>
          </a:xfrm>
        </p:spPr>
        <p:txBody>
          <a:bodyPr/>
          <a:lstStyle/>
          <a:p>
            <a:pPr eaLnBrk="1" hangingPunct="1"/>
            <a:r>
              <a:rPr lang="en-US" altLang="en-US"/>
              <a:t>Chapter 3- Experimental Design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2052" name="Picture 6" descr="book_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24200"/>
            <a:ext cx="23796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3075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What needs to be considered when designing experiments?</a:t>
            </a:r>
          </a:p>
          <a:p>
            <a:r>
              <a:rPr lang="en-US" altLang="en-US" sz="2800"/>
              <a:t>Determining the basic design structure</a:t>
            </a:r>
          </a:p>
          <a:p>
            <a:r>
              <a:rPr lang="en-US" altLang="en-US" sz="2800"/>
              <a:t>Investigating a single independent variable</a:t>
            </a:r>
          </a:p>
          <a:p>
            <a:r>
              <a:rPr lang="en-US" altLang="en-US" sz="2800"/>
              <a:t>Investigating more than one independent variable</a:t>
            </a:r>
          </a:p>
          <a:p>
            <a:r>
              <a:rPr lang="en-US" altLang="en-US" sz="2800"/>
              <a:t>Reliability of experimental results</a:t>
            </a:r>
          </a:p>
          <a:p>
            <a:r>
              <a:rPr lang="en-US" altLang="en-US" sz="2800"/>
              <a:t>Experimental procedures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Three groups of studies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Experiments, quasi-experiments, and non-experiments:</a:t>
            </a:r>
          </a:p>
          <a:p>
            <a:pPr eaLnBrk="1" hangingPunct="1">
              <a:buFontTx/>
              <a:buNone/>
            </a:pPr>
            <a:endParaRPr lang="en-US" altLang="en-US" sz="2800"/>
          </a:p>
        </p:txBody>
      </p:sp>
      <p:pic>
        <p:nvPicPr>
          <p:cNvPr id="410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6" t="26666" r="19048" b="10095"/>
          <a:stretch>
            <a:fillRect/>
          </a:stretch>
        </p:blipFill>
        <p:spPr bwMode="auto">
          <a:xfrm>
            <a:off x="1524000" y="2438400"/>
            <a:ext cx="563880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Characteristics of true experiments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 true experiment </a:t>
            </a:r>
          </a:p>
          <a:p>
            <a:pPr lvl="1" eaLnBrk="1" hangingPunct="1"/>
            <a:r>
              <a:rPr lang="en-US" altLang="en-US"/>
              <a:t>is normally based on at least on hypothesis</a:t>
            </a:r>
          </a:p>
          <a:p>
            <a:pPr lvl="1" eaLnBrk="1" hangingPunct="1"/>
            <a:r>
              <a:rPr lang="en-US" altLang="en-US"/>
              <a:t>have multiple conditions</a:t>
            </a:r>
          </a:p>
          <a:p>
            <a:pPr lvl="1" eaLnBrk="1" hangingPunct="1"/>
            <a:r>
              <a:rPr lang="en-US" altLang="en-US"/>
              <a:t>The dependent variable can be quantitatively measured</a:t>
            </a:r>
          </a:p>
          <a:p>
            <a:pPr lvl="1" eaLnBrk="1" hangingPunct="1"/>
            <a:r>
              <a:rPr lang="en-US" altLang="en-US"/>
              <a:t>uses statistical significance tests</a:t>
            </a:r>
          </a:p>
          <a:p>
            <a:pPr lvl="1" eaLnBrk="1" hangingPunct="1"/>
            <a:r>
              <a:rPr lang="en-US" altLang="en-US"/>
              <a:t>thrives to remove biases</a:t>
            </a:r>
          </a:p>
          <a:p>
            <a:pPr lvl="1" eaLnBrk="1" hangingPunct="1"/>
            <a:r>
              <a:rPr lang="en-US" altLang="en-US"/>
              <a:t>is replicable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Factors to consider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Research hypothesis</a:t>
            </a:r>
          </a:p>
          <a:p>
            <a:pPr lvl="1" eaLnBrk="1" hangingPunct="1"/>
            <a:r>
              <a:rPr lang="en-US" altLang="en-US" sz="2400"/>
              <a:t>Clearly defined</a:t>
            </a:r>
          </a:p>
          <a:p>
            <a:pPr lvl="1" eaLnBrk="1" hangingPunct="1"/>
            <a:r>
              <a:rPr lang="en-US" altLang="en-US" sz="2400"/>
              <a:t>Appropriate scope</a:t>
            </a:r>
          </a:p>
          <a:p>
            <a:pPr eaLnBrk="1" hangingPunct="1"/>
            <a:r>
              <a:rPr lang="en-US" altLang="en-US" sz="2800"/>
              <a:t>Dependent variables</a:t>
            </a:r>
          </a:p>
          <a:p>
            <a:pPr lvl="1" eaLnBrk="1" hangingPunct="1"/>
            <a:r>
              <a:rPr lang="en-US" altLang="en-US" sz="2400"/>
              <a:t>Easy to measure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Independent variables and conditions</a:t>
            </a:r>
          </a:p>
          <a:p>
            <a:pPr lvl="1" eaLnBrk="1" hangingPunct="1"/>
            <a:r>
              <a:rPr lang="en-US" altLang="en-US" sz="2400"/>
              <a:t>Easy to control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3820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There is no difference between the target selection speed when using a mouse, a touchscreen, or a gesture to select icons of different sizes (small, medium, or large).</a:t>
            </a:r>
          </a:p>
          <a:p>
            <a:endParaRPr lang="en-US" sz="2800" dirty="0"/>
          </a:p>
          <a:p>
            <a:r>
              <a:rPr lang="en-US" sz="2800" dirty="0" err="1"/>
              <a:t>Ind</a:t>
            </a:r>
            <a:r>
              <a:rPr lang="en-US" sz="2800" dirty="0"/>
              <a:t> </a:t>
            </a:r>
            <a:r>
              <a:rPr lang="en-US" sz="2800" dirty="0" err="1"/>
              <a:t>var</a:t>
            </a:r>
            <a:r>
              <a:rPr lang="en-US" sz="2800" dirty="0"/>
              <a:t> = 2</a:t>
            </a:r>
          </a:p>
          <a:p>
            <a:r>
              <a:rPr lang="en-US" sz="2800" dirty="0"/>
              <a:t>Conditions = 3 for both variables</a:t>
            </a:r>
          </a:p>
          <a:p>
            <a:r>
              <a:rPr lang="en-US" sz="2800" dirty="0"/>
              <a:t>Combining two variables will result in (3*3) conditions in the experiment</a:t>
            </a:r>
          </a:p>
          <a:p>
            <a:r>
              <a:rPr lang="en-US" sz="2800" dirty="0"/>
              <a:t>Dependent Variables?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958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design structure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Two basic questions: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How many independent variables do we want to investigate in the experiment?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How many different values does each independent variable have?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design structure</a:t>
            </a:r>
          </a:p>
        </p:txBody>
      </p:sp>
      <p:pic>
        <p:nvPicPr>
          <p:cNvPr id="819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" t="9143" r="18095" b="4762"/>
          <a:stretch>
            <a:fillRect/>
          </a:stretch>
        </p:blipFill>
        <p:spPr bwMode="auto">
          <a:xfrm>
            <a:off x="838200" y="1371600"/>
            <a:ext cx="7467600" cy="49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Also called ‘between subject design’</a:t>
            </a:r>
          </a:p>
          <a:p>
            <a:r>
              <a:rPr lang="en-US" altLang="en-US"/>
              <a:t>One participant only experience one condition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Investigating one independent variable - </a:t>
            </a:r>
            <a:br>
              <a:rPr lang="en-US" altLang="en-US" sz="3200"/>
            </a:br>
            <a:r>
              <a:rPr lang="en-US" altLang="en-US" sz="3200"/>
              <a:t>Between group design</a:t>
            </a:r>
          </a:p>
        </p:txBody>
      </p:sp>
      <p:pic>
        <p:nvPicPr>
          <p:cNvPr id="922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2" t="12952" r="22858" b="16953"/>
          <a:stretch>
            <a:fillRect/>
          </a:stretch>
        </p:blipFill>
        <p:spPr bwMode="auto">
          <a:xfrm>
            <a:off x="3581400" y="2590800"/>
            <a:ext cx="47894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Between group design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Advantages</a:t>
            </a:r>
          </a:p>
          <a:p>
            <a:pPr lvl="1"/>
            <a:r>
              <a:rPr lang="en-US" altLang="en-US"/>
              <a:t>Cleaner, better control of learning effect</a:t>
            </a:r>
          </a:p>
          <a:p>
            <a:pPr lvl="1"/>
            <a:r>
              <a:rPr lang="en-US" altLang="en-US"/>
              <a:t>Requires shorter time for participants</a:t>
            </a:r>
          </a:p>
          <a:p>
            <a:pPr lvl="1"/>
            <a:r>
              <a:rPr lang="en-US" altLang="en-US"/>
              <a:t>less impact of fatigue and frustration</a:t>
            </a:r>
          </a:p>
          <a:p>
            <a:r>
              <a:rPr lang="en-US" altLang="en-US"/>
              <a:t>Disadvantages</a:t>
            </a:r>
          </a:p>
          <a:p>
            <a:pPr lvl="1"/>
            <a:r>
              <a:rPr lang="en-US" altLang="en-US"/>
              <a:t>Impact of individuals difference</a:t>
            </a:r>
          </a:p>
          <a:p>
            <a:pPr lvl="1"/>
            <a:r>
              <a:rPr lang="en-US" altLang="en-US"/>
              <a:t>Harder to detect difference between conditions</a:t>
            </a:r>
          </a:p>
          <a:p>
            <a:pPr lvl="1"/>
            <a:r>
              <a:rPr lang="en-US" altLang="en-US"/>
              <a:t>Require larger sample size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Also called ‘within subject design’</a:t>
            </a:r>
          </a:p>
          <a:p>
            <a:r>
              <a:rPr lang="en-US" altLang="en-US"/>
              <a:t>One participant experience multiple conditions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Investigating one independent variable - </a:t>
            </a:r>
            <a:br>
              <a:rPr lang="en-US" altLang="en-US" sz="3200"/>
            </a:br>
            <a:r>
              <a:rPr lang="en-US" altLang="en-US" sz="3200"/>
              <a:t>Between group design</a:t>
            </a:r>
          </a:p>
        </p:txBody>
      </p:sp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5" t="11429" r="30952" b="18475"/>
          <a:stretch>
            <a:fillRect/>
          </a:stretch>
        </p:blipFill>
        <p:spPr bwMode="auto">
          <a:xfrm>
            <a:off x="3505200" y="2590800"/>
            <a:ext cx="4648200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Within-group design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Advantages</a:t>
            </a:r>
          </a:p>
          <a:p>
            <a:pPr lvl="1"/>
            <a:r>
              <a:rPr lang="en-US" altLang="en-US"/>
              <a:t>Requires smaller sample size</a:t>
            </a:r>
          </a:p>
          <a:p>
            <a:pPr lvl="1"/>
            <a:r>
              <a:rPr lang="en-US" altLang="en-US"/>
              <a:t>Easy to detect difference between conditions</a:t>
            </a:r>
          </a:p>
          <a:p>
            <a:r>
              <a:rPr lang="en-US" altLang="en-US"/>
              <a:t>Disadvantages</a:t>
            </a:r>
          </a:p>
          <a:p>
            <a:pPr lvl="1"/>
            <a:r>
              <a:rPr lang="en-US" altLang="en-US"/>
              <a:t>Learning effect</a:t>
            </a:r>
          </a:p>
          <a:p>
            <a:pPr lvl="1"/>
            <a:r>
              <a:rPr lang="en-US" altLang="en-US"/>
              <a:t>Takes longer time</a:t>
            </a:r>
          </a:p>
          <a:p>
            <a:pPr lvl="1"/>
            <a:r>
              <a:rPr lang="en-US" altLang="en-US"/>
              <a:t>Larger impact of fatigue and frustration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Investigating one independent variable - </a:t>
            </a:r>
            <a:br>
              <a:rPr lang="en-US" altLang="en-US" sz="3200"/>
            </a:br>
            <a:r>
              <a:rPr lang="en-US" altLang="en-US" sz="3200"/>
              <a:t>Between group vs. Within group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Between-group design should be taken when:</a:t>
            </a:r>
          </a:p>
          <a:p>
            <a:pPr lvl="1"/>
            <a:r>
              <a:rPr lang="en-US" altLang="en-US"/>
              <a:t>Simple tasks</a:t>
            </a:r>
          </a:p>
          <a:p>
            <a:pPr lvl="1"/>
            <a:r>
              <a:rPr lang="en-US" altLang="en-US"/>
              <a:t>Learning effect has large impact</a:t>
            </a:r>
          </a:p>
          <a:p>
            <a:pPr lvl="1"/>
            <a:r>
              <a:rPr lang="en-US" altLang="en-US"/>
              <a:t>Within-group design is impossible</a:t>
            </a:r>
          </a:p>
          <a:p>
            <a:pPr lvl="1"/>
            <a:endParaRPr lang="en-US" altLang="en-US"/>
          </a:p>
          <a:p>
            <a:r>
              <a:rPr lang="en-US" altLang="en-US" sz="2800"/>
              <a:t>Within-group design should be taken when:</a:t>
            </a:r>
          </a:p>
          <a:p>
            <a:pPr lvl="1"/>
            <a:r>
              <a:rPr lang="en-US" altLang="en-US"/>
              <a:t>Learning effect has small impact</a:t>
            </a:r>
          </a:p>
          <a:p>
            <a:pPr lvl="1"/>
            <a:r>
              <a:rPr lang="en-US" altLang="en-US"/>
              <a:t>Small participant pool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868363"/>
          </a:xfrm>
        </p:spPr>
        <p:txBody>
          <a:bodyPr/>
          <a:lstStyle/>
          <a:p>
            <a:pPr eaLnBrk="1" hangingPunct="1"/>
            <a:r>
              <a:rPr lang="en-US" altLang="en-US" sz="3600"/>
              <a:t>More than one independent variable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Factorial design divides the experiment groups or conditions into multiple subsets according to the independent variables</a:t>
            </a:r>
          </a:p>
          <a:p>
            <a:r>
              <a:rPr lang="en-US" altLang="en-US" sz="2800"/>
              <a:t>Can study interaction effects</a:t>
            </a:r>
          </a:p>
          <a:p>
            <a:r>
              <a:rPr lang="en-US" altLang="en-US" sz="2800"/>
              <a:t>Number of conditions: </a:t>
            </a:r>
          </a:p>
          <a:p>
            <a:pPr lvl="1" eaLnBrk="1" hangingPunct="1"/>
            <a:endParaRPr lang="en-US" altLang="en-US" sz="2000"/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30" t="61714" r="27618" b="14667"/>
          <a:stretch>
            <a:fillRect/>
          </a:stretch>
        </p:blipFill>
        <p:spPr bwMode="auto">
          <a:xfrm>
            <a:off x="3962400" y="4114800"/>
            <a:ext cx="17526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7772400" cy="868363"/>
          </a:xfrm>
        </p:spPr>
        <p:txBody>
          <a:bodyPr/>
          <a:lstStyle/>
          <a:p>
            <a:pPr eaLnBrk="1" hangingPunct="1"/>
            <a:r>
              <a:rPr lang="en-US" altLang="en-US" sz="3600"/>
              <a:t>More than one independent variable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Three options of factorial design</a:t>
            </a:r>
          </a:p>
          <a:p>
            <a:pPr lvl="1" eaLnBrk="1" hangingPunct="1"/>
            <a:r>
              <a:rPr lang="en-US" altLang="en-US" sz="2400"/>
              <a:t>Between group design</a:t>
            </a:r>
          </a:p>
          <a:p>
            <a:pPr lvl="1" eaLnBrk="1" hangingPunct="1"/>
            <a:r>
              <a:rPr lang="en-US" altLang="en-US" sz="2400"/>
              <a:t>Within group design</a:t>
            </a:r>
          </a:p>
          <a:p>
            <a:pPr lvl="1" eaLnBrk="1" hangingPunct="1"/>
            <a:r>
              <a:rPr lang="en-US" altLang="en-US" sz="2400"/>
              <a:t>Split-plot design</a:t>
            </a:r>
          </a:p>
          <a:p>
            <a:pPr lvl="1" eaLnBrk="1" hangingPunct="1">
              <a:buFontTx/>
              <a:buNone/>
            </a:pPr>
            <a:endParaRPr lang="en-US" altLang="en-US" sz="2400"/>
          </a:p>
          <a:p>
            <a:pPr eaLnBrk="1" hangingPunct="1"/>
            <a:r>
              <a:rPr lang="en-US" altLang="en-US" sz="2800"/>
              <a:t>Split-plot design</a:t>
            </a:r>
          </a:p>
          <a:p>
            <a:pPr lvl="1" eaLnBrk="1" hangingPunct="1"/>
            <a:r>
              <a:rPr lang="en-US" altLang="en-US" sz="2400"/>
              <a:t>Has both a between-group and a within-group component</a:t>
            </a:r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Interaction effect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The differing effect of one independent variable on the dependent variable, depending on the particular level of another independent variable</a:t>
            </a:r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1" t="11429" r="18095" b="7048"/>
          <a:stretch>
            <a:fillRect/>
          </a:stretch>
        </p:blipFill>
        <p:spPr bwMode="auto">
          <a:xfrm>
            <a:off x="2362200" y="2667000"/>
            <a:ext cx="4167188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Reliability of experiments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Random errors</a:t>
            </a:r>
          </a:p>
          <a:p>
            <a:pPr lvl="1" eaLnBrk="1" hangingPunct="1"/>
            <a:r>
              <a:rPr lang="en-US" altLang="en-US" sz="2400"/>
              <a:t>Also called ‘chance errors’ or ‘noises’</a:t>
            </a:r>
          </a:p>
          <a:p>
            <a:pPr lvl="1" eaLnBrk="1" hangingPunct="1"/>
            <a:r>
              <a:rPr lang="en-US" altLang="en-US" sz="2400"/>
              <a:t>Cause variations in both direction</a:t>
            </a:r>
          </a:p>
          <a:p>
            <a:pPr lvl="1" eaLnBrk="1" hangingPunct="1"/>
            <a:r>
              <a:rPr lang="en-US" altLang="en-US" sz="2400"/>
              <a:t>Occur by chance</a:t>
            </a:r>
          </a:p>
          <a:p>
            <a:pPr lvl="1" eaLnBrk="1" hangingPunct="1"/>
            <a:r>
              <a:rPr lang="en-US" altLang="en-US" sz="2400"/>
              <a:t>Can be controlled by a large sample size</a:t>
            </a:r>
          </a:p>
          <a:p>
            <a:pPr eaLnBrk="1" hangingPunct="1"/>
            <a:r>
              <a:rPr lang="en-US" altLang="en-US" sz="2800"/>
              <a:t>Systematic errors</a:t>
            </a:r>
          </a:p>
          <a:p>
            <a:pPr lvl="1" eaLnBrk="1" hangingPunct="1"/>
            <a:r>
              <a:rPr lang="en-US" altLang="en-US" sz="2400"/>
              <a:t>Also called ‘biases’</a:t>
            </a:r>
          </a:p>
          <a:p>
            <a:pPr lvl="1" eaLnBrk="1" hangingPunct="1"/>
            <a:r>
              <a:rPr lang="en-US" altLang="en-US" sz="2400"/>
              <a:t>Always push actual value in the same direction</a:t>
            </a:r>
          </a:p>
          <a:p>
            <a:pPr lvl="1" eaLnBrk="1" hangingPunct="1"/>
            <a:r>
              <a:rPr lang="en-US" altLang="en-US" sz="2400"/>
              <a:t>Can never be offset no matter how large the sample is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8001000" cy="868363"/>
          </a:xfrm>
        </p:spPr>
        <p:txBody>
          <a:bodyPr/>
          <a:lstStyle/>
          <a:p>
            <a:pPr eaLnBrk="1" hangingPunct="1"/>
            <a:r>
              <a:rPr lang="en-US" altLang="en-US"/>
              <a:t>Reliability of experiment results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Five major sources of system errors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measurement instruments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experimental procedures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participants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experimenter behavior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the experimental environment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Lifecycle of an experiment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Identify a research hypothesis</a:t>
            </a:r>
          </a:p>
          <a:p>
            <a:r>
              <a:rPr lang="en-US" altLang="en-US" sz="2800"/>
              <a:t>Specify the design of the study</a:t>
            </a:r>
          </a:p>
          <a:p>
            <a:r>
              <a:rPr lang="en-US" altLang="en-US" sz="2800"/>
              <a:t>Run a pilot study to test the design, the system, and the study instruments</a:t>
            </a:r>
          </a:p>
          <a:p>
            <a:r>
              <a:rPr lang="en-US" altLang="en-US" sz="2800"/>
              <a:t>Recruit participants</a:t>
            </a:r>
          </a:p>
          <a:p>
            <a:r>
              <a:rPr lang="en-US" altLang="en-US" sz="2800"/>
              <a:t>Run the actual data collection sessions</a:t>
            </a:r>
          </a:p>
          <a:p>
            <a:r>
              <a:rPr lang="en-US" altLang="en-US" sz="2800"/>
              <a:t>Analyze the data</a:t>
            </a:r>
          </a:p>
          <a:p>
            <a:r>
              <a:rPr lang="en-US" altLang="en-US" sz="2800"/>
              <a:t>Report the results</a:t>
            </a:r>
            <a:endParaRPr lang="en-US" altLang="en-US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7772400" cy="868363"/>
          </a:xfrm>
        </p:spPr>
        <p:txBody>
          <a:bodyPr/>
          <a:lstStyle/>
          <a:p>
            <a:pPr eaLnBrk="1" hangingPunct="1"/>
            <a:r>
              <a:rPr lang="en-US" altLang="en-US"/>
              <a:t>Experiment session procedure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Ensure the systems or devices being evaluated and the related instruments are ready for the experiment</a:t>
            </a:r>
          </a:p>
          <a:p>
            <a:pPr>
              <a:lnSpc>
                <a:spcPct val="90000"/>
              </a:lnSpc>
            </a:pPr>
            <a:r>
              <a:rPr lang="en-US" altLang="en-US"/>
              <a:t>Greet the participants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Introduce the purpose of the study and the procedures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Get the consent of the participants</a:t>
            </a:r>
          </a:p>
          <a:p>
            <a:pPr>
              <a:lnSpc>
                <a:spcPct val="90000"/>
              </a:lnSpc>
            </a:pPr>
            <a:r>
              <a:rPr lang="en-US" altLang="en-US"/>
              <a:t>Assign the participants to a specific experiment condition according to the pre-defined randomization method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868363"/>
          </a:xfrm>
        </p:spPr>
        <p:txBody>
          <a:bodyPr/>
          <a:lstStyle/>
          <a:p>
            <a:r>
              <a:rPr lang="en-US" altLang="en-US"/>
              <a:t>Experiment session procedure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Participants complete training task</a:t>
            </a:r>
          </a:p>
          <a:p>
            <a:r>
              <a:rPr lang="en-US" altLang="en-US"/>
              <a:t>Participants complete actual tasks</a:t>
            </a:r>
          </a:p>
          <a:p>
            <a:r>
              <a:rPr lang="en-US" altLang="en-US"/>
              <a:t>Participants answer questionnaires (if any)</a:t>
            </a:r>
          </a:p>
          <a:p>
            <a:r>
              <a:rPr lang="en-US" altLang="en-US"/>
              <a:t>Debriefing session</a:t>
            </a:r>
          </a:p>
          <a:p>
            <a:r>
              <a:rPr lang="en-US" altLang="en-US"/>
              <a:t>Payment (if any)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End-of-chapter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  <a:p>
            <a:r>
              <a:rPr lang="en-US" altLang="en-US"/>
              <a:t>Discussion questions</a:t>
            </a:r>
          </a:p>
          <a:p>
            <a:r>
              <a:rPr lang="en-US" altLang="en-US"/>
              <a:t>Research design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eaVert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eaVert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1633</Words>
  <Application>Microsoft Macintosh PowerPoint</Application>
  <PresentationFormat>On-screen Show (4:3)</PresentationFormat>
  <Paragraphs>226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Default Design</vt:lpstr>
      <vt:lpstr>Research Methods in Human-Computer Interaction</vt:lpstr>
      <vt:lpstr>Overview</vt:lpstr>
      <vt:lpstr>Types of behavioral research</vt:lpstr>
      <vt:lpstr>Types of behavioral research</vt:lpstr>
      <vt:lpstr>Research hypotheses</vt:lpstr>
      <vt:lpstr>Types of hypotheses</vt:lpstr>
      <vt:lpstr>Research hypotheses</vt:lpstr>
      <vt:lpstr>Typical independent variables in HCI</vt:lpstr>
      <vt:lpstr>Typical dependent variables in HCI</vt:lpstr>
      <vt:lpstr>Components of experiment</vt:lpstr>
      <vt:lpstr>Randomization</vt:lpstr>
      <vt:lpstr>Significance tests</vt:lpstr>
      <vt:lpstr>Type I and Type II errors</vt:lpstr>
      <vt:lpstr>Type I and Type II errors</vt:lpstr>
      <vt:lpstr>Type I and Type II errors</vt:lpstr>
      <vt:lpstr>Controlling risks of errors</vt:lpstr>
      <vt:lpstr>Controlling risks of errors</vt:lpstr>
      <vt:lpstr>Limitations of Experimental Research</vt:lpstr>
      <vt:lpstr>End-of-chapter</vt:lpstr>
      <vt:lpstr>Research Methods in Human-Computer Interaction</vt:lpstr>
      <vt:lpstr>Overview</vt:lpstr>
      <vt:lpstr>Three groups of studies</vt:lpstr>
      <vt:lpstr>Characteristics of true experiments</vt:lpstr>
      <vt:lpstr>Factors to consider</vt:lpstr>
      <vt:lpstr>Example</vt:lpstr>
      <vt:lpstr>Basic design structure</vt:lpstr>
      <vt:lpstr>Basic design structure</vt:lpstr>
      <vt:lpstr>Investigating one independent variable -  Between group design</vt:lpstr>
      <vt:lpstr>Between group design</vt:lpstr>
      <vt:lpstr>Investigating one independent variable -  Between group design</vt:lpstr>
      <vt:lpstr>Within-group design</vt:lpstr>
      <vt:lpstr>Investigating one independent variable -  Between group vs. Within group</vt:lpstr>
      <vt:lpstr>More than one independent variable</vt:lpstr>
      <vt:lpstr>More than one independent variable</vt:lpstr>
      <vt:lpstr>Interaction effect</vt:lpstr>
      <vt:lpstr>Reliability of experiments</vt:lpstr>
      <vt:lpstr>Reliability of experiment results</vt:lpstr>
      <vt:lpstr>Lifecycle of an experiment</vt:lpstr>
      <vt:lpstr>Experiment session procedure</vt:lpstr>
      <vt:lpstr>Experiment session procedure</vt:lpstr>
      <vt:lpstr>End-of-chapter</vt:lpstr>
    </vt:vector>
  </TitlesOfParts>
  <Company>towson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jonathan lazar</dc:creator>
  <cp:lastModifiedBy>Dr. Shakeel Ahmed Khoja / Professor and Dean School of Mathematics and Computer Science</cp:lastModifiedBy>
  <cp:revision>79</cp:revision>
  <dcterms:created xsi:type="dcterms:W3CDTF">2009-12-31T02:30:39Z</dcterms:created>
  <dcterms:modified xsi:type="dcterms:W3CDTF">2025-10-28T18:14:13Z</dcterms:modified>
</cp:coreProperties>
</file>