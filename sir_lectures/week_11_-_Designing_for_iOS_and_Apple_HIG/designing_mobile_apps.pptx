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81" r:id="rId26"/>
    <p:sldId id="282" r:id="rId27"/>
    <p:sldId id="283"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6" autoAdjust="0"/>
    <p:restoredTop sz="94660"/>
  </p:normalViewPr>
  <p:slideViewPr>
    <p:cSldViewPr snapToGrid="0">
      <p:cViewPr varScale="1">
        <p:scale>
          <a:sx n="124" d="100"/>
          <a:sy n="124" d="100"/>
        </p:scale>
        <p:origin x="3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11/17/25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11/17/25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11/17/25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11/17/25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11/17/25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11/17/25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11/17/25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11/17/25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11/17/25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11/17/25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11/17/25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11/17/25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Designing the mobile user experience</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605262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static-cotswoldoutdoor-asadventure.netdna-ssl.com/productimages/large/680036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6200000" flipV="1">
            <a:off x="4805600" y="616459"/>
            <a:ext cx="3560399" cy="59927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a:t>A mobile phone is like:</a:t>
            </a:r>
          </a:p>
        </p:txBody>
      </p:sp>
      <p:sp>
        <p:nvSpPr>
          <p:cNvPr id="4" name="Rectangle 3"/>
          <p:cNvSpPr/>
          <p:nvPr/>
        </p:nvSpPr>
        <p:spPr>
          <a:xfrm>
            <a:off x="4785602" y="4976860"/>
            <a:ext cx="6370078"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cap="none" spc="0">
                <a:ln/>
                <a:solidFill>
                  <a:schemeClr val="accent3"/>
                </a:solidFill>
                <a:effectLst/>
                <a:latin typeface="Eras Medium ITC" panose="020B0602030504020804" pitchFamily="34" charset="0"/>
              </a:rPr>
              <a:t>Quality v/s Quantity</a:t>
            </a:r>
          </a:p>
        </p:txBody>
      </p:sp>
      <p:sp>
        <p:nvSpPr>
          <p:cNvPr id="6" name="Rectangle 5"/>
          <p:cNvSpPr/>
          <p:nvPr/>
        </p:nvSpPr>
        <p:spPr>
          <a:xfrm>
            <a:off x="3723333" y="5618657"/>
            <a:ext cx="8494634" cy="923330"/>
          </a:xfrm>
          <a:prstGeom prst="rect">
            <a:avLst/>
          </a:prstGeom>
          <a:noFill/>
        </p:spPr>
        <p:txBody>
          <a:bodyPr wrap="none" lIns="91440" tIns="45720" rIns="91440" bIns="45720">
            <a:spAutoFit/>
            <a:scene3d>
              <a:camera prst="orthographicFront"/>
              <a:lightRig rig="harsh" dir="t"/>
            </a:scene3d>
            <a:sp3d extrusionH="57150" prstMaterial="matte">
              <a:bevelT w="63500" h="12700" prst="angle"/>
              <a:contourClr>
                <a:schemeClr val="bg1">
                  <a:lumMod val="65000"/>
                </a:schemeClr>
              </a:contourClr>
            </a:sp3d>
          </a:bodyPr>
          <a:lstStyle/>
          <a:p>
            <a:pPr algn="ctr"/>
            <a:r>
              <a:rPr lang="en-US" sz="5400" b="1">
                <a:ln/>
                <a:solidFill>
                  <a:schemeClr val="accent3"/>
                </a:solidFill>
                <a:latin typeface="Eras Medium ITC" panose="020B0602030504020804" pitchFamily="34" charset="0"/>
              </a:rPr>
              <a:t>Quality</a:t>
            </a:r>
            <a:r>
              <a:rPr lang="en-US" sz="5400" b="1" cap="none" spc="0">
                <a:ln/>
                <a:solidFill>
                  <a:schemeClr val="accent3"/>
                </a:solidFill>
                <a:effectLst/>
                <a:latin typeface="Eras Medium ITC" panose="020B0602030504020804" pitchFamily="34" charset="0"/>
              </a:rPr>
              <a:t> v/s task completion</a:t>
            </a:r>
          </a:p>
        </p:txBody>
      </p:sp>
    </p:spTree>
    <p:extLst>
      <p:ext uri="{BB962C8B-B14F-4D97-AF65-F5344CB8AC3E}">
        <p14:creationId xmlns:p14="http://schemas.microsoft.com/office/powerpoint/2010/main" val="391652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a:t>
            </a:r>
            <a:r>
              <a:rPr lang="en-US" dirty="0">
                <a:solidFill>
                  <a:srgbClr val="FF0000"/>
                </a:solidFill>
              </a:rPr>
              <a:t>real</a:t>
            </a:r>
            <a:r>
              <a:rPr lang="en-US" dirty="0"/>
              <a:t> consumers think about it?</a:t>
            </a:r>
          </a:p>
        </p:txBody>
      </p:sp>
      <p:sp>
        <p:nvSpPr>
          <p:cNvPr id="3" name="Content Placeholder 2"/>
          <p:cNvSpPr>
            <a:spLocks noGrp="1"/>
          </p:cNvSpPr>
          <p:nvPr>
            <p:ph idx="1"/>
          </p:nvPr>
        </p:nvSpPr>
        <p:spPr>
          <a:xfrm>
            <a:off x="2434107" y="2834640"/>
            <a:ext cx="8721573" cy="4023360"/>
          </a:xfrm>
        </p:spPr>
        <p:txBody>
          <a:bodyPr>
            <a:normAutofit/>
          </a:bodyPr>
          <a:lstStyle/>
          <a:p>
            <a:pPr algn="ctr"/>
            <a:r>
              <a:rPr lang="en-US" sz="2800" i="1">
                <a:latin typeface="Adobe Garamond Pro" panose="02020502060506020403" pitchFamily="18" charset="0"/>
                <a:ea typeface="Adobe Gothic Std B" panose="020B0800000000000000" pitchFamily="34" charset="-128"/>
              </a:rPr>
              <a:t>I don’t have a need for data services on my phone. Just give me</a:t>
            </a:r>
          </a:p>
          <a:p>
            <a:pPr algn="ctr"/>
            <a:r>
              <a:rPr lang="en-US" sz="2800" i="1">
                <a:latin typeface="Adobe Garamond Pro" panose="02020502060506020403" pitchFamily="18" charset="0"/>
                <a:ea typeface="Adobe Gothic Std B" panose="020B0800000000000000" pitchFamily="34" charset="-128"/>
              </a:rPr>
              <a:t>a simple phone that has good reception and battery.’</a:t>
            </a:r>
          </a:p>
        </p:txBody>
      </p:sp>
      <p:pic>
        <p:nvPicPr>
          <p:cNvPr id="2050" name="Picture 2" descr="Image result for mobile phone clip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031" y="2351604"/>
            <a:ext cx="1711861" cy="3285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3623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mobile anyhow?</a:t>
            </a:r>
          </a:p>
        </p:txBody>
      </p:sp>
      <p:sp>
        <p:nvSpPr>
          <p:cNvPr id="3" name="Content Placeholder 2"/>
          <p:cNvSpPr>
            <a:spLocks noGrp="1"/>
          </p:cNvSpPr>
          <p:nvPr>
            <p:ph idx="1"/>
          </p:nvPr>
        </p:nvSpPr>
        <p:spPr/>
        <p:txBody>
          <a:bodyPr/>
          <a:lstStyle/>
          <a:p>
            <a:r>
              <a:rPr lang="en-US" sz="2400"/>
              <a:t>Laptop, Palm, delivery driver data pads, iPods, Gameboy?</a:t>
            </a:r>
          </a:p>
          <a:p>
            <a:endParaRPr lang="en-US" sz="3200" i="1">
              <a:solidFill>
                <a:srgbClr val="FF0000"/>
              </a:solidFill>
              <a:latin typeface="Adobe Garamond Pro" panose="02020502060506020403" pitchFamily="18" charset="0"/>
              <a:ea typeface="Adobe Gothic Std B" panose="020B0800000000000000" pitchFamily="34" charset="-128"/>
            </a:endParaRPr>
          </a:p>
          <a:p>
            <a:endParaRPr lang="en-US" sz="3200" i="1">
              <a:solidFill>
                <a:srgbClr val="FF0000"/>
              </a:solidFill>
              <a:latin typeface="Adobe Garamond Pro" panose="02020502060506020403" pitchFamily="18" charset="0"/>
              <a:ea typeface="Adobe Gothic Std B" panose="020B0800000000000000" pitchFamily="34" charset="-128"/>
            </a:endParaRPr>
          </a:p>
          <a:p>
            <a:r>
              <a:rPr lang="en-US" sz="3200" i="1">
                <a:solidFill>
                  <a:srgbClr val="FF0000"/>
                </a:solidFill>
                <a:latin typeface="Adobe Garamond Pro" panose="02020502060506020403" pitchFamily="18" charset="0"/>
                <a:ea typeface="Adobe Gothic Std B" panose="020B0800000000000000" pitchFamily="34" charset="-128"/>
              </a:rPr>
              <a:t>Fundamentally, ‘mobile’ refers to the user, </a:t>
            </a:r>
            <a:br>
              <a:rPr lang="en-US" sz="3200" i="1">
                <a:solidFill>
                  <a:srgbClr val="FF0000"/>
                </a:solidFill>
                <a:latin typeface="Adobe Garamond Pro" panose="02020502060506020403" pitchFamily="18" charset="0"/>
                <a:ea typeface="Adobe Gothic Std B" panose="020B0800000000000000" pitchFamily="34" charset="-128"/>
              </a:rPr>
            </a:br>
            <a:r>
              <a:rPr lang="en-US" sz="3200" i="1">
                <a:solidFill>
                  <a:srgbClr val="FF0000"/>
                </a:solidFill>
                <a:latin typeface="Adobe Garamond Pro" panose="02020502060506020403" pitchFamily="18" charset="0"/>
                <a:ea typeface="Adobe Gothic Std B" panose="020B0800000000000000" pitchFamily="34" charset="-128"/>
              </a:rPr>
              <a:t>and not the device or the application</a:t>
            </a:r>
          </a:p>
          <a:p>
            <a:endParaRPr lang="en-US" sz="3200" i="1">
              <a:solidFill>
                <a:srgbClr val="FF0000"/>
              </a:solidFill>
              <a:latin typeface="Adobe Garamond Pro" panose="02020502060506020403" pitchFamily="18" charset="0"/>
              <a:ea typeface="Adobe Gothic Std B" panose="020B0800000000000000" pitchFamily="34" charset="-128"/>
            </a:endParaRPr>
          </a:p>
          <a:p>
            <a:endParaRPr lang="en-US" sz="3200" i="1">
              <a:solidFill>
                <a:srgbClr val="FF0000"/>
              </a:solidFill>
              <a:latin typeface="Adobe Garamond Pro" panose="02020502060506020403" pitchFamily="18" charset="0"/>
              <a:ea typeface="Adobe Gothic Std B" panose="020B0800000000000000" pitchFamily="34" charset="-128"/>
            </a:endParaRPr>
          </a:p>
        </p:txBody>
      </p:sp>
    </p:spTree>
    <p:extLst>
      <p:ext uri="{BB962C8B-B14F-4D97-AF65-F5344CB8AC3E}">
        <p14:creationId xmlns:p14="http://schemas.microsoft.com/office/powerpoint/2010/main" val="428875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Carry Principle</a:t>
            </a:r>
          </a:p>
        </p:txBody>
      </p:sp>
      <p:sp>
        <p:nvSpPr>
          <p:cNvPr id="3" name="Content Placeholder 2"/>
          <p:cNvSpPr>
            <a:spLocks noGrp="1"/>
          </p:cNvSpPr>
          <p:nvPr>
            <p:ph idx="1"/>
          </p:nvPr>
        </p:nvSpPr>
        <p:spPr>
          <a:xfrm>
            <a:off x="1097280" y="1845734"/>
            <a:ext cx="7158078" cy="4786886"/>
          </a:xfrm>
        </p:spPr>
        <p:txBody>
          <a:bodyPr>
            <a:noAutofit/>
          </a:bodyPr>
          <a:lstStyle/>
          <a:p>
            <a:r>
              <a:rPr lang="en-US"/>
              <a:t>Personal Communication Device (PCD)</a:t>
            </a:r>
          </a:p>
          <a:p>
            <a:endParaRPr lang="en-US" sz="1400">
              <a:solidFill>
                <a:srgbClr val="FF0000"/>
              </a:solidFill>
            </a:endParaRPr>
          </a:p>
          <a:p>
            <a:pPr>
              <a:buFont typeface="Wingdings" panose="05000000000000000000" pitchFamily="2" charset="2"/>
              <a:buChar char="§"/>
            </a:pPr>
            <a:r>
              <a:rPr lang="en-US">
                <a:solidFill>
                  <a:srgbClr val="FF0000"/>
                </a:solidFill>
              </a:rPr>
              <a:t>Personal. </a:t>
            </a:r>
            <a:r>
              <a:rPr lang="en-US"/>
              <a:t>The device generally belongs to only one person, is personally identifiable, and has a messaging address and ongoing service.</a:t>
            </a:r>
          </a:p>
          <a:p>
            <a:pPr>
              <a:buFont typeface="Wingdings" panose="05000000000000000000" pitchFamily="2" charset="2"/>
              <a:buChar char="§"/>
            </a:pPr>
            <a:r>
              <a:rPr lang="en-US">
                <a:solidFill>
                  <a:srgbClr val="FF0000"/>
                </a:solidFill>
              </a:rPr>
              <a:t>Communicative.</a:t>
            </a:r>
            <a:r>
              <a:rPr lang="en-US"/>
              <a:t> The device can send and receive messages of various forms and connect with the network in various ways.</a:t>
            </a:r>
          </a:p>
          <a:p>
            <a:pPr>
              <a:buFont typeface="Wingdings" panose="05000000000000000000" pitchFamily="2" charset="2"/>
              <a:buChar char="§"/>
            </a:pPr>
            <a:r>
              <a:rPr lang="en-US">
                <a:solidFill>
                  <a:srgbClr val="FF0000"/>
                </a:solidFill>
              </a:rPr>
              <a:t>Handheld.</a:t>
            </a:r>
            <a:r>
              <a:rPr lang="en-US"/>
              <a:t> The device is portable. It can be operated with a </a:t>
            </a:r>
            <a:r>
              <a:rPr lang="en-US" i="1">
                <a:solidFill>
                  <a:srgbClr val="FF0000"/>
                </a:solidFill>
              </a:rPr>
              <a:t>single hand</a:t>
            </a:r>
            <a:r>
              <a:rPr lang="en-US"/>
              <a:t>, even if two hands or a hand and a surface are more convenient.</a:t>
            </a:r>
          </a:p>
          <a:p>
            <a:pPr>
              <a:buFont typeface="Wingdings" panose="05000000000000000000" pitchFamily="2" charset="2"/>
              <a:buChar char="§"/>
            </a:pPr>
            <a:r>
              <a:rPr lang="en-US">
                <a:solidFill>
                  <a:srgbClr val="FF0000"/>
                </a:solidFill>
              </a:rPr>
              <a:t>Wakable.</a:t>
            </a:r>
            <a:r>
              <a:rPr lang="en-US"/>
              <a:t> The device can be awakened quickly by either the user or the network.</a:t>
            </a:r>
          </a:p>
        </p:txBody>
      </p:sp>
      <p:pic>
        <p:nvPicPr>
          <p:cNvPr id="3074" name="Picture 2" descr="http://i.dailymail.co.uk/i/pix/2015/07/10/07/2A65BA4D00000578-0-image-a-191_143650975356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59417" y="1737360"/>
            <a:ext cx="3424751" cy="4353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28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Carry Principle Implications</a:t>
            </a:r>
          </a:p>
        </p:txBody>
      </p:sp>
      <p:sp>
        <p:nvSpPr>
          <p:cNvPr id="3" name="Content Placeholder 2"/>
          <p:cNvSpPr>
            <a:spLocks noGrp="1"/>
          </p:cNvSpPr>
          <p:nvPr>
            <p:ph idx="1"/>
          </p:nvPr>
        </p:nvSpPr>
        <p:spPr>
          <a:xfrm>
            <a:off x="1097280" y="2103311"/>
            <a:ext cx="10058400" cy="4023360"/>
          </a:xfrm>
        </p:spPr>
        <p:txBody>
          <a:bodyPr>
            <a:noAutofit/>
          </a:bodyPr>
          <a:lstStyle/>
          <a:p>
            <a:r>
              <a:rPr lang="en-US" sz="2800" i="1"/>
              <a:t>Form</a:t>
            </a:r>
          </a:p>
          <a:p>
            <a:r>
              <a:rPr lang="en-US" sz="2800" i="1"/>
              <a:t>Features</a:t>
            </a:r>
          </a:p>
          <a:p>
            <a:r>
              <a:rPr lang="en-US" sz="2800" i="1"/>
              <a:t>Device Capabilities</a:t>
            </a:r>
          </a:p>
          <a:p>
            <a:r>
              <a:rPr lang="en-US" sz="2800" i="1"/>
              <a:t>User Interface (Single Window Operation)</a:t>
            </a:r>
          </a:p>
          <a:p>
            <a:r>
              <a:rPr lang="en-US" sz="2800" i="1"/>
              <a:t>Proliferation</a:t>
            </a:r>
          </a:p>
        </p:txBody>
      </p:sp>
      <p:pic>
        <p:nvPicPr>
          <p:cNvPr id="5122" name="Picture 2" descr="http://bestmobs.com/html/uploads/Yahoo-signup-form-mobi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96533" y="2198732"/>
            <a:ext cx="3810000" cy="35242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34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Carry Principle for PCD Users</a:t>
            </a:r>
          </a:p>
        </p:txBody>
      </p:sp>
      <p:sp>
        <p:nvSpPr>
          <p:cNvPr id="3" name="Content Placeholder 2"/>
          <p:cNvSpPr>
            <a:spLocks noGrp="1"/>
          </p:cNvSpPr>
          <p:nvPr>
            <p:ph idx="1"/>
          </p:nvPr>
        </p:nvSpPr>
        <p:spPr/>
        <p:txBody>
          <a:bodyPr>
            <a:normAutofit/>
          </a:bodyPr>
          <a:lstStyle/>
          <a:p>
            <a:endParaRPr lang="en-US" sz="2800"/>
          </a:p>
          <a:p>
            <a:r>
              <a:rPr lang="en-US" sz="2800" i="1"/>
              <a:t>User availability</a:t>
            </a:r>
          </a:p>
          <a:p>
            <a:endParaRPr lang="en-US" sz="2800" i="1"/>
          </a:p>
          <a:p>
            <a:r>
              <a:rPr lang="en-US" sz="2800" i="1"/>
              <a:t>Sustained focus</a:t>
            </a:r>
          </a:p>
          <a:p>
            <a:endParaRPr lang="en-US" sz="2800" i="1"/>
          </a:p>
          <a:p>
            <a:r>
              <a:rPr lang="en-US" sz="2800" i="1"/>
              <a:t>Social behavior</a:t>
            </a:r>
            <a:endParaRPr lang="en-US" sz="2800"/>
          </a:p>
        </p:txBody>
      </p:sp>
      <p:pic>
        <p:nvPicPr>
          <p:cNvPr id="4098" name="Picture 2" descr="http://www.solarvps.com/wp-content/uploads/2013/11/Mobile-Device-Anti-Soci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9546" y="1965951"/>
            <a:ext cx="6355511" cy="3559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8133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 of a Mobile App (1/2)</a:t>
            </a:r>
          </a:p>
        </p:txBody>
      </p:sp>
      <p:sp>
        <p:nvSpPr>
          <p:cNvPr id="3" name="Content Placeholder 2"/>
          <p:cNvSpPr>
            <a:spLocks noGrp="1"/>
          </p:cNvSpPr>
          <p:nvPr>
            <p:ph idx="1"/>
          </p:nvPr>
        </p:nvSpPr>
        <p:spPr>
          <a:xfrm>
            <a:off x="1097280" y="1845733"/>
            <a:ext cx="10058400" cy="4799765"/>
          </a:xfrm>
        </p:spPr>
        <p:txBody>
          <a:bodyPr>
            <a:normAutofit/>
          </a:bodyPr>
          <a:lstStyle/>
          <a:p>
            <a:pPr>
              <a:buFont typeface="Wingdings" panose="05000000000000000000" pitchFamily="2" charset="2"/>
              <a:buChar char="§"/>
            </a:pPr>
            <a:r>
              <a:rPr lang="en-US" sz="2800">
                <a:solidFill>
                  <a:srgbClr val="FF0000"/>
                </a:solidFill>
              </a:rPr>
              <a:t>a </a:t>
            </a:r>
            <a:r>
              <a:rPr lang="en-US" sz="2800" i="1">
                <a:solidFill>
                  <a:srgbClr val="FF0000"/>
                </a:solidFill>
              </a:rPr>
              <a:t>PCD</a:t>
            </a:r>
            <a:r>
              <a:rPr lang="en-US" sz="2800">
                <a:solidFill>
                  <a:srgbClr val="FF0000"/>
                </a:solidFill>
              </a:rPr>
              <a:t>, </a:t>
            </a:r>
            <a:r>
              <a:rPr lang="en-US"/>
              <a:t>with its own use metaphor, browser, application environment, and capabilities</a:t>
            </a:r>
          </a:p>
          <a:p>
            <a:pPr>
              <a:buFont typeface="Wingdings" panose="05000000000000000000" pitchFamily="2" charset="2"/>
              <a:buChar char="§"/>
            </a:pPr>
            <a:r>
              <a:rPr lang="en-US" sz="2800">
                <a:solidFill>
                  <a:srgbClr val="FF0000"/>
                </a:solidFill>
              </a:rPr>
              <a:t>a </a:t>
            </a:r>
            <a:r>
              <a:rPr lang="en-US" sz="2800" i="1">
                <a:solidFill>
                  <a:srgbClr val="FF0000"/>
                </a:solidFill>
              </a:rPr>
              <a:t>user</a:t>
            </a:r>
            <a:r>
              <a:rPr lang="en-US" sz="2800">
                <a:solidFill>
                  <a:srgbClr val="FF0000"/>
                </a:solidFill>
              </a:rPr>
              <a:t>, </a:t>
            </a:r>
            <a:r>
              <a:rPr lang="en-US"/>
              <a:t>using any of a set of mobile devices, who could be riding a train, sitting in a meeting, sitting in a restaurant, walking down the street, focused on other tasks, or engrossed in the device and application</a:t>
            </a:r>
          </a:p>
          <a:p>
            <a:pPr>
              <a:buFont typeface="Wingdings" panose="05000000000000000000" pitchFamily="2" charset="2"/>
              <a:buChar char="§"/>
            </a:pPr>
            <a:r>
              <a:rPr lang="en-US" sz="2800" i="1">
                <a:solidFill>
                  <a:srgbClr val="FF0000"/>
                </a:solidFill>
              </a:rPr>
              <a:t>one or more application platforms</a:t>
            </a:r>
            <a:r>
              <a:rPr lang="en-US"/>
              <a:t>, which can include web browsers, application environments, messaging technologies, media environments, and so forth, with new capabilities becoming available regularly</a:t>
            </a:r>
          </a:p>
          <a:p>
            <a:pPr>
              <a:buFont typeface="Wingdings" panose="05000000000000000000" pitchFamily="2" charset="2"/>
              <a:buChar char="§"/>
            </a:pPr>
            <a:r>
              <a:rPr lang="en-US" sz="2800" i="1">
                <a:solidFill>
                  <a:srgbClr val="FF0000"/>
                </a:solidFill>
              </a:rPr>
              <a:t>one or more output interfaces </a:t>
            </a:r>
            <a:r>
              <a:rPr lang="en-US"/>
              <a:t>with the world outside the mobile device, including screen, speaker, infrared, Bluetooth, local wireless (Wi-Fi), cellular wireless, unique terminal identification</a:t>
            </a:r>
          </a:p>
        </p:txBody>
      </p:sp>
    </p:spTree>
    <p:extLst>
      <p:ext uri="{BB962C8B-B14F-4D97-AF65-F5344CB8AC3E}">
        <p14:creationId xmlns:p14="http://schemas.microsoft.com/office/powerpoint/2010/main" val="178157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Components of a Mobile App (2/2)</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2800" i="1">
                <a:solidFill>
                  <a:srgbClr val="FF0000"/>
                </a:solidFill>
              </a:rPr>
              <a:t>one or more input interfaces </a:t>
            </a:r>
            <a:r>
              <a:rPr lang="en-US"/>
              <a:t>with the world outside the mobile device, including (limited) keypad, touchscreen, microphone, camera, RFID chip reader, global position, infrared, Bluetooth, local wireless (Wi-Fi), cellular wireless</a:t>
            </a:r>
          </a:p>
          <a:p>
            <a:pPr>
              <a:buFont typeface="Wingdings" panose="05000000000000000000" pitchFamily="2" charset="2"/>
              <a:buChar char="§"/>
            </a:pPr>
            <a:r>
              <a:rPr lang="en-US" sz="2800" i="1">
                <a:solidFill>
                  <a:srgbClr val="FF0000"/>
                </a:solidFill>
              </a:rPr>
              <a:t>optionally a server infrastructure </a:t>
            </a:r>
            <a:r>
              <a:rPr lang="en-US"/>
              <a:t>that complements the mobile application and adds information or functionality to the above</a:t>
            </a:r>
          </a:p>
          <a:p>
            <a:pPr>
              <a:buFont typeface="Wingdings" panose="05000000000000000000" pitchFamily="2" charset="2"/>
              <a:buChar char="§"/>
            </a:pPr>
            <a:r>
              <a:rPr lang="en-US" sz="3000" i="1">
                <a:solidFill>
                  <a:srgbClr val="FF0000"/>
                </a:solidFill>
              </a:rPr>
              <a:t>interfaces</a:t>
            </a:r>
            <a:r>
              <a:rPr lang="en-US" i="1"/>
              <a:t> </a:t>
            </a:r>
            <a:r>
              <a:rPr lang="en-US"/>
              <a:t>between the application’s servers and other information sources</a:t>
            </a:r>
          </a:p>
          <a:p>
            <a:pPr>
              <a:buFont typeface="Wingdings" panose="05000000000000000000" pitchFamily="2" charset="2"/>
              <a:buChar char="§"/>
            </a:pPr>
            <a:r>
              <a:rPr lang="en-US" sz="3000" i="1">
                <a:solidFill>
                  <a:srgbClr val="FF0000"/>
                </a:solidFill>
              </a:rPr>
              <a:t>a network </a:t>
            </a:r>
            <a:r>
              <a:rPr lang="en-US"/>
              <a:t>and the corresponding </a:t>
            </a:r>
            <a:r>
              <a:rPr lang="en-US" i="1"/>
              <a:t>wireless carrier </a:t>
            </a:r>
            <a:r>
              <a:rPr lang="en-US"/>
              <a:t>(operator), who enables some of the above technologies, connects the user to the Internet and other users, sells applications and other services, may specify permitted devices, and frequently defines what may and may not be accomplished on the network</a:t>
            </a:r>
          </a:p>
          <a:p>
            <a:pPr>
              <a:buFont typeface="Wingdings" panose="05000000000000000000" pitchFamily="2" charset="2"/>
              <a:buChar char="§"/>
            </a:pPr>
            <a:endParaRPr lang="en-US"/>
          </a:p>
        </p:txBody>
      </p:sp>
    </p:spTree>
    <p:extLst>
      <p:ext uri="{BB962C8B-B14F-4D97-AF65-F5344CB8AC3E}">
        <p14:creationId xmlns:p14="http://schemas.microsoft.com/office/powerpoint/2010/main" val="8270805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Characteristics of a Mobile User</a:t>
            </a:r>
          </a:p>
        </p:txBody>
      </p:sp>
      <p:pic>
        <p:nvPicPr>
          <p:cNvPr id="4" name="Picture 3"/>
          <p:cNvPicPr>
            <a:picLocks noChangeAspect="1"/>
          </p:cNvPicPr>
          <p:nvPr/>
        </p:nvPicPr>
        <p:blipFill>
          <a:blip r:embed="rId2"/>
          <a:stretch>
            <a:fillRect/>
          </a:stretch>
        </p:blipFill>
        <p:spPr>
          <a:xfrm>
            <a:off x="1097280" y="1995850"/>
            <a:ext cx="3125064" cy="4185041"/>
          </a:xfrm>
          <a:prstGeom prst="rect">
            <a:avLst/>
          </a:prstGeom>
        </p:spPr>
      </p:pic>
      <p:pic>
        <p:nvPicPr>
          <p:cNvPr id="6148" name="Picture 4" descr="http://blogs-images.forbes.com/afontevecchia/files/2014/07/india-mobile-e140474901938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0713" y="1995850"/>
            <a:ext cx="7450228" cy="4185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894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Characteristics of a Mobile User</a:t>
            </a:r>
          </a:p>
        </p:txBody>
      </p:sp>
      <p:sp>
        <p:nvSpPr>
          <p:cNvPr id="3" name="Content Placeholder 2"/>
          <p:cNvSpPr>
            <a:spLocks noGrp="1"/>
          </p:cNvSpPr>
          <p:nvPr>
            <p:ph idx="1"/>
          </p:nvPr>
        </p:nvSpPr>
        <p:spPr/>
        <p:txBody>
          <a:bodyPr>
            <a:normAutofit/>
          </a:bodyPr>
          <a:lstStyle/>
          <a:p>
            <a:r>
              <a:rPr lang="en-US" sz="2800" b="1"/>
              <a:t>Mobile</a:t>
            </a:r>
          </a:p>
          <a:p>
            <a:r>
              <a:rPr lang="en-US" sz="2800" b="1"/>
              <a:t>Interruptible and Easily Distracted</a:t>
            </a:r>
          </a:p>
          <a:p>
            <a:r>
              <a:rPr lang="en-US" sz="2800" b="1"/>
              <a:t>Available</a:t>
            </a:r>
          </a:p>
          <a:p>
            <a:r>
              <a:rPr lang="en-US" sz="2800" b="1"/>
              <a:t>Sociable</a:t>
            </a:r>
          </a:p>
          <a:p>
            <a:r>
              <a:rPr lang="en-US" sz="2800" b="1"/>
              <a:t>Contextual</a:t>
            </a:r>
          </a:p>
          <a:p>
            <a:r>
              <a:rPr lang="en-US" sz="2800" b="1"/>
              <a:t>Identifiable</a:t>
            </a:r>
          </a:p>
          <a:p>
            <a:endParaRPr lang="en-US" sz="2800"/>
          </a:p>
        </p:txBody>
      </p:sp>
    </p:spTree>
    <p:extLst>
      <p:ext uri="{BB962C8B-B14F-4D97-AF65-F5344CB8AC3E}">
        <p14:creationId xmlns:p14="http://schemas.microsoft.com/office/powerpoint/2010/main" val="2424539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Contextual</a:t>
            </a:r>
          </a:p>
        </p:txBody>
      </p:sp>
      <p:sp>
        <p:nvSpPr>
          <p:cNvPr id="3" name="Content Placeholder 2"/>
          <p:cNvSpPr>
            <a:spLocks noGrp="1"/>
          </p:cNvSpPr>
          <p:nvPr>
            <p:ph idx="1"/>
          </p:nvPr>
        </p:nvSpPr>
        <p:spPr/>
        <p:txBody>
          <a:bodyPr>
            <a:normAutofit fontScale="92500" lnSpcReduction="10000"/>
          </a:bodyPr>
          <a:lstStyle/>
          <a:p>
            <a:r>
              <a:rPr lang="en-US" sz="2400"/>
              <a:t>•  A calendar application could switch the phone’s ringer to vibrate and intelligently communicate to the caller that the recipient is in a meeting right now. The caller could indicate message urgency – or leave a message or call later – and the recipient could decide whether to accept the call.</a:t>
            </a:r>
          </a:p>
          <a:p>
            <a:r>
              <a:rPr lang="en-US" sz="2400"/>
              <a:t>• A travel companion application can use the user’s location, the flight number, current flight status, and current traffic conditions to alert the user fifteen minutes before she needs to depart for the airport. The same application could alert meeting attendees when the application owner is going to be later.</a:t>
            </a:r>
          </a:p>
          <a:p>
            <a:r>
              <a:rPr lang="en-US" sz="2400"/>
              <a:t>• A restaurant coupon application could send coupons at lunchtime when the user is away from home and near restaurants.</a:t>
            </a:r>
          </a:p>
          <a:p>
            <a:r>
              <a:rPr lang="en-US" sz="2400" i="1">
                <a:solidFill>
                  <a:srgbClr val="FF0000"/>
                </a:solidFill>
              </a:rPr>
              <a:t>Future devices may have acceleration sensors, temperature sensors, fingerprint readers, and any number of other information sources we do not currently imagine.</a:t>
            </a:r>
          </a:p>
        </p:txBody>
      </p:sp>
    </p:spTree>
    <p:extLst>
      <p:ext uri="{BB962C8B-B14F-4D97-AF65-F5344CB8AC3E}">
        <p14:creationId xmlns:p14="http://schemas.microsoft.com/office/powerpoint/2010/main" val="3849045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Groups and Tribes</a:t>
            </a:r>
          </a:p>
        </p:txBody>
      </p:sp>
      <p:sp>
        <p:nvSpPr>
          <p:cNvPr id="3" name="Content Placeholder 2"/>
          <p:cNvSpPr>
            <a:spLocks noGrp="1"/>
          </p:cNvSpPr>
          <p:nvPr>
            <p:ph idx="1"/>
          </p:nvPr>
        </p:nvSpPr>
        <p:spPr/>
        <p:txBody>
          <a:bodyPr>
            <a:normAutofit/>
          </a:bodyPr>
          <a:lstStyle/>
          <a:p>
            <a:r>
              <a:rPr lang="en-US" sz="4000"/>
              <a:t>Voice and Texting</a:t>
            </a:r>
          </a:p>
          <a:p>
            <a:r>
              <a:rPr lang="en-US" sz="4000"/>
              <a:t>Extending Online Communities</a:t>
            </a:r>
          </a:p>
          <a:p>
            <a:r>
              <a:rPr lang="en-US" sz="4000"/>
              <a:t>Physical and Mobile Hybrids</a:t>
            </a:r>
          </a:p>
          <a:p>
            <a:r>
              <a:rPr lang="en-US" sz="4000"/>
              <a:t>Mobiles as Status</a:t>
            </a:r>
          </a:p>
        </p:txBody>
      </p:sp>
    </p:spTree>
    <p:extLst>
      <p:ext uri="{BB962C8B-B14F-4D97-AF65-F5344CB8AC3E}">
        <p14:creationId xmlns:p14="http://schemas.microsoft.com/office/powerpoint/2010/main" val="260177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Use of Mobile Device</a:t>
            </a:r>
          </a:p>
        </p:txBody>
      </p:sp>
      <p:sp>
        <p:nvSpPr>
          <p:cNvPr id="3" name="Content Placeholder 2"/>
          <p:cNvSpPr>
            <a:spLocks noGrp="1"/>
          </p:cNvSpPr>
          <p:nvPr>
            <p:ph idx="1"/>
          </p:nvPr>
        </p:nvSpPr>
        <p:spPr/>
        <p:txBody>
          <a:bodyPr>
            <a:noAutofit/>
          </a:bodyPr>
          <a:lstStyle/>
          <a:p>
            <a:r>
              <a:rPr lang="en-US" sz="2800"/>
              <a:t>• </a:t>
            </a:r>
            <a:r>
              <a:rPr lang="en-US" sz="2800" i="1">
                <a:solidFill>
                  <a:srgbClr val="FF0000"/>
                </a:solidFill>
              </a:rPr>
              <a:t>general-purpose work</a:t>
            </a:r>
            <a:r>
              <a:rPr lang="en-US" sz="2800">
                <a:solidFill>
                  <a:srgbClr val="FF0000"/>
                </a:solidFill>
              </a:rPr>
              <a:t>: </a:t>
            </a:r>
            <a:r>
              <a:rPr lang="en-US" sz="2800"/>
              <a:t>multi-purpose devices, likely to be near the user while at work only</a:t>
            </a:r>
          </a:p>
          <a:p>
            <a:r>
              <a:rPr lang="en-US" sz="2800"/>
              <a:t>• </a:t>
            </a:r>
            <a:r>
              <a:rPr lang="en-US" sz="2800" i="1">
                <a:solidFill>
                  <a:srgbClr val="FF0000"/>
                </a:solidFill>
              </a:rPr>
              <a:t>general-purpose entertainment</a:t>
            </a:r>
            <a:r>
              <a:rPr lang="en-US" sz="2800">
                <a:solidFill>
                  <a:srgbClr val="FF0000"/>
                </a:solidFill>
              </a:rPr>
              <a:t>: </a:t>
            </a:r>
            <a:r>
              <a:rPr lang="en-US" sz="2800"/>
              <a:t>multi-purpose devices with an entertainment focus, likely to be near the user when entertainment is acceptable </a:t>
            </a:r>
          </a:p>
          <a:p>
            <a:r>
              <a:rPr lang="en-US" sz="2800"/>
              <a:t>• </a:t>
            </a:r>
            <a:r>
              <a:rPr lang="en-US" sz="2800" i="1">
                <a:solidFill>
                  <a:srgbClr val="FF0000"/>
                </a:solidFill>
              </a:rPr>
              <a:t>general-purpose communications and control</a:t>
            </a:r>
            <a:r>
              <a:rPr lang="en-US" sz="2800">
                <a:solidFill>
                  <a:srgbClr val="FF0000"/>
                </a:solidFill>
              </a:rPr>
              <a:t>: </a:t>
            </a:r>
            <a:r>
              <a:rPr lang="en-US" sz="2800"/>
              <a:t>multi-purpose, personal devices, used to communicate using voice and text as well as control things like home automation or finances</a:t>
            </a:r>
          </a:p>
          <a:p>
            <a:r>
              <a:rPr lang="en-US" sz="2800"/>
              <a:t>• </a:t>
            </a:r>
            <a:r>
              <a:rPr lang="en-US" sz="2800" i="1">
                <a:solidFill>
                  <a:srgbClr val="FF0000"/>
                </a:solidFill>
              </a:rPr>
              <a:t>targeted</a:t>
            </a:r>
            <a:r>
              <a:rPr lang="en-US" sz="2800">
                <a:solidFill>
                  <a:srgbClr val="FF0000"/>
                </a:solidFill>
              </a:rPr>
              <a:t>: </a:t>
            </a:r>
            <a:r>
              <a:rPr lang="en-US" sz="2800"/>
              <a:t>devices intended for one or a very small number of tasks, with forms varying with their purpose.</a:t>
            </a:r>
          </a:p>
        </p:txBody>
      </p:sp>
    </p:spTree>
    <p:extLst>
      <p:ext uri="{BB962C8B-B14F-4D97-AF65-F5344CB8AC3E}">
        <p14:creationId xmlns:p14="http://schemas.microsoft.com/office/powerpoint/2010/main" val="929903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iOS</a:t>
            </a:r>
          </a:p>
        </p:txBody>
      </p:sp>
      <p:sp>
        <p:nvSpPr>
          <p:cNvPr id="3" name="Content Placeholder 2"/>
          <p:cNvSpPr>
            <a:spLocks noGrp="1"/>
          </p:cNvSpPr>
          <p:nvPr>
            <p:ph idx="1"/>
          </p:nvPr>
        </p:nvSpPr>
        <p:spPr>
          <a:xfrm>
            <a:off x="1097280" y="1737360"/>
            <a:ext cx="5227320" cy="4415790"/>
          </a:xfrm>
        </p:spPr>
        <p:txBody>
          <a:bodyPr>
            <a:noAutofit/>
          </a:bodyPr>
          <a:lstStyle/>
          <a:p>
            <a:pPr fontAlgn="base"/>
            <a:r>
              <a:rPr lang="en-US" sz="2400" b="1"/>
              <a:t>Deference.</a:t>
            </a:r>
            <a:r>
              <a:rPr lang="en-US" sz="2400"/>
              <a:t> The UI helps people understand and interact with the content, but never competes with it.</a:t>
            </a:r>
          </a:p>
          <a:p>
            <a:pPr fontAlgn="base"/>
            <a:r>
              <a:rPr lang="en-US" sz="2400" b="1"/>
              <a:t>Clarity.</a:t>
            </a:r>
            <a:r>
              <a:rPr lang="en-US" sz="2400"/>
              <a:t> Text is legible at every size, icons are precise and lucid, adornments are subtle and appropriate, and a sharpened focus on functionality motivates the design.</a:t>
            </a:r>
          </a:p>
          <a:p>
            <a:pPr fontAlgn="base"/>
            <a:r>
              <a:rPr lang="en-US" sz="2400" b="1"/>
              <a:t>Depth.</a:t>
            </a:r>
            <a:r>
              <a:rPr lang="en-US" sz="2400"/>
              <a:t> Visual layers and realistic motion impart vitality and heighten people’s delight and understanding.</a:t>
            </a:r>
          </a:p>
          <a:p>
            <a:endParaRPr lang="en-US" sz="2400"/>
          </a:p>
        </p:txBody>
      </p:sp>
      <p:pic>
        <p:nvPicPr>
          <p:cNvPr id="7170" name="Picture 2" descr="image: ../Art/weather_app_7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9424" y="286603"/>
            <a:ext cx="3521075" cy="602433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126480" y="6290885"/>
            <a:ext cx="6096000" cy="646331"/>
          </a:xfrm>
          <a:prstGeom prst="rect">
            <a:avLst/>
          </a:prstGeom>
        </p:spPr>
        <p:txBody>
          <a:bodyPr>
            <a:spAutoFit/>
          </a:bodyPr>
          <a:lstStyle/>
          <a:p>
            <a:r>
              <a:rPr lang="en-US" i="1">
                <a:solidFill>
                  <a:srgbClr val="FFFF00"/>
                </a:solidFill>
              </a:rPr>
              <a:t>https://developer.apple.com/library/ios/documentation/UserExperience/Conceptual/MobileHIG/index.htm</a:t>
            </a:r>
          </a:p>
        </p:txBody>
      </p:sp>
    </p:spTree>
    <p:extLst>
      <p:ext uri="{BB962C8B-B14F-4D97-AF65-F5344CB8AC3E}">
        <p14:creationId xmlns:p14="http://schemas.microsoft.com/office/powerpoint/2010/main" val="27406667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iOS Step1</a:t>
            </a:r>
          </a:p>
        </p:txBody>
      </p:sp>
      <p:sp>
        <p:nvSpPr>
          <p:cNvPr id="3" name="Content Placeholder 2"/>
          <p:cNvSpPr>
            <a:spLocks noGrp="1"/>
          </p:cNvSpPr>
          <p:nvPr>
            <p:ph idx="1"/>
          </p:nvPr>
        </p:nvSpPr>
        <p:spPr/>
        <p:txBody>
          <a:bodyPr>
            <a:normAutofit/>
          </a:bodyPr>
          <a:lstStyle/>
          <a:p>
            <a:pPr fontAlgn="base"/>
            <a:r>
              <a:rPr lang="en-US" sz="2400"/>
              <a:t>First, look past the UI to the app’s core functionality and affirm its relevance.</a:t>
            </a:r>
          </a:p>
          <a:p>
            <a:pPr fontAlgn="base"/>
            <a:r>
              <a:rPr lang="en-US" sz="2400"/>
              <a:t>Next, use the themes of iOS to inform the design of the UI and the user experience. Add details and embellishments with care and never gratuitously.</a:t>
            </a:r>
          </a:p>
          <a:p>
            <a:pPr fontAlgn="base"/>
            <a:r>
              <a:rPr lang="en-US" sz="2400"/>
              <a:t>Finally, be sure to design your UI to adapt to various devices and modes so that users can enjoy your app in as many contexts as possible.</a:t>
            </a:r>
          </a:p>
          <a:p>
            <a:pPr fontAlgn="base"/>
            <a:endParaRPr lang="en-US" sz="2400"/>
          </a:p>
          <a:p>
            <a:pPr fontAlgn="base"/>
            <a:r>
              <a:rPr lang="en-US" sz="2400" i="1"/>
              <a:t>Throughout the process, be prepared to defy precedent, question assumptions, and let a focus on content and functionality motivate every design decision</a:t>
            </a:r>
          </a:p>
          <a:p>
            <a:endParaRPr lang="en-US" sz="2400"/>
          </a:p>
        </p:txBody>
      </p:sp>
    </p:spTree>
    <p:extLst>
      <p:ext uri="{BB962C8B-B14F-4D97-AF65-F5344CB8AC3E}">
        <p14:creationId xmlns:p14="http://schemas.microsoft.com/office/powerpoint/2010/main" val="879245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Step 2</a:t>
            </a:r>
          </a:p>
        </p:txBody>
      </p:sp>
      <p:sp>
        <p:nvSpPr>
          <p:cNvPr id="3" name="Content Placeholder 2"/>
          <p:cNvSpPr>
            <a:spLocks noGrp="1"/>
          </p:cNvSpPr>
          <p:nvPr>
            <p:ph idx="1"/>
          </p:nvPr>
        </p:nvSpPr>
        <p:spPr/>
        <p:txBody>
          <a:bodyPr>
            <a:normAutofit/>
          </a:bodyPr>
          <a:lstStyle/>
          <a:p>
            <a:r>
              <a:rPr lang="en-US" sz="2400"/>
              <a:t>Take advantage of full screen</a:t>
            </a:r>
          </a:p>
        </p:txBody>
      </p:sp>
      <p:pic>
        <p:nvPicPr>
          <p:cNvPr id="8194" name="Picture 2" descr="image: ../Art/weather_focus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0006" y="286603"/>
            <a:ext cx="3509044" cy="6003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8176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a:t>Reconsider visual indicators of physicality and realism</a:t>
            </a:r>
          </a:p>
        </p:txBody>
      </p:sp>
      <p:pic>
        <p:nvPicPr>
          <p:cNvPr id="9218" name="Picture 2" descr="image: ../Art/restrain_visual_indicators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75311" y="479108"/>
            <a:ext cx="3273425" cy="5600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1555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4"/>
            <a:ext cx="4465320" cy="4023360"/>
          </a:xfrm>
        </p:spPr>
        <p:txBody>
          <a:bodyPr>
            <a:normAutofit/>
          </a:bodyPr>
          <a:lstStyle/>
          <a:p>
            <a:r>
              <a:rPr lang="en-US" sz="2400"/>
              <a:t> Translucent UI elements hint at the content behind them.</a:t>
            </a:r>
          </a:p>
        </p:txBody>
      </p:sp>
      <p:pic>
        <p:nvPicPr>
          <p:cNvPr id="10242" name="Picture 2" descr="image: ../Art/embrace_translucency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2875" y="749289"/>
            <a:ext cx="3202806" cy="5479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99388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a:t>Use plenty of negative (white) space</a:t>
            </a:r>
          </a:p>
        </p:txBody>
      </p:sp>
      <p:pic>
        <p:nvPicPr>
          <p:cNvPr id="11266" name="Picture 2" descr="image: ../Art/use_white_space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87343" y="794083"/>
            <a:ext cx="3070366" cy="5253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29993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a:t>Let color simplify the UI</a:t>
            </a:r>
          </a:p>
        </p:txBody>
      </p:sp>
      <p:pic>
        <p:nvPicPr>
          <p:cNvPr id="12290" name="Picture 2" descr="image: ../Art/notes_color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9533" y="286603"/>
            <a:ext cx="3285456" cy="5621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72778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a:t>Ensure legibility by using the system font</a:t>
            </a:r>
          </a:p>
        </p:txBody>
      </p:sp>
      <p:pic>
        <p:nvPicPr>
          <p:cNvPr id="13314" name="Picture 2" descr="image: ../Art/mail_message_fonts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3280" y="286602"/>
            <a:ext cx="3357646" cy="5744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2479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a:t>Embrace borderless buttons</a:t>
            </a:r>
          </a:p>
        </p:txBody>
      </p:sp>
      <p:pic>
        <p:nvPicPr>
          <p:cNvPr id="14338" name="Picture 2" descr="image: ../Art/contact_card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9189" y="286603"/>
            <a:ext cx="3406491" cy="5677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323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4"/>
            <a:ext cx="6484620" cy="4023360"/>
          </a:xfrm>
        </p:spPr>
        <p:txBody>
          <a:bodyPr>
            <a:normAutofit/>
          </a:bodyPr>
          <a:lstStyle/>
          <a:p>
            <a:r>
              <a:rPr lang="en-US" sz="2400"/>
              <a:t>By using a translucent background and appearing to float above the Home screen, folders separate their content from the rest of the screen.</a:t>
            </a:r>
          </a:p>
        </p:txBody>
      </p:sp>
      <p:pic>
        <p:nvPicPr>
          <p:cNvPr id="16388" name="Picture 4" descr="image: ../Art/folder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8975" y="286603"/>
            <a:ext cx="3444875" cy="5893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576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4"/>
            <a:ext cx="3627120" cy="4023360"/>
          </a:xfrm>
        </p:spPr>
        <p:txBody>
          <a:bodyPr>
            <a:normAutofit/>
          </a:bodyPr>
          <a:lstStyle/>
          <a:p>
            <a:r>
              <a:rPr lang="en-US" sz="2400"/>
              <a:t>Reminders displays lists in layers, as shown here. When users work with one list, the other lists are collected together at the bottom of the screen.</a:t>
            </a:r>
          </a:p>
        </p:txBody>
      </p:sp>
      <p:pic>
        <p:nvPicPr>
          <p:cNvPr id="17410" name="Picture 2" descr="image: ../Art/layered-reminders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47075" y="502574"/>
            <a:ext cx="3292475" cy="5633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37915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4"/>
            <a:ext cx="3703320" cy="4023360"/>
          </a:xfrm>
        </p:spPr>
        <p:txBody>
          <a:bodyPr>
            <a:normAutofit/>
          </a:bodyPr>
          <a:lstStyle/>
          <a:p>
            <a:r>
              <a:rPr lang="en-US" sz="2400"/>
              <a:t>Calendar uses enhanced transitions to give users a sense of hierarchy and depth as they move between viewing years, months, and days. In the scrolling year view shown here, users can instantly see today’s date and perform other calendar tasks.</a:t>
            </a:r>
          </a:p>
        </p:txBody>
      </p:sp>
      <p:pic>
        <p:nvPicPr>
          <p:cNvPr id="18434" name="Picture 2" descr="image: ../Art/cal_year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6075" y="286603"/>
            <a:ext cx="3456305" cy="5913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9926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4"/>
            <a:ext cx="4522470" cy="4023360"/>
          </a:xfrm>
        </p:spPr>
        <p:txBody>
          <a:bodyPr>
            <a:normAutofit/>
          </a:bodyPr>
          <a:lstStyle/>
          <a:p>
            <a:r>
              <a:rPr lang="en-US" sz="2400"/>
              <a:t>When users select a month, the year view zooms in and reveals the month view. Today’s date remains highlighted and the year appears in the back button, so users know exactly where they are, where they came from, and how to get back.</a:t>
            </a:r>
          </a:p>
        </p:txBody>
      </p:sp>
      <p:pic>
        <p:nvPicPr>
          <p:cNvPr id="19458" name="Picture 2" descr="image: ../Art/cal_month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8474" y="286603"/>
            <a:ext cx="3406775" cy="5828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948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4"/>
            <a:ext cx="4141470" cy="4023360"/>
          </a:xfrm>
        </p:spPr>
        <p:txBody>
          <a:bodyPr>
            <a:normAutofit/>
          </a:bodyPr>
          <a:lstStyle/>
          <a:p>
            <a:r>
              <a:rPr lang="en-US" sz="2400"/>
              <a:t>A similar transition happens when users select a day: The month view appears to split apart, pushing the current week to the top of the screen and revealing the hourly view of the selected day. With each transition, Calendar reinforces the hierarchical relationship between years, months, and days.</a:t>
            </a:r>
          </a:p>
        </p:txBody>
      </p:sp>
      <p:pic>
        <p:nvPicPr>
          <p:cNvPr id="20482" name="Picture 2" descr="image: ../Art/cal_day_2x.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5616" y="286603"/>
            <a:ext cx="3500584" cy="5989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412905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5883</TotalTime>
  <Words>1205</Words>
  <Application>Microsoft Macintosh PowerPoint</Application>
  <PresentationFormat>Widescreen</PresentationFormat>
  <Paragraphs>89</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Adobe Garamond Pro</vt:lpstr>
      <vt:lpstr>Calibri</vt:lpstr>
      <vt:lpstr>Calibri Light</vt:lpstr>
      <vt:lpstr>Eras Medium ITC</vt:lpstr>
      <vt:lpstr>Wingdings</vt:lpstr>
      <vt:lpstr>Retrospect</vt:lpstr>
      <vt:lpstr>Designing the mobile user experience</vt:lpstr>
      <vt:lpstr>A mobile phone is like:</vt:lpstr>
      <vt:lpstr>What real consumers think about it?</vt:lpstr>
      <vt:lpstr>What is mobile anyhow?</vt:lpstr>
      <vt:lpstr>The Carry Principle</vt:lpstr>
      <vt:lpstr>Carry Principle Implications</vt:lpstr>
      <vt:lpstr>Carry Principle for PCD Users</vt:lpstr>
      <vt:lpstr>Components of a Mobile App (1/2)</vt:lpstr>
      <vt:lpstr>Components of a Mobile App (2/2)</vt:lpstr>
      <vt:lpstr>Characteristics of a Mobile User</vt:lpstr>
      <vt:lpstr>Characteristics of a Mobile User</vt:lpstr>
      <vt:lpstr>Contextual</vt:lpstr>
      <vt:lpstr>Groups and Tribes</vt:lpstr>
      <vt:lpstr>Use of Mobile Device</vt:lpstr>
      <vt:lpstr>iOS</vt:lpstr>
      <vt:lpstr>iOS Step1</vt:lpstr>
      <vt:lpstr>Step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the mobile user experience</dc:title>
  <dc:creator>Shakeel Ahmed Khoja</dc:creator>
  <cp:lastModifiedBy>Dr. Shakeel Ahmed Khoja / Professor and Dean School of Mathematics and Computer Science</cp:lastModifiedBy>
  <cp:revision>4</cp:revision>
  <dcterms:created xsi:type="dcterms:W3CDTF">2015-09-28T05:54:07Z</dcterms:created>
  <dcterms:modified xsi:type="dcterms:W3CDTF">2025-11-17T13:42:58Z</dcterms:modified>
</cp:coreProperties>
</file>