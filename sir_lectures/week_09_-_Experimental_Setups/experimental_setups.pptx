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>
      <p:cViewPr varScale="1">
        <p:scale>
          <a:sx n="142" d="100"/>
          <a:sy n="142" d="100"/>
        </p:scale>
        <p:origin x="952" y="168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222433"/>
            <a:ext cx="9144000" cy="2492567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22243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13" name="Rectangle 12"/>
          <p:cNvSpPr/>
          <p:nvPr/>
        </p:nvSpPr>
        <p:spPr>
          <a:xfrm>
            <a:off x="0" y="2210259"/>
            <a:ext cx="9144000" cy="1905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Oval 13"/>
          <p:cNvSpPr/>
          <p:nvPr/>
        </p:nvSpPr>
        <p:spPr>
          <a:xfrm>
            <a:off x="0" y="1333500"/>
            <a:ext cx="9144000" cy="42545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4210455"/>
            <a:ext cx="5637010" cy="735099"/>
          </a:xfrm>
        </p:spPr>
        <p:txBody>
          <a:bodyPr>
            <a:normAutofit/>
          </a:bodyPr>
          <a:lstStyle>
            <a:lvl1pPr marL="0" indent="0" algn="l">
              <a:buNone/>
              <a:defRPr sz="1833">
                <a:solidFill>
                  <a:schemeClr val="tx2"/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2610242"/>
            <a:ext cx="7175351" cy="1494306"/>
          </a:xfrm>
          <a:effectLst/>
        </p:spPr>
        <p:txBody>
          <a:bodyPr>
            <a:noAutofit/>
          </a:bodyPr>
          <a:lstStyle>
            <a:lvl1pPr marL="533379" indent="-380985"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609600"/>
            <a:ext cx="6400800" cy="2895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222433"/>
            <a:ext cx="9144000" cy="2492567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22243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9" name="Rectangle 8"/>
          <p:cNvSpPr/>
          <p:nvPr/>
        </p:nvSpPr>
        <p:spPr>
          <a:xfrm>
            <a:off x="0" y="2210259"/>
            <a:ext cx="9144000" cy="1905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Oval 9"/>
          <p:cNvSpPr/>
          <p:nvPr/>
        </p:nvSpPr>
        <p:spPr>
          <a:xfrm>
            <a:off x="0" y="1333500"/>
            <a:ext cx="9144000" cy="42545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810540"/>
            <a:ext cx="5966666" cy="2019455"/>
          </a:xfrm>
          <a:effectLst/>
        </p:spPr>
        <p:txBody>
          <a:bodyPr anchor="b"/>
          <a:lstStyle>
            <a:lvl1pPr algn="r">
              <a:defRPr sz="3833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839592"/>
            <a:ext cx="5970494" cy="696217"/>
          </a:xfrm>
        </p:spPr>
        <p:txBody>
          <a:bodyPr anchor="t"/>
          <a:lstStyle>
            <a:lvl1pPr marL="0" indent="0" algn="r">
              <a:buNone/>
              <a:defRPr sz="1667">
                <a:solidFill>
                  <a:schemeClr val="tx2"/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609599"/>
            <a:ext cx="3346704" cy="2895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609600"/>
            <a:ext cx="3346704" cy="2895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609600"/>
            <a:ext cx="3346704" cy="533135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0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166939"/>
            <a:ext cx="3346704" cy="22860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609600"/>
            <a:ext cx="3346704" cy="533135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0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marL="0" lvl="0" indent="0" algn="ctr" defTabSz="761970" rtl="0" eaLnBrk="1" latinLnBrk="0" hangingPunct="1">
              <a:spcBef>
                <a:spcPct val="20000"/>
              </a:spcBef>
              <a:spcAft>
                <a:spcPts val="25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165860"/>
            <a:ext cx="3346704" cy="228600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1841501"/>
            <a:ext cx="3636085" cy="1048744"/>
          </a:xfrm>
          <a:effectLst/>
        </p:spPr>
        <p:txBody>
          <a:bodyPr anchor="b">
            <a:noAutofit/>
          </a:bodyPr>
          <a:lstStyle>
            <a:lvl1pPr marL="190492" indent="-190492" algn="l">
              <a:defRPr sz="2333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609600"/>
            <a:ext cx="4017085" cy="4078942"/>
          </a:xfrm>
        </p:spPr>
        <p:txBody>
          <a:bodyPr anchor="ctr"/>
          <a:lstStyle>
            <a:lvl1pPr>
              <a:defRPr sz="1833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1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914835"/>
            <a:ext cx="3388660" cy="1782932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222433"/>
            <a:ext cx="9144000" cy="2492567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22243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10" name="Rectangle 9"/>
          <p:cNvSpPr/>
          <p:nvPr/>
        </p:nvSpPr>
        <p:spPr>
          <a:xfrm>
            <a:off x="0" y="2210259"/>
            <a:ext cx="9144000" cy="1905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Oval 10"/>
          <p:cNvSpPr/>
          <p:nvPr/>
        </p:nvSpPr>
        <p:spPr>
          <a:xfrm>
            <a:off x="0" y="1333500"/>
            <a:ext cx="9144000" cy="42545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952500"/>
            <a:ext cx="4114800" cy="260650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1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842071"/>
            <a:ext cx="3694114" cy="1802517"/>
          </a:xfrm>
        </p:spPr>
        <p:txBody>
          <a:bodyPr anchor="b"/>
          <a:lstStyle>
            <a:lvl1pPr marL="152394" indent="-152394">
              <a:buFont typeface="Georgia" pitchFamily="18" charset="0"/>
              <a:buChar char="*"/>
              <a:defRPr sz="1333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720351"/>
            <a:ext cx="6383538" cy="952500"/>
          </a:xfrm>
        </p:spPr>
        <p:txBody>
          <a:bodyPr anchor="b">
            <a:noAutofit/>
          </a:bodyPr>
          <a:lstStyle>
            <a:lvl1pPr algn="l">
              <a:defRPr sz="3833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609599"/>
            <a:ext cx="6400800" cy="2895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13764"/>
            <a:ext cx="2057400" cy="4365283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609599"/>
            <a:ext cx="4829287" cy="407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254500"/>
            <a:ext cx="9144000" cy="14605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425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9" name="Rectangle 8"/>
          <p:cNvSpPr/>
          <p:nvPr/>
        </p:nvSpPr>
        <p:spPr>
          <a:xfrm>
            <a:off x="0" y="3140253"/>
            <a:ext cx="9144000" cy="1905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Oval 9"/>
          <p:cNvSpPr/>
          <p:nvPr/>
        </p:nvSpPr>
        <p:spPr>
          <a:xfrm>
            <a:off x="0" y="1333500"/>
            <a:ext cx="9144000" cy="42545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643473"/>
            <a:ext cx="6512511" cy="9525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610217"/>
            <a:ext cx="64008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5143500"/>
            <a:ext cx="2514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7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9D6441B-BF41-44B4-8DAC-5C633DDE5590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143500"/>
            <a:ext cx="3352801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7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5143500"/>
            <a:ext cx="1828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7AF4BB4-17B8-4FFA-B96E-4EF015C67BF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266689" indent="-266689" algn="r" defTabSz="76197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3833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90492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3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182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773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363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33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58194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86785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638234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04924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56374" indent="-152394" algn="l" defTabSz="761970" rtl="0" eaLnBrk="1" latinLnBrk="0" hangingPunct="1">
        <a:spcBef>
          <a:spcPct val="20000"/>
        </a:spcBef>
        <a:spcAft>
          <a:spcPts val="25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Experimental Setups</a:t>
            </a:r>
          </a:p>
        </p:txBody>
      </p:sp>
    </p:spTree>
    <p:extLst>
      <p:ext uri="{BB962C8B-B14F-4D97-AF65-F5344CB8AC3E}">
        <p14:creationId xmlns:p14="http://schemas.microsoft.com/office/powerpoint/2010/main" val="197127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132729"/>
            <a:ext cx="6512511" cy="952500"/>
          </a:xfrm>
        </p:spPr>
        <p:txBody>
          <a:bodyPr/>
          <a:lstStyle/>
          <a:p>
            <a:r>
              <a:rPr lang="en-US" dirty="0"/>
              <a:t>Techniques for building in usability?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495298" indent="-457200">
              <a:buFont typeface="+mj-lt"/>
              <a:buAutoNum type="arabicPeriod"/>
            </a:pPr>
            <a:r>
              <a:rPr lang="en-US" dirty="0"/>
              <a:t>Ethnographic research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Participatory design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Focus group research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Surveys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Walkthroughs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Open and closed card sorting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Paper prototyping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Expert or Heuristic Evaluations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Usability Testing</a:t>
            </a:r>
          </a:p>
          <a:p>
            <a:pPr marL="495298" indent="-457200">
              <a:buFont typeface="+mj-lt"/>
              <a:buAutoNum type="arabicPeriod"/>
            </a:pPr>
            <a:r>
              <a:rPr lang="en-US" dirty="0"/>
              <a:t>Follow-up studies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18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4127500"/>
            <a:ext cx="5397500" cy="952500"/>
          </a:xfrm>
        </p:spPr>
        <p:txBody>
          <a:bodyPr/>
          <a:lstStyle/>
          <a:p>
            <a:r>
              <a:rPr lang="en-US" dirty="0"/>
              <a:t>Ethnographic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Qualitative method</a:t>
            </a:r>
          </a:p>
          <a:p>
            <a:endParaRPr lang="en-US" dirty="0"/>
          </a:p>
          <a:p>
            <a:r>
              <a:rPr lang="en-US" dirty="0"/>
              <a:t>Observing users where they would use the product</a:t>
            </a:r>
          </a:p>
          <a:p>
            <a:endParaRPr lang="en-US" dirty="0"/>
          </a:p>
          <a:p>
            <a:r>
              <a:rPr lang="en-US" dirty="0"/>
              <a:t>Gather data about target (user, tasks, goals)</a:t>
            </a:r>
          </a:p>
          <a:p>
            <a:endParaRPr lang="en-US" dirty="0"/>
          </a:p>
          <a:p>
            <a:r>
              <a:rPr lang="en-US" dirty="0"/>
              <a:t>Personas, profiles, scenarios, task descriptions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3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Participatory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Users are on board with the design team tapping user’s knowledge, skill set and emotional reactions to design</a:t>
            </a:r>
          </a:p>
          <a:p>
            <a:endParaRPr lang="en-US" dirty="0"/>
          </a:p>
          <a:p>
            <a:r>
              <a:rPr lang="en-US" dirty="0"/>
              <a:t>Workshops are arranged where users, designers, and developers work together on an aspect of design</a:t>
            </a:r>
          </a:p>
        </p:txBody>
      </p:sp>
    </p:spTree>
    <p:extLst>
      <p:ext uri="{BB962C8B-B14F-4D97-AF65-F5344CB8AC3E}">
        <p14:creationId xmlns:p14="http://schemas.microsoft.com/office/powerpoint/2010/main" val="183099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Group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at the early stages of a project to evaluate preliminary concepts with rep. users (brain storming sessions)</a:t>
            </a:r>
          </a:p>
          <a:p>
            <a:endParaRPr lang="en-US" dirty="0"/>
          </a:p>
          <a:p>
            <a:r>
              <a:rPr lang="en-US" dirty="0"/>
              <a:t>“Proof of Concept” preview</a:t>
            </a:r>
          </a:p>
          <a:p>
            <a:endParaRPr lang="en-US" dirty="0"/>
          </a:p>
          <a:p>
            <a:r>
              <a:rPr lang="en-US" dirty="0"/>
              <a:t>Paper &amp; pencil drawings, story boards, plastic models are used as tools</a:t>
            </a:r>
          </a:p>
          <a:p>
            <a:endParaRPr lang="en-US" dirty="0"/>
          </a:p>
          <a:p>
            <a:pPr marL="3809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09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Used at initial stage of product implementation</a:t>
            </a:r>
          </a:p>
          <a:p>
            <a:endParaRPr lang="en-US" dirty="0"/>
          </a:p>
          <a:p>
            <a:r>
              <a:rPr lang="en-US" dirty="0"/>
              <a:t>Checking preferences of a broad base of users about an existing or potential product</a:t>
            </a:r>
          </a:p>
          <a:p>
            <a:endParaRPr lang="en-US" dirty="0"/>
          </a:p>
          <a:p>
            <a:r>
              <a:rPr lang="en-US" dirty="0"/>
              <a:t>Open ended / closed ended questions</a:t>
            </a:r>
          </a:p>
          <a:p>
            <a:endParaRPr lang="en-US" dirty="0"/>
          </a:p>
          <a:p>
            <a:r>
              <a:rPr lang="en-US" dirty="0"/>
              <a:t>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59300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Often used at prototype stage</a:t>
            </a:r>
          </a:p>
          <a:p>
            <a:endParaRPr lang="en-US" dirty="0"/>
          </a:p>
          <a:p>
            <a:r>
              <a:rPr lang="en-US" dirty="0"/>
              <a:t>Explore how user might fare with a product by envisioning user’s route through an early concept or prototype</a:t>
            </a:r>
          </a:p>
          <a:p>
            <a:endParaRPr lang="en-US" dirty="0"/>
          </a:p>
          <a:p>
            <a:r>
              <a:rPr lang="en-US" dirty="0"/>
              <a:t>Used to develop work guides</a:t>
            </a:r>
          </a:p>
          <a:p>
            <a:endParaRPr lang="en-US" dirty="0"/>
          </a:p>
          <a:p>
            <a:r>
              <a:rPr lang="en-US" dirty="0"/>
              <a:t>Participants assume specific roles</a:t>
            </a:r>
          </a:p>
        </p:txBody>
      </p:sp>
    </p:spTree>
    <p:extLst>
      <p:ext uri="{BB962C8B-B14F-4D97-AF65-F5344CB8AC3E}">
        <p14:creationId xmlns:p14="http://schemas.microsoft.com/office/powerpoint/2010/main" val="89242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and closed </a:t>
            </a:r>
            <a:br>
              <a:rPr lang="en-US" dirty="0"/>
            </a:br>
            <a:r>
              <a:rPr lang="en-US" dirty="0"/>
              <a:t>card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design “</a:t>
            </a:r>
            <a:r>
              <a:rPr lang="en-US" sz="1800" b="1" dirty="0" err="1">
                <a:solidFill>
                  <a:srgbClr val="FF0000"/>
                </a:solidFill>
              </a:rPr>
              <a:t>findability</a:t>
            </a:r>
            <a:r>
              <a:rPr lang="en-US" dirty="0"/>
              <a:t>” of content or functionality</a:t>
            </a:r>
          </a:p>
          <a:p>
            <a:endParaRPr lang="en-US" dirty="0"/>
          </a:p>
          <a:p>
            <a:r>
              <a:rPr lang="en-US" dirty="0"/>
              <a:t>Participants are given cards showing content without titles or categories, and have the users do the naming (open)</a:t>
            </a:r>
          </a:p>
          <a:p>
            <a:endParaRPr lang="en-US" dirty="0"/>
          </a:p>
          <a:p>
            <a:r>
              <a:rPr lang="en-US" dirty="0"/>
              <a:t>Participants use preexisting categories and ask users to sort content or functions into those categories. </a:t>
            </a:r>
          </a:p>
        </p:txBody>
      </p:sp>
    </p:spTree>
    <p:extLst>
      <p:ext uri="{BB962C8B-B14F-4D97-AF65-F5344CB8AC3E}">
        <p14:creationId xmlns:p14="http://schemas.microsoft.com/office/powerpoint/2010/main" val="317131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Users are shown an aspect of a product on paper and ask questions about it</a:t>
            </a:r>
          </a:p>
          <a:p>
            <a:endParaRPr lang="en-US" dirty="0"/>
          </a:p>
          <a:p>
            <a:r>
              <a:rPr lang="en-US" dirty="0"/>
              <a:t>Expert mockup responses on a graph paper</a:t>
            </a:r>
          </a:p>
        </p:txBody>
      </p:sp>
    </p:spTree>
    <p:extLst>
      <p:ext uri="{BB962C8B-B14F-4D97-AF65-F5344CB8AC3E}">
        <p14:creationId xmlns:p14="http://schemas.microsoft.com/office/powerpoint/2010/main" val="202078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 or Heuristic Evaluations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Review of a product or a system, usually by an expert</a:t>
            </a:r>
          </a:p>
          <a:p>
            <a:endParaRPr lang="en-US" dirty="0"/>
          </a:p>
          <a:p>
            <a:r>
              <a:rPr lang="en-US" dirty="0"/>
              <a:t>“double specialist”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73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Techniques to collect empirical data while observing end users using the product</a:t>
            </a:r>
          </a:p>
          <a:p>
            <a:endParaRPr lang="en-US" dirty="0"/>
          </a:p>
          <a:p>
            <a:r>
              <a:rPr lang="en-US" dirty="0"/>
              <a:t>Formal tests as true experiments </a:t>
            </a:r>
            <a:r>
              <a:rPr lang="en-US" dirty="0">
                <a:sym typeface="Wingdings" pitchFamily="2" charset="2"/>
              </a:rPr>
              <a:t> confirm/refute specific hypothesis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Iterative cycles of tests  expose usability deficiencies and gradually shaping the product in 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427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105718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testing?</a:t>
            </a:r>
            <a:br>
              <a:rPr lang="en-US" dirty="0"/>
            </a:br>
            <a:r>
              <a:rPr lang="en-US" dirty="0"/>
              <a:t>(goals)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Informing Design</a:t>
            </a:r>
          </a:p>
          <a:p>
            <a:endParaRPr lang="en-US" dirty="0"/>
          </a:p>
          <a:p>
            <a:r>
              <a:rPr lang="en-US" dirty="0"/>
              <a:t>Eliminating Design Problems and Frustration</a:t>
            </a:r>
          </a:p>
          <a:p>
            <a:endParaRPr lang="en-US" dirty="0"/>
          </a:p>
          <a:p>
            <a:r>
              <a:rPr lang="en-US" dirty="0"/>
              <a:t>Improving Profitability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5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methodology (classical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Hypothesis must be formulated</a:t>
            </a:r>
          </a:p>
          <a:p>
            <a:r>
              <a:rPr lang="en-US" dirty="0"/>
              <a:t>Randomly chosen participants must be assigned to experimental conditions</a:t>
            </a:r>
          </a:p>
          <a:p>
            <a:r>
              <a:rPr lang="en-US" dirty="0"/>
              <a:t>Tight controls</a:t>
            </a:r>
          </a:p>
          <a:p>
            <a:r>
              <a:rPr lang="en-US" dirty="0"/>
              <a:t>Control groups</a:t>
            </a:r>
          </a:p>
          <a:p>
            <a:r>
              <a:rPr lang="en-US" dirty="0"/>
              <a:t>Sample must be of sufficient size to measure statistically significant differences</a:t>
            </a:r>
          </a:p>
        </p:txBody>
      </p:sp>
    </p:spTree>
    <p:extLst>
      <p:ext uri="{BB962C8B-B14F-4D97-AF65-F5344CB8AC3E}">
        <p14:creationId xmlns:p14="http://schemas.microsoft.com/office/powerpoint/2010/main" val="1292444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9500" y="4572000"/>
            <a:ext cx="5427093" cy="952500"/>
          </a:xfrm>
        </p:spPr>
        <p:txBody>
          <a:bodyPr/>
          <a:lstStyle/>
          <a:p>
            <a:r>
              <a:rPr lang="en-US" dirty="0"/>
              <a:t>Basic Elements of 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317500"/>
            <a:ext cx="8229600" cy="4254500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Development of research questions or test objectives rather than a hypothesis</a:t>
            </a:r>
          </a:p>
          <a:p>
            <a:endParaRPr lang="en-US" sz="1600" dirty="0"/>
          </a:p>
          <a:p>
            <a:r>
              <a:rPr lang="en-US" sz="1600" dirty="0"/>
              <a:t>Use of a representative sample of end users, which may or may not be randomly chosen</a:t>
            </a:r>
          </a:p>
          <a:p>
            <a:endParaRPr lang="en-US" sz="1600" dirty="0"/>
          </a:p>
          <a:p>
            <a:r>
              <a:rPr lang="en-US" sz="1600" dirty="0"/>
              <a:t>Representation of the actual work environment</a:t>
            </a:r>
          </a:p>
          <a:p>
            <a:endParaRPr lang="en-US" sz="1600" dirty="0"/>
          </a:p>
          <a:p>
            <a:r>
              <a:rPr lang="en-US" sz="1600" dirty="0"/>
              <a:t>Observation of the end users who either use or review a representation of the product</a:t>
            </a:r>
          </a:p>
          <a:p>
            <a:endParaRPr lang="en-US" sz="1600" dirty="0"/>
          </a:p>
          <a:p>
            <a:r>
              <a:rPr lang="en-US" sz="1600" dirty="0"/>
              <a:t>Controlled and sometimes extensive interviewing and probing of the participants by the test moderator</a:t>
            </a:r>
          </a:p>
          <a:p>
            <a:endParaRPr lang="en-US" sz="1600" dirty="0"/>
          </a:p>
          <a:p>
            <a:r>
              <a:rPr lang="en-US" sz="1600" dirty="0"/>
              <a:t>Collection of quantitative and qualitative performance and preference measures</a:t>
            </a:r>
          </a:p>
          <a:p>
            <a:endParaRPr lang="en-US" sz="1600" dirty="0"/>
          </a:p>
          <a:p>
            <a:r>
              <a:rPr lang="en-US" sz="1600" dirty="0"/>
              <a:t>Recommendations for improvements to the design of the product</a:t>
            </a:r>
          </a:p>
        </p:txBody>
      </p:sp>
    </p:spTree>
    <p:extLst>
      <p:ext uri="{BB962C8B-B14F-4D97-AF65-F5344CB8AC3E}">
        <p14:creationId xmlns:p14="http://schemas.microsoft.com/office/powerpoint/2010/main" val="3245539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873500"/>
            <a:ext cx="5427093" cy="952500"/>
          </a:xfrm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Testing is always an artificial situation</a:t>
            </a:r>
          </a:p>
          <a:p>
            <a:endParaRPr lang="en-US" dirty="0"/>
          </a:p>
          <a:p>
            <a:r>
              <a:rPr lang="en-US" dirty="0"/>
              <a:t>Test results do not prove that a product works</a:t>
            </a:r>
          </a:p>
          <a:p>
            <a:endParaRPr lang="en-US" dirty="0"/>
          </a:p>
          <a:p>
            <a:r>
              <a:rPr lang="en-US" dirty="0"/>
              <a:t>Participants are rarely fully representative of the target population</a:t>
            </a:r>
          </a:p>
          <a:p>
            <a:endParaRPr lang="en-US" dirty="0"/>
          </a:p>
          <a:p>
            <a:r>
              <a:rPr lang="en-US" dirty="0"/>
              <a:t>Testing is not always the best technique to use</a:t>
            </a:r>
          </a:p>
        </p:txBody>
      </p:sp>
    </p:spTree>
    <p:extLst>
      <p:ext uri="{BB962C8B-B14F-4D97-AF65-F5344CB8AC3E}">
        <p14:creationId xmlns:p14="http://schemas.microsoft.com/office/powerpoint/2010/main" val="4068182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Exploratory (formative)</a:t>
            </a:r>
          </a:p>
          <a:p>
            <a:endParaRPr lang="en-US" dirty="0"/>
          </a:p>
          <a:p>
            <a:r>
              <a:rPr lang="en-US" dirty="0"/>
              <a:t>Assessment (summative)</a:t>
            </a:r>
          </a:p>
          <a:p>
            <a:endParaRPr lang="en-US" dirty="0"/>
          </a:p>
          <a:p>
            <a:r>
              <a:rPr lang="en-US" dirty="0"/>
              <a:t>Validation (verification)</a:t>
            </a:r>
          </a:p>
          <a:p>
            <a:endParaRPr lang="en-US" dirty="0"/>
          </a:p>
          <a:p>
            <a:r>
              <a:rPr lang="en-US" dirty="0"/>
              <a:t>Comparison </a:t>
            </a:r>
            <a:r>
              <a:rPr lang="en-US" i="1" dirty="0"/>
              <a:t>(integral part of above three)</a:t>
            </a:r>
          </a:p>
        </p:txBody>
      </p:sp>
    </p:spTree>
    <p:extLst>
      <p:ext uri="{BB962C8B-B14F-4D97-AF65-F5344CB8AC3E}">
        <p14:creationId xmlns:p14="http://schemas.microsoft.com/office/powerpoint/2010/main" val="3222035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://profs.info.uaic.ro/~stefan.negru/hci2011/img/usab_test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444500"/>
            <a:ext cx="5461000" cy="500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576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or Formative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14500" y="609600"/>
            <a:ext cx="6667500" cy="2895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When: Quite early in the development cycle</a:t>
            </a:r>
          </a:p>
          <a:p>
            <a:r>
              <a:rPr lang="en-US" dirty="0"/>
              <a:t>Objective: to examine the effectiveness of </a:t>
            </a:r>
            <a:br>
              <a:rPr lang="en-US" dirty="0"/>
            </a:br>
            <a:r>
              <a:rPr lang="en-US" dirty="0"/>
              <a:t>                 preliminary design</a:t>
            </a:r>
          </a:p>
          <a:p>
            <a:r>
              <a:rPr lang="en-US" dirty="0"/>
              <a:t>Example: A app designer interested in identifying how </a:t>
            </a:r>
            <a:br>
              <a:rPr lang="en-US" dirty="0"/>
            </a:br>
            <a:r>
              <a:rPr lang="en-US" dirty="0"/>
              <a:t>               well the interface:</a:t>
            </a:r>
          </a:p>
          <a:p>
            <a:pPr lvl="1"/>
            <a:r>
              <a:rPr lang="en-US" dirty="0"/>
              <a:t>Supports users’ tasks within a goal</a:t>
            </a:r>
          </a:p>
          <a:p>
            <a:pPr lvl="1"/>
            <a:r>
              <a:rPr lang="en-US" dirty="0"/>
              <a:t>Communicates the intended workflow</a:t>
            </a:r>
          </a:p>
          <a:p>
            <a:pPr lvl="1"/>
            <a:r>
              <a:rPr lang="en-US" dirty="0"/>
              <a:t>Allows the user to navigate from screen to screen and within a screen</a:t>
            </a:r>
          </a:p>
        </p:txBody>
      </p:sp>
    </p:spTree>
    <p:extLst>
      <p:ext uri="{BB962C8B-B14F-4D97-AF65-F5344CB8AC3E}">
        <p14:creationId xmlns:p14="http://schemas.microsoft.com/office/powerpoint/2010/main" val="3333317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or Formative Study(II)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Task-oriented user perspective:</a:t>
            </a:r>
          </a:p>
          <a:p>
            <a:pPr lvl="1"/>
            <a:r>
              <a:rPr lang="en-US" dirty="0"/>
              <a:t>Overall organization of subject matter</a:t>
            </a:r>
          </a:p>
          <a:p>
            <a:pPr lvl="1"/>
            <a:r>
              <a:rPr lang="en-US" dirty="0"/>
              <a:t>Whether to use a graphic or verbal approach</a:t>
            </a:r>
          </a:p>
          <a:p>
            <a:pPr lvl="1"/>
            <a:r>
              <a:rPr lang="en-US" dirty="0"/>
              <a:t>How well does the proposed format support findability</a:t>
            </a:r>
          </a:p>
          <a:p>
            <a:pPr lvl="1"/>
            <a:r>
              <a:rPr lang="en-US" dirty="0"/>
              <a:t>Anticipated points of assistance and messaging</a:t>
            </a:r>
          </a:p>
          <a:p>
            <a:pPr lvl="1"/>
            <a:r>
              <a:rPr lang="en-US" dirty="0"/>
              <a:t>How to address reference information</a:t>
            </a:r>
          </a:p>
        </p:txBody>
      </p:sp>
    </p:spTree>
    <p:extLst>
      <p:ext uri="{BB962C8B-B14F-4D97-AF65-F5344CB8AC3E}">
        <p14:creationId xmlns:p14="http://schemas.microsoft.com/office/powerpoint/2010/main" val="3749414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or Formative Study(III)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33500" y="254000"/>
            <a:ext cx="6350000" cy="3556000"/>
          </a:xfrm>
        </p:spPr>
        <p:txBody>
          <a:bodyPr>
            <a:normAutofit fontScale="92500"/>
          </a:bodyPr>
          <a:lstStyle/>
          <a:p>
            <a:r>
              <a:rPr lang="en-US" dirty="0"/>
              <a:t>Typical user-oriented questions:</a:t>
            </a:r>
          </a:p>
          <a:p>
            <a:pPr lvl="1"/>
            <a:r>
              <a:rPr lang="en-US" dirty="0"/>
              <a:t>What do users conceive and think about using the product?</a:t>
            </a:r>
          </a:p>
          <a:p>
            <a:pPr lvl="1"/>
            <a:r>
              <a:rPr lang="en-US" dirty="0"/>
              <a:t>Does the product’s basic functionality have value to the user?</a:t>
            </a:r>
          </a:p>
          <a:p>
            <a:pPr lvl="1"/>
            <a:r>
              <a:rPr lang="en-US" dirty="0"/>
              <a:t>How easily do users make inferences about how to use this user interface, based on their previous experience?</a:t>
            </a:r>
          </a:p>
          <a:p>
            <a:pPr lvl="1"/>
            <a:r>
              <a:rPr lang="en-US" dirty="0"/>
              <a:t>What type of prerequisite information is required to use the product?</a:t>
            </a:r>
          </a:p>
          <a:p>
            <a:pPr lvl="1"/>
            <a:r>
              <a:rPr lang="en-US" dirty="0"/>
              <a:t>Which functions of the product are “walk up and use” and which will probably require either the help of written documentation?</a:t>
            </a:r>
          </a:p>
          <a:p>
            <a:pPr lvl="1"/>
            <a:r>
              <a:rPr lang="en-US" dirty="0"/>
              <a:t>How should the table of contents be organized to accommodate both novice and experienced users?</a:t>
            </a:r>
          </a:p>
        </p:txBody>
      </p:sp>
    </p:spTree>
    <p:extLst>
      <p:ext uri="{BB962C8B-B14F-4D97-AF65-F5344CB8AC3E}">
        <p14:creationId xmlns:p14="http://schemas.microsoft.com/office/powerpoint/2010/main" val="2341367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or Formative Study(IV)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Overview of methodology</a:t>
            </a:r>
          </a:p>
          <a:p>
            <a:pPr lvl="1"/>
            <a:r>
              <a:rPr lang="en-US" dirty="0"/>
              <a:t>Prototypes (horizontal representation)</a:t>
            </a:r>
          </a:p>
          <a:p>
            <a:pPr lvl="1"/>
            <a:r>
              <a:rPr lang="en-US" dirty="0"/>
              <a:t>Walk through (vertical representation)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783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05" y="123660"/>
            <a:ext cx="2873375" cy="217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0" y="116973"/>
            <a:ext cx="4579938" cy="5407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4648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or Summative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143000" y="609600"/>
            <a:ext cx="4876800" cy="289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When: 	either early or midway into the 		product development cycle, 			usually after the fundamental or 		high level design.</a:t>
            </a:r>
          </a:p>
          <a:p>
            <a:r>
              <a:rPr lang="en-US" dirty="0"/>
              <a:t>Objective: 	to expand the findings of the 			exploratory test by evaluating 			usability of lower level 				operations and aspects </a:t>
            </a:r>
            <a:br>
              <a:rPr lang="en-US" dirty="0"/>
            </a:br>
            <a:r>
              <a:rPr lang="en-US" dirty="0"/>
              <a:t>		of the product.</a:t>
            </a:r>
          </a:p>
          <a:p>
            <a:r>
              <a:rPr lang="en-US" dirty="0"/>
              <a:t>Example:	how well a user can actually 			perform a full blown realistic 			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731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or Summative Test(II)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Methodology:</a:t>
            </a:r>
          </a:p>
          <a:p>
            <a:pPr lvl="1"/>
            <a:r>
              <a:rPr lang="en-US" dirty="0"/>
              <a:t>The user will always perform tasks rather than simply walking through and commenting upon screens, pages and so on.</a:t>
            </a:r>
          </a:p>
          <a:p>
            <a:pPr lvl="1"/>
            <a:r>
              <a:rPr lang="en-US" dirty="0"/>
              <a:t>The test moderator will lessen his or her interaction with the participant because there is less emphasis on thought processes and more on actual behaviors.</a:t>
            </a:r>
          </a:p>
          <a:p>
            <a:pPr lvl="1"/>
            <a:r>
              <a:rPr lang="en-US" dirty="0"/>
              <a:t>Quantitative measures will be collected.</a:t>
            </a:r>
          </a:p>
        </p:txBody>
      </p:sp>
    </p:spTree>
    <p:extLst>
      <p:ext uri="{BB962C8B-B14F-4D97-AF65-F5344CB8AC3E}">
        <p14:creationId xmlns:p14="http://schemas.microsoft.com/office/powerpoint/2010/main" val="3956899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or  Verification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14500" y="254000"/>
            <a:ext cx="5334000" cy="3619500"/>
          </a:xfrm>
        </p:spPr>
        <p:txBody>
          <a:bodyPr>
            <a:normAutofit/>
          </a:bodyPr>
          <a:lstStyle/>
          <a:p>
            <a:r>
              <a:rPr lang="en-US" dirty="0"/>
              <a:t>When	Late in deployment cycle</a:t>
            </a:r>
          </a:p>
          <a:p>
            <a:endParaRPr lang="en-US" dirty="0"/>
          </a:p>
          <a:p>
            <a:r>
              <a:rPr lang="en-US" dirty="0"/>
              <a:t>Objective	Measure usability of a product 		against established benchmarks. In 		case of verification test, to 			confirm that problems discovered 		earlier have been removed and 		new ones have not been 			introduced.</a:t>
            </a:r>
          </a:p>
          <a:p>
            <a:r>
              <a:rPr lang="en-US" dirty="0"/>
              <a:t>Example 	Comparison against established 		benchmarks.</a:t>
            </a:r>
          </a:p>
        </p:txBody>
      </p:sp>
    </p:spTree>
    <p:extLst>
      <p:ext uri="{BB962C8B-B14F-4D97-AF65-F5344CB8AC3E}">
        <p14:creationId xmlns:p14="http://schemas.microsoft.com/office/powerpoint/2010/main" val="3736640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or  Verification Test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  <a:p>
            <a:pPr lvl="1"/>
            <a:r>
              <a:rPr lang="en-US" dirty="0"/>
              <a:t>Prior to test, standards or benchmarks for the tasks are either developed or identified.</a:t>
            </a:r>
          </a:p>
          <a:p>
            <a:pPr lvl="1"/>
            <a:r>
              <a:rPr lang="en-US" dirty="0"/>
              <a:t>Participants are given tasks to perform with either very little or no interaction with the test moderator.</a:t>
            </a:r>
          </a:p>
          <a:p>
            <a:pPr lvl="1"/>
            <a:r>
              <a:rPr lang="en-US" dirty="0"/>
              <a:t>Collection of quantitative data is the central focus, although reasons for substandard performance are identified.</a:t>
            </a:r>
          </a:p>
        </p:txBody>
      </p:sp>
    </p:spTree>
    <p:extLst>
      <p:ext uri="{BB962C8B-B14F-4D97-AF65-F5344CB8AC3E}">
        <p14:creationId xmlns:p14="http://schemas.microsoft.com/office/powerpoint/2010/main" val="4133723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14500" y="444500"/>
            <a:ext cx="5334000" cy="30607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	not associated with any specific 		point in the product life cycle.</a:t>
            </a:r>
          </a:p>
          <a:p>
            <a:endParaRPr lang="en-US" dirty="0"/>
          </a:p>
          <a:p>
            <a:r>
              <a:rPr lang="en-US" dirty="0"/>
              <a:t>Objective	Used in conjunction of the first 		three tests. It is used to compare 		two or more designs.</a:t>
            </a:r>
          </a:p>
          <a:p>
            <a:endParaRPr lang="en-US" dirty="0"/>
          </a:p>
          <a:p>
            <a:r>
              <a:rPr lang="en-US" dirty="0"/>
              <a:t>Example	Compare two different interface 		styles, or the current design of 		manual, etc.</a:t>
            </a:r>
          </a:p>
        </p:txBody>
      </p:sp>
    </p:spTree>
    <p:extLst>
      <p:ext uri="{BB962C8B-B14F-4D97-AF65-F5344CB8AC3E}">
        <p14:creationId xmlns:p14="http://schemas.microsoft.com/office/powerpoint/2010/main" val="3516446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Test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  <a:p>
            <a:pPr lvl="1"/>
            <a:r>
              <a:rPr lang="en-US" dirty="0"/>
              <a:t>The design team is forced to stretch its conceptions of what will work rather than just continuing along in predictable pattern.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During the test, the participant is forced to really consider why one design in better and which aspects make it do so.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60065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725</TotalTime>
  <Words>1168</Words>
  <Application>Microsoft Macintosh PowerPoint</Application>
  <PresentationFormat>On-screen Show (16:10)</PresentationFormat>
  <Paragraphs>165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Georgia</vt:lpstr>
      <vt:lpstr>Trebuchet MS</vt:lpstr>
      <vt:lpstr>Wingdings</vt:lpstr>
      <vt:lpstr>Slipstream</vt:lpstr>
      <vt:lpstr>Experimental Setups</vt:lpstr>
      <vt:lpstr>Techniques for building in usability?</vt:lpstr>
      <vt:lpstr>Ethnographic Research</vt:lpstr>
      <vt:lpstr>Participatory Design</vt:lpstr>
      <vt:lpstr>Focus Group Research</vt:lpstr>
      <vt:lpstr>Surveys</vt:lpstr>
      <vt:lpstr>Walkthroughs</vt:lpstr>
      <vt:lpstr>Open and closed  card sorting</vt:lpstr>
      <vt:lpstr>Paper Prototyping</vt:lpstr>
      <vt:lpstr>Expert or Heuristic Evaluations</vt:lpstr>
      <vt:lpstr>Usability Testing</vt:lpstr>
      <vt:lpstr>Usability Testing</vt:lpstr>
      <vt:lpstr>Why testing? (goals)</vt:lpstr>
      <vt:lpstr>Basics of methodology (classical approach)</vt:lpstr>
      <vt:lpstr>Basic Elements of Usability Testing</vt:lpstr>
      <vt:lpstr>Limitations</vt:lpstr>
      <vt:lpstr>Types of test</vt:lpstr>
      <vt:lpstr>PowerPoint Presentation</vt:lpstr>
      <vt:lpstr>Exploratory or Formative Study</vt:lpstr>
      <vt:lpstr>Exploratory or Formative Study(II)</vt:lpstr>
      <vt:lpstr>Exploratory or Formative Study(III)</vt:lpstr>
      <vt:lpstr>Exploratory or Formative Study(IV)</vt:lpstr>
      <vt:lpstr>PowerPoint Presentation</vt:lpstr>
      <vt:lpstr>Assessment or Summative Test</vt:lpstr>
      <vt:lpstr>Assessment or Summative Test(II)</vt:lpstr>
      <vt:lpstr>Validation or  Verification Test</vt:lpstr>
      <vt:lpstr>Validation or  Verification Test (II)</vt:lpstr>
      <vt:lpstr>Comparison Test</vt:lpstr>
      <vt:lpstr>Comparison Test (ii)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Usability testing</dc:title>
  <dc:creator>Dr. Shakeel Ahmed Khoja</dc:creator>
  <cp:lastModifiedBy>Dr. Shakeel Ahmed Khoja / Professor and Dean School of Mathematics and Computer Science</cp:lastModifiedBy>
  <cp:revision>15</cp:revision>
  <dcterms:created xsi:type="dcterms:W3CDTF">2011-10-19T07:06:30Z</dcterms:created>
  <dcterms:modified xsi:type="dcterms:W3CDTF">2025-11-02T19:12:43Z</dcterms:modified>
</cp:coreProperties>
</file>