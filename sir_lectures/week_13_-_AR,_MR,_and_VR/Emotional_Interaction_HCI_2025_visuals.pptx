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 snapToObjects="1">
      <p:cViewPr varScale="1">
        <p:scale>
          <a:sx n="159" d="100"/>
          <a:sy n="159" d="100"/>
        </p:scale>
        <p:origin x="472" y="1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6B45A-CA28-BA4E-9869-63F98178405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93169-A9ED-A148-9BAE-E35D2D3A3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81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93169-A9ED-A148-9BAE-E35D2D3A3F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14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Emotional Interaction in HCI </a:t>
            </a:r>
            <a:br>
              <a:rPr lang="en-US" dirty="0"/>
            </a:br>
            <a:r>
              <a:rPr dirty="0"/>
              <a:t>(2024–2025 Trends)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00" y="0"/>
            <a:ext cx="6856286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203" y="220150"/>
            <a:ext cx="3803436" cy="146763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25"/>
              <a:t>What is Emotional Interaction?</a:t>
            </a:r>
          </a:p>
        </p:txBody>
      </p:sp>
      <p:sp>
        <p:nvSpPr>
          <p:cNvPr id="104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3045" y="1940246"/>
            <a:ext cx="1954530" cy="13716"/>
          </a:xfrm>
          <a:custGeom>
            <a:avLst/>
            <a:gdLst>
              <a:gd name="csX0" fmla="*/ 0 w 1954530"/>
              <a:gd name="csY0" fmla="*/ 0 h 13716"/>
              <a:gd name="csX1" fmla="*/ 612419 w 1954530"/>
              <a:gd name="csY1" fmla="*/ 0 h 13716"/>
              <a:gd name="csX2" fmla="*/ 1224839 w 1954530"/>
              <a:gd name="csY2" fmla="*/ 0 h 13716"/>
              <a:gd name="csX3" fmla="*/ 1954530 w 1954530"/>
              <a:gd name="csY3" fmla="*/ 0 h 13716"/>
              <a:gd name="csX4" fmla="*/ 1954530 w 1954530"/>
              <a:gd name="csY4" fmla="*/ 13716 h 13716"/>
              <a:gd name="csX5" fmla="*/ 1361656 w 1954530"/>
              <a:gd name="csY5" fmla="*/ 13716 h 13716"/>
              <a:gd name="csX6" fmla="*/ 768782 w 1954530"/>
              <a:gd name="csY6" fmla="*/ 13716 h 13716"/>
              <a:gd name="csX7" fmla="*/ 0 w 1954530"/>
              <a:gd name="csY7" fmla="*/ 13716 h 13716"/>
              <a:gd name="csX8" fmla="*/ 0 w 195453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54530" h="13716" fill="none" extrusionOk="0">
                <a:moveTo>
                  <a:pt x="0" y="0"/>
                </a:moveTo>
                <a:cubicBezTo>
                  <a:pt x="263949" y="-20781"/>
                  <a:pt x="441992" y="4675"/>
                  <a:pt x="612419" y="0"/>
                </a:cubicBezTo>
                <a:cubicBezTo>
                  <a:pt x="782846" y="-4675"/>
                  <a:pt x="1088224" y="-2059"/>
                  <a:pt x="1224839" y="0"/>
                </a:cubicBezTo>
                <a:cubicBezTo>
                  <a:pt x="1361454" y="2059"/>
                  <a:pt x="1758911" y="10303"/>
                  <a:pt x="1954530" y="0"/>
                </a:cubicBezTo>
                <a:cubicBezTo>
                  <a:pt x="1954459" y="5454"/>
                  <a:pt x="1954873" y="10566"/>
                  <a:pt x="1954530" y="13716"/>
                </a:cubicBezTo>
                <a:cubicBezTo>
                  <a:pt x="1801540" y="-4550"/>
                  <a:pt x="1485599" y="15419"/>
                  <a:pt x="1361656" y="13716"/>
                </a:cubicBezTo>
                <a:cubicBezTo>
                  <a:pt x="1237713" y="12013"/>
                  <a:pt x="1037409" y="41601"/>
                  <a:pt x="768782" y="13716"/>
                </a:cubicBezTo>
                <a:cubicBezTo>
                  <a:pt x="500155" y="-14169"/>
                  <a:pt x="158682" y="-16365"/>
                  <a:pt x="0" y="13716"/>
                </a:cubicBezTo>
                <a:cubicBezTo>
                  <a:pt x="-235" y="9389"/>
                  <a:pt x="206" y="4648"/>
                  <a:pt x="0" y="0"/>
                </a:cubicBezTo>
                <a:close/>
              </a:path>
              <a:path w="1954530" h="13716" stroke="0" extrusionOk="0">
                <a:moveTo>
                  <a:pt x="0" y="0"/>
                </a:moveTo>
                <a:cubicBezTo>
                  <a:pt x="129542" y="-4148"/>
                  <a:pt x="357689" y="-1828"/>
                  <a:pt x="612419" y="0"/>
                </a:cubicBezTo>
                <a:cubicBezTo>
                  <a:pt x="867149" y="1828"/>
                  <a:pt x="977771" y="19744"/>
                  <a:pt x="1303020" y="0"/>
                </a:cubicBezTo>
                <a:cubicBezTo>
                  <a:pt x="1628269" y="-19744"/>
                  <a:pt x="1752991" y="30264"/>
                  <a:pt x="1954530" y="0"/>
                </a:cubicBezTo>
                <a:cubicBezTo>
                  <a:pt x="1954993" y="6385"/>
                  <a:pt x="1955103" y="10748"/>
                  <a:pt x="1954530" y="13716"/>
                </a:cubicBezTo>
                <a:cubicBezTo>
                  <a:pt x="1651685" y="-8724"/>
                  <a:pt x="1539842" y="30118"/>
                  <a:pt x="1283475" y="13716"/>
                </a:cubicBezTo>
                <a:cubicBezTo>
                  <a:pt x="1027108" y="-2686"/>
                  <a:pt x="796678" y="27349"/>
                  <a:pt x="592874" y="13716"/>
                </a:cubicBezTo>
                <a:cubicBezTo>
                  <a:pt x="389070" y="83"/>
                  <a:pt x="285698" y="-1520"/>
                  <a:pt x="0" y="13716"/>
                </a:cubicBezTo>
                <a:cubicBezTo>
                  <a:pt x="46" y="8554"/>
                  <a:pt x="-310" y="42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204" y="2347179"/>
            <a:ext cx="3694596" cy="24905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Interaction where systems sense, interpret, or respond to human emotions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Goes beyond affective computing—includes ethics, culture, and user agency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Focus shifting toward supporting rather than regulating emotion</a:t>
            </a:r>
          </a:p>
        </p:txBody>
      </p:sp>
      <p:pic>
        <p:nvPicPr>
          <p:cNvPr id="1026" name="Picture 2" descr="How to Express Emotions: 12 Ways to Communicate Feelings">
            <a:extLst>
              <a:ext uri="{FF2B5EF4-FFF2-40B4-BE49-F238E27FC236}">
                <a16:creationId xmlns:a16="http://schemas.microsoft.com/office/drawing/2014/main" id="{4F41A1CB-31EB-BCA0-D1F7-110BE8865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8" r="5065"/>
          <a:stretch>
            <a:fillRect/>
          </a:stretch>
        </p:blipFill>
        <p:spPr bwMode="auto">
          <a:xfrm>
            <a:off x="4352514" y="8429"/>
            <a:ext cx="4802819" cy="5143493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003" y="463522"/>
            <a:ext cx="3802135" cy="1212152"/>
          </a:xfrm>
        </p:spPr>
        <p:txBody>
          <a:bodyPr anchor="b">
            <a:normAutofit/>
          </a:bodyPr>
          <a:lstStyle/>
          <a:p>
            <a:r>
              <a:rPr lang="en-US" sz="2100" dirty="0"/>
              <a:t>Trend 1: </a:t>
            </a:r>
            <a:r>
              <a:rPr lang="en-US" sz="2100" b="1" dirty="0">
                <a:solidFill>
                  <a:srgbClr val="FF0000"/>
                </a:solidFill>
              </a:rPr>
              <a:t>Culture-Aware Emotional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464" y="1807585"/>
            <a:ext cx="4066674" cy="3053789"/>
          </a:xfrm>
        </p:spPr>
        <p:txBody>
          <a:bodyPr anchor="t">
            <a:normAutofit/>
          </a:bodyPr>
          <a:lstStyle/>
          <a:p>
            <a:r>
              <a:rPr lang="en-US" sz="1800" dirty="0"/>
              <a:t>Shift from universal emotion models to culturally adaptive ones</a:t>
            </a:r>
          </a:p>
          <a:p>
            <a:endParaRPr lang="en-US" sz="1800" dirty="0"/>
          </a:p>
          <a:p>
            <a:r>
              <a:rPr lang="en-US" sz="1800" dirty="0"/>
              <a:t>Affective–CARA framework: uses knowledge graphs to reduce cultural bias</a:t>
            </a:r>
          </a:p>
          <a:p>
            <a:endParaRPr lang="en-US" sz="1800" dirty="0"/>
          </a:p>
          <a:p>
            <a:r>
              <a:rPr lang="en-US" sz="1800" dirty="0"/>
              <a:t>Relevance: Avoids one-size-fits-all emotional interpretation</a:t>
            </a:r>
          </a:p>
        </p:txBody>
      </p:sp>
      <p:pic>
        <p:nvPicPr>
          <p:cNvPr id="2050" name="Picture 2" descr="How Cultural Values and Emotional Intelligence Shape Kids' Characters">
            <a:extLst>
              <a:ext uri="{FF2B5EF4-FFF2-40B4-BE49-F238E27FC236}">
                <a16:creationId xmlns:a16="http://schemas.microsoft.com/office/drawing/2014/main" id="{3FDDCDED-4444-A34F-82FC-79874CE4F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2423" y="1344104"/>
            <a:ext cx="3960574" cy="260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5" name="Group 2054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5" y="5053289"/>
            <a:ext cx="6866549" cy="92522"/>
            <a:chOff x="-5025" y="6737718"/>
            <a:chExt cx="12207200" cy="123363"/>
          </a:xfrm>
        </p:grpSpPr>
        <p:sp>
          <p:nvSpPr>
            <p:cNvPr id="2056" name="Rectangle 2055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57" name="Rectangle 2056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0653" y="307391"/>
            <a:ext cx="3104148" cy="1212152"/>
          </a:xfrm>
        </p:spPr>
        <p:txBody>
          <a:bodyPr anchor="b">
            <a:normAutofit/>
          </a:bodyPr>
          <a:lstStyle/>
          <a:p>
            <a:r>
              <a:rPr lang="en-US" sz="2100" dirty="0"/>
              <a:t>Trend 2: </a:t>
            </a:r>
            <a:r>
              <a:rPr lang="en-US" sz="2100" b="1" dirty="0">
                <a:solidFill>
                  <a:srgbClr val="FF0000"/>
                </a:solidFill>
              </a:rPr>
              <a:t>Emotion Support vs 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391" y="1651454"/>
            <a:ext cx="4463734" cy="2991974"/>
          </a:xfrm>
        </p:spPr>
        <p:txBody>
          <a:bodyPr anchor="t">
            <a:normAutofit/>
          </a:bodyPr>
          <a:lstStyle/>
          <a:p>
            <a:r>
              <a:rPr lang="en-US" sz="1800" dirty="0"/>
              <a:t>New research critiques systems that try to 'fix' or control emotions</a:t>
            </a:r>
          </a:p>
          <a:p>
            <a:endParaRPr lang="en-US" sz="1800" dirty="0"/>
          </a:p>
          <a:p>
            <a:r>
              <a:rPr lang="en-US" sz="1800" dirty="0"/>
              <a:t>Focus on supporting emotional expression and agency</a:t>
            </a:r>
          </a:p>
          <a:p>
            <a:endParaRPr lang="en-US" sz="1800" dirty="0"/>
          </a:p>
          <a:p>
            <a:r>
              <a:rPr lang="en-US" sz="1800" dirty="0"/>
              <a:t>Design implication: systems should not impose emotional states on users</a:t>
            </a:r>
          </a:p>
        </p:txBody>
      </p:sp>
      <p:pic>
        <p:nvPicPr>
          <p:cNvPr id="3074" name="Picture 2" descr="Emotion Regulation Examples Emotional Control">
            <a:extLst>
              <a:ext uri="{FF2B5EF4-FFF2-40B4-BE49-F238E27FC236}">
                <a16:creationId xmlns:a16="http://schemas.microsoft.com/office/drawing/2014/main" id="{1026848A-E53E-9B08-CD79-A26C71079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93368" y="775034"/>
            <a:ext cx="3593432" cy="359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79" name="Group 3078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5" y="5053289"/>
            <a:ext cx="6866549" cy="92522"/>
            <a:chOff x="-5025" y="6737718"/>
            <a:chExt cx="12207200" cy="123363"/>
          </a:xfrm>
        </p:grpSpPr>
        <p:sp>
          <p:nvSpPr>
            <p:cNvPr id="3080" name="Rectangle 3079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81" name="Rectangle 3080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46" y="483714"/>
            <a:ext cx="3794112" cy="1212152"/>
          </a:xfrm>
        </p:spPr>
        <p:txBody>
          <a:bodyPr anchor="b">
            <a:normAutofit/>
          </a:bodyPr>
          <a:lstStyle/>
          <a:p>
            <a:r>
              <a:rPr lang="en-US" sz="2100" dirty="0"/>
              <a:t>Trend 3: </a:t>
            </a:r>
            <a:r>
              <a:rPr lang="en-US" sz="2100" dirty="0">
                <a:solidFill>
                  <a:srgbClr val="FF0000"/>
                </a:solidFill>
              </a:rPr>
              <a:t>Emotional Output Ethics </a:t>
            </a:r>
            <a:r>
              <a:rPr lang="en-US" sz="2100" i="1" dirty="0">
                <a:solidFill>
                  <a:srgbClr val="FF0000"/>
                </a:solidFill>
              </a:rPr>
              <a:t>(R‑CAGE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44" y="2252893"/>
            <a:ext cx="4114956" cy="3153181"/>
          </a:xfrm>
        </p:spPr>
        <p:txBody>
          <a:bodyPr anchor="t">
            <a:normAutofit/>
          </a:bodyPr>
          <a:lstStyle/>
          <a:p>
            <a:r>
              <a:rPr lang="en-US" sz="1800" dirty="0"/>
              <a:t>Guides how AI should express emotion—tone, pacing, intensity</a:t>
            </a:r>
          </a:p>
          <a:p>
            <a:endParaRPr lang="en-US" sz="1800" dirty="0"/>
          </a:p>
          <a:p>
            <a:r>
              <a:rPr lang="en-US" sz="1800" dirty="0"/>
              <a:t>Ethical emphasis on not manipulating user emotions</a:t>
            </a:r>
          </a:p>
          <a:p>
            <a:endParaRPr lang="en-US" sz="1800" dirty="0"/>
          </a:p>
          <a:p>
            <a:r>
              <a:rPr lang="en-US" sz="1800" dirty="0"/>
              <a:t>Useful for designing chatbots, agents, and companions</a:t>
            </a:r>
          </a:p>
        </p:txBody>
      </p:sp>
      <p:pic>
        <p:nvPicPr>
          <p:cNvPr id="4098" name="Picture 2" descr="Ethics of Emotion AI — Part 1. Ethics ...">
            <a:extLst>
              <a:ext uri="{FF2B5EF4-FFF2-40B4-BE49-F238E27FC236}">
                <a16:creationId xmlns:a16="http://schemas.microsoft.com/office/drawing/2014/main" id="{FAC140AB-5174-5679-EC68-D2A550626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3" r="29005" b="1"/>
          <a:stretch>
            <a:fillRect/>
          </a:stretch>
        </p:blipFill>
        <p:spPr bwMode="auto">
          <a:xfrm>
            <a:off x="5847348" y="1095934"/>
            <a:ext cx="2421948" cy="295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03" name="Group 4102">
            <a:extLst>
              <a:ext uri="{FF2B5EF4-FFF2-40B4-BE49-F238E27FC236}">
                <a16:creationId xmlns:a16="http://schemas.microsoft.com/office/drawing/2014/main" id="{434FA563-76F6-CDCF-AEA0-A7B78E446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5" y="5053289"/>
            <a:ext cx="6866549" cy="92522"/>
            <a:chOff x="-5025" y="6737718"/>
            <a:chExt cx="12207200" cy="123363"/>
          </a:xfrm>
        </p:grpSpPr>
        <p:sp>
          <p:nvSpPr>
            <p:cNvPr id="4104" name="Rectangle 4103">
              <a:extLst>
                <a:ext uri="{FF2B5EF4-FFF2-40B4-BE49-F238E27FC236}">
                  <a16:creationId xmlns:a16="http://schemas.microsoft.com/office/drawing/2014/main" id="{1D2E3CAA-F1BA-6695-301D-22564C382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105" name="Rectangle 4104">
              <a:extLst>
                <a:ext uri="{FF2B5EF4-FFF2-40B4-BE49-F238E27FC236}">
                  <a16:creationId xmlns:a16="http://schemas.microsoft.com/office/drawing/2014/main" id="{2F3F0F2C-04A5-144D-BDCF-C38707289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20" y="556043"/>
            <a:ext cx="2662237" cy="1212152"/>
          </a:xfrm>
        </p:spPr>
        <p:txBody>
          <a:bodyPr anchor="b">
            <a:normAutofit/>
          </a:bodyPr>
          <a:lstStyle/>
          <a:p>
            <a:r>
              <a:rPr lang="en-US" sz="2400" dirty="0"/>
              <a:t>Trend 4: </a:t>
            </a:r>
            <a:r>
              <a:rPr lang="en-US" sz="2400" dirty="0">
                <a:solidFill>
                  <a:srgbClr val="FF0000"/>
                </a:solidFill>
              </a:rPr>
              <a:t>Emotion-Aware Companions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75" y="1900107"/>
            <a:ext cx="3569368" cy="2585874"/>
          </a:xfrm>
        </p:spPr>
        <p:txBody>
          <a:bodyPr anchor="t">
            <a:normAutofit/>
          </a:bodyPr>
          <a:lstStyle/>
          <a:p>
            <a:r>
              <a:rPr lang="en-US" sz="1600" dirty="0"/>
              <a:t>Example: Livia (AR-based emotionally adaptive companion)</a:t>
            </a:r>
          </a:p>
          <a:p>
            <a:endParaRPr lang="en-US" sz="1600" dirty="0"/>
          </a:p>
          <a:p>
            <a:r>
              <a:rPr lang="en-US" sz="1600" dirty="0"/>
              <a:t>Uses multimodal emotion detection and memory compression</a:t>
            </a:r>
          </a:p>
          <a:p>
            <a:endParaRPr lang="en-US" sz="1600" dirty="0"/>
          </a:p>
          <a:p>
            <a:r>
              <a:rPr lang="en-US" sz="1600" dirty="0"/>
              <a:t>Applications in wellness, loneliness, and social support</a:t>
            </a:r>
          </a:p>
        </p:txBody>
      </p:sp>
      <p:pic>
        <p:nvPicPr>
          <p:cNvPr id="5122" name="Picture 2" descr="Absolutely Use Robotic Pets In Dementia Care in 2025">
            <a:extLst>
              <a:ext uri="{FF2B5EF4-FFF2-40B4-BE49-F238E27FC236}">
                <a16:creationId xmlns:a16="http://schemas.microsoft.com/office/drawing/2014/main" id="{B4309B6A-91AC-C689-B454-31C664900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80" b="3"/>
          <a:stretch>
            <a:fillRect/>
          </a:stretch>
        </p:blipFill>
        <p:spPr bwMode="auto">
          <a:xfrm>
            <a:off x="3816932" y="658059"/>
            <a:ext cx="4666971" cy="378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41" name="Group 5140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16932" y="4394121"/>
            <a:ext cx="4669847" cy="92522"/>
            <a:chOff x="7015162" y="5858828"/>
            <a:chExt cx="4300544" cy="123363"/>
          </a:xfrm>
        </p:grpSpPr>
        <p:sp>
          <p:nvSpPr>
            <p:cNvPr id="5142" name="Rectangle 5141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3" name="Rectangle 5142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0" y="564065"/>
            <a:ext cx="4074695" cy="1212152"/>
          </a:xfrm>
        </p:spPr>
        <p:txBody>
          <a:bodyPr anchor="b">
            <a:normAutofit/>
          </a:bodyPr>
          <a:lstStyle/>
          <a:p>
            <a:r>
              <a:rPr lang="en-US" sz="2100" dirty="0"/>
              <a:t>Trend 5: </a:t>
            </a:r>
            <a:r>
              <a:rPr lang="en-US" sz="2100" dirty="0">
                <a:solidFill>
                  <a:srgbClr val="FF0000"/>
                </a:solidFill>
              </a:rPr>
              <a:t>Immersive Empathic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589" y="1908128"/>
            <a:ext cx="4074695" cy="3053789"/>
          </a:xfrm>
        </p:spPr>
        <p:txBody>
          <a:bodyPr anchor="t">
            <a:normAutofit fontScale="92500"/>
          </a:bodyPr>
          <a:lstStyle/>
          <a:p>
            <a:r>
              <a:rPr lang="en-US" sz="2000" dirty="0"/>
              <a:t>VR dominates empathic computing research; AR/MR emerging</a:t>
            </a:r>
          </a:p>
          <a:p>
            <a:endParaRPr lang="en-US" sz="2000" dirty="0"/>
          </a:p>
          <a:p>
            <a:r>
              <a:rPr lang="en-US" sz="2000" dirty="0"/>
              <a:t>Dimensional models (valence/arousal) are increasingly used</a:t>
            </a:r>
          </a:p>
          <a:p>
            <a:endParaRPr lang="en-US" sz="2000" dirty="0"/>
          </a:p>
          <a:p>
            <a:r>
              <a:rPr lang="en-US" sz="2000" dirty="0"/>
              <a:t>Strength: high emotional presence; challenge: motion &amp; ethical concerns</a:t>
            </a:r>
          </a:p>
        </p:txBody>
      </p:sp>
      <p:pic>
        <p:nvPicPr>
          <p:cNvPr id="6146" name="Picture 2" descr="A pair of men wearing goggles&#10;&#10;AI-generated content may be incorrect.">
            <a:extLst>
              <a:ext uri="{FF2B5EF4-FFF2-40B4-BE49-F238E27FC236}">
                <a16:creationId xmlns:a16="http://schemas.microsoft.com/office/drawing/2014/main" id="{93734904-AAA6-1FC3-34E9-0E7962677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0" y="1582422"/>
            <a:ext cx="4074695" cy="261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59" name="Group 6158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5" y="5053289"/>
            <a:ext cx="6866549" cy="92522"/>
            <a:chOff x="-5025" y="6737718"/>
            <a:chExt cx="12207200" cy="123363"/>
          </a:xfrm>
        </p:grpSpPr>
        <p:sp>
          <p:nvSpPr>
            <p:cNvPr id="6152" name="Rectangle 6151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160" name="Rectangle 6159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556043"/>
            <a:ext cx="2591866" cy="1212152"/>
          </a:xfrm>
        </p:spPr>
        <p:txBody>
          <a:bodyPr anchor="b">
            <a:normAutofit/>
          </a:bodyPr>
          <a:lstStyle/>
          <a:p>
            <a:r>
              <a:rPr lang="en-US" sz="2400" dirty="0"/>
              <a:t>Trend 6: </a:t>
            </a:r>
            <a:r>
              <a:rPr lang="en-US" sz="2400" dirty="0">
                <a:solidFill>
                  <a:srgbClr val="FF0000"/>
                </a:solidFill>
              </a:rPr>
              <a:t>Advances in Affective Sensing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920" y="1900107"/>
            <a:ext cx="3549834" cy="2585874"/>
          </a:xfrm>
        </p:spPr>
        <p:txBody>
          <a:bodyPr anchor="t">
            <a:normAutofit lnSpcReduction="10000"/>
          </a:bodyPr>
          <a:lstStyle/>
          <a:p>
            <a:r>
              <a:rPr lang="en-US" sz="1800" dirty="0"/>
              <a:t>Integration of physiological + behavioral signals</a:t>
            </a:r>
          </a:p>
          <a:p>
            <a:endParaRPr lang="en-US" sz="1800" dirty="0"/>
          </a:p>
          <a:p>
            <a:r>
              <a:rPr lang="en-US" sz="1800" dirty="0"/>
              <a:t>Real-time adaptation in interfaces</a:t>
            </a:r>
          </a:p>
          <a:p>
            <a:endParaRPr lang="en-US" sz="1800" dirty="0"/>
          </a:p>
          <a:p>
            <a:r>
              <a:rPr lang="en-US" sz="1800" dirty="0"/>
              <a:t>Applications: wearables, adaptive learning, wellbeing tools</a:t>
            </a:r>
          </a:p>
        </p:txBody>
      </p:sp>
      <p:pic>
        <p:nvPicPr>
          <p:cNvPr id="7170" name="Picture 2" descr="Advancing Mobile Neuroscience: A Novel ...">
            <a:extLst>
              <a:ext uri="{FF2B5EF4-FFF2-40B4-BE49-F238E27FC236}">
                <a16:creationId xmlns:a16="http://schemas.microsoft.com/office/drawing/2014/main" id="{F9AAF6E8-9136-DB2E-42EE-63EF1EEFF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40754" y="1163896"/>
            <a:ext cx="4792009" cy="2822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82" name="Group 7181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5143500"/>
            <a:chOff x="12068638" y="0"/>
            <a:chExt cx="123362" cy="6858000"/>
          </a:xfrm>
        </p:grpSpPr>
        <p:sp>
          <p:nvSpPr>
            <p:cNvPr id="7183" name="Rectangle 7182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4" name="Rectangle 7183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Implications for HCI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Emotion-aware systems must respect user agency</a:t>
            </a:r>
          </a:p>
          <a:p>
            <a:endParaRPr lang="en-US" dirty="0"/>
          </a:p>
          <a:p>
            <a:r>
              <a:rPr dirty="0"/>
              <a:t>Design must include cultural sensitivity</a:t>
            </a:r>
          </a:p>
          <a:p>
            <a:endParaRPr lang="en-US" dirty="0"/>
          </a:p>
          <a:p>
            <a:r>
              <a:rPr dirty="0"/>
              <a:t>Transparent emotion sensing and output policies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205740"/>
            <a:ext cx="5486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Activity Suggestion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Task: Redesign a chatbot to express emotion ethically</a:t>
            </a:r>
          </a:p>
          <a:p>
            <a:r>
              <a:t>Constraint 1: Must follow R‑CAGE output pacing</a:t>
            </a:r>
          </a:p>
          <a:p>
            <a:r>
              <a:t>Constraint 2: Must adapt emotional tone culturally</a:t>
            </a:r>
          </a:p>
          <a:p>
            <a:r>
              <a:t>Deliverable: Storyboard + interaction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205740"/>
            <a:ext cx="5486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Should emotional AI ever try to regulate users' emotions?</a:t>
            </a:r>
            <a:endParaRPr lang="en-US" dirty="0"/>
          </a:p>
          <a:p>
            <a:endParaRPr dirty="0"/>
          </a:p>
          <a:p>
            <a:r>
              <a:rPr dirty="0"/>
              <a:t>How can we ensure systems do not manipulate through emotional output?</a:t>
            </a:r>
            <a:endParaRPr lang="en-US" dirty="0"/>
          </a:p>
          <a:p>
            <a:endParaRPr dirty="0"/>
          </a:p>
          <a:p>
            <a:r>
              <a:rPr dirty="0"/>
              <a:t>What cultural differences must be considered in emotion recognition?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205740"/>
            <a:ext cx="5486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344</Words>
  <Application>Microsoft Macintosh PowerPoint</Application>
  <PresentationFormat>On-screen Show (16:9)</PresentationFormat>
  <Paragraphs>61</Paragraphs>
  <Slides>11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Emotional Interaction in HCI  (2024–2025 Trends)</vt:lpstr>
      <vt:lpstr>What is Emotional Interaction?</vt:lpstr>
      <vt:lpstr>Trend 1: Culture-Aware Emotional Intelligence</vt:lpstr>
      <vt:lpstr>Trend 2: Emotion Support vs Regulation</vt:lpstr>
      <vt:lpstr>Trend 3: Emotional Output Ethics (R‑CAGE Model)</vt:lpstr>
      <vt:lpstr>Trend 4: Emotion-Aware Companions</vt:lpstr>
      <vt:lpstr>Trend 5: Immersive Empathic Computing</vt:lpstr>
      <vt:lpstr>Trend 6: Advances in Affective Sensing</vt:lpstr>
      <vt:lpstr>Design Implications for HCI</vt:lpstr>
      <vt:lpstr>Class Activity Suggestion</vt:lpstr>
      <vt:lpstr>Discussion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Shakeel Ahmed Khoja / Professor and Dean School of Mathematics and Computer Science</cp:lastModifiedBy>
  <cp:revision>4</cp:revision>
  <dcterms:created xsi:type="dcterms:W3CDTF">2013-01-27T09:14:16Z</dcterms:created>
  <dcterms:modified xsi:type="dcterms:W3CDTF">2025-11-30T13:52:35Z</dcterms:modified>
  <cp:category/>
</cp:coreProperties>
</file>