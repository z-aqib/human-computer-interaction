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53" r:id="rId1"/>
  </p:sldMasterIdLst>
  <p:notesMasterIdLst>
    <p:notesMasterId r:id="rId34"/>
  </p:notesMasterIdLst>
  <p:sldIdLst>
    <p:sldId id="256" r:id="rId2"/>
    <p:sldId id="260" r:id="rId3"/>
    <p:sldId id="261" r:id="rId4"/>
    <p:sldId id="262" r:id="rId5"/>
    <p:sldId id="257" r:id="rId6"/>
    <p:sldId id="258" r:id="rId7"/>
    <p:sldId id="259" r:id="rId8"/>
    <p:sldId id="600" r:id="rId9"/>
    <p:sldId id="601" r:id="rId10"/>
    <p:sldId id="602" r:id="rId11"/>
    <p:sldId id="603" r:id="rId12"/>
    <p:sldId id="604" r:id="rId13"/>
    <p:sldId id="605" r:id="rId14"/>
    <p:sldId id="507" r:id="rId15"/>
    <p:sldId id="599" r:id="rId16"/>
    <p:sldId id="597" r:id="rId17"/>
    <p:sldId id="490" r:id="rId18"/>
    <p:sldId id="511" r:id="rId19"/>
    <p:sldId id="594" r:id="rId20"/>
    <p:sldId id="512" r:id="rId21"/>
    <p:sldId id="516" r:id="rId22"/>
    <p:sldId id="517" r:id="rId23"/>
    <p:sldId id="518" r:id="rId24"/>
    <p:sldId id="519" r:id="rId25"/>
    <p:sldId id="520" r:id="rId26"/>
    <p:sldId id="521" r:id="rId27"/>
    <p:sldId id="523" r:id="rId28"/>
    <p:sldId id="524" r:id="rId29"/>
    <p:sldId id="525" r:id="rId30"/>
    <p:sldId id="526" r:id="rId31"/>
    <p:sldId id="606" r:id="rId32"/>
    <p:sldId id="527" r:id="rId3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8628"/>
    <p:restoredTop sz="94658"/>
  </p:normalViewPr>
  <p:slideViewPr>
    <p:cSldViewPr snapToGrid="0">
      <p:cViewPr varScale="1">
        <p:scale>
          <a:sx n="50" d="100"/>
          <a:sy n="50" d="100"/>
        </p:scale>
        <p:origin x="176" y="16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C894147-1E82-4E82-807F-656E021475E6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D8B1AAFF-0D90-4954-963A-3DD9A7076B28}">
      <dgm:prSet/>
      <dgm:spPr/>
      <dgm:t>
        <a:bodyPr/>
        <a:lstStyle/>
        <a:p>
          <a:r>
            <a:rPr lang="en-US"/>
            <a:t>Preparing data for statistical analysis</a:t>
          </a:r>
        </a:p>
      </dgm:t>
    </dgm:pt>
    <dgm:pt modelId="{614F2935-A6C4-417E-9773-8009C3E81EC3}" type="parTrans" cxnId="{70D8EB54-DDBE-4B4C-9D30-27F04573D2F7}">
      <dgm:prSet/>
      <dgm:spPr/>
      <dgm:t>
        <a:bodyPr/>
        <a:lstStyle/>
        <a:p>
          <a:endParaRPr lang="en-US"/>
        </a:p>
      </dgm:t>
    </dgm:pt>
    <dgm:pt modelId="{79AB8AB5-C334-404E-B942-D04785D99E74}" type="sibTrans" cxnId="{70D8EB54-DDBE-4B4C-9D30-27F04573D2F7}">
      <dgm:prSet/>
      <dgm:spPr/>
      <dgm:t>
        <a:bodyPr/>
        <a:lstStyle/>
        <a:p>
          <a:endParaRPr lang="en-US"/>
        </a:p>
      </dgm:t>
    </dgm:pt>
    <dgm:pt modelId="{58FB0BCA-3436-4BBF-9E4A-A2E11268BA07}">
      <dgm:prSet/>
      <dgm:spPr/>
      <dgm:t>
        <a:bodyPr/>
        <a:lstStyle/>
        <a:p>
          <a:r>
            <a:rPr lang="en-US"/>
            <a:t>Descriptive statistics</a:t>
          </a:r>
        </a:p>
      </dgm:t>
    </dgm:pt>
    <dgm:pt modelId="{92F388C4-CA05-4DFB-B79C-A0759F758541}" type="parTrans" cxnId="{09865E3A-633D-468D-BEDC-24AE7C7B564A}">
      <dgm:prSet/>
      <dgm:spPr/>
      <dgm:t>
        <a:bodyPr/>
        <a:lstStyle/>
        <a:p>
          <a:endParaRPr lang="en-US"/>
        </a:p>
      </dgm:t>
    </dgm:pt>
    <dgm:pt modelId="{7E974895-8422-458E-B8F6-5A111B485181}" type="sibTrans" cxnId="{09865E3A-633D-468D-BEDC-24AE7C7B564A}">
      <dgm:prSet/>
      <dgm:spPr/>
      <dgm:t>
        <a:bodyPr/>
        <a:lstStyle/>
        <a:p>
          <a:endParaRPr lang="en-US"/>
        </a:p>
      </dgm:t>
    </dgm:pt>
    <dgm:pt modelId="{0F6752C7-9907-422F-B3E8-5637CEDDC6B9}">
      <dgm:prSet/>
      <dgm:spPr/>
      <dgm:t>
        <a:bodyPr/>
        <a:lstStyle/>
        <a:p>
          <a:r>
            <a:rPr lang="en-US"/>
            <a:t>Comparing means</a:t>
          </a:r>
        </a:p>
      </dgm:t>
    </dgm:pt>
    <dgm:pt modelId="{E790DC2E-EF4E-49A5-B7D3-6B2AC370B528}" type="parTrans" cxnId="{8C576C5F-B3AC-42C9-83B5-948E70E7C39F}">
      <dgm:prSet/>
      <dgm:spPr/>
      <dgm:t>
        <a:bodyPr/>
        <a:lstStyle/>
        <a:p>
          <a:endParaRPr lang="en-US"/>
        </a:p>
      </dgm:t>
    </dgm:pt>
    <dgm:pt modelId="{102657E4-3701-45BB-B4A7-88F1C80C96BA}" type="sibTrans" cxnId="{8C576C5F-B3AC-42C9-83B5-948E70E7C39F}">
      <dgm:prSet/>
      <dgm:spPr/>
      <dgm:t>
        <a:bodyPr/>
        <a:lstStyle/>
        <a:p>
          <a:endParaRPr lang="en-US"/>
        </a:p>
      </dgm:t>
    </dgm:pt>
    <dgm:pt modelId="{2BE66619-5F96-4303-B089-45F28A307F2F}">
      <dgm:prSet/>
      <dgm:spPr/>
      <dgm:t>
        <a:bodyPr/>
        <a:lstStyle/>
        <a:p>
          <a:r>
            <a:rPr lang="en-US" i="1"/>
            <a:t>T tests</a:t>
          </a:r>
          <a:endParaRPr lang="en-US"/>
        </a:p>
      </dgm:t>
    </dgm:pt>
    <dgm:pt modelId="{553EAF34-D654-43D2-97FB-356DEA8EB383}" type="parTrans" cxnId="{788FDA6B-A211-44C8-B1BC-7AB169517F2A}">
      <dgm:prSet/>
      <dgm:spPr/>
      <dgm:t>
        <a:bodyPr/>
        <a:lstStyle/>
        <a:p>
          <a:endParaRPr lang="en-US"/>
        </a:p>
      </dgm:t>
    </dgm:pt>
    <dgm:pt modelId="{1EFD0496-AE0F-4BC3-B90C-57721843AA3E}" type="sibTrans" cxnId="{788FDA6B-A211-44C8-B1BC-7AB169517F2A}">
      <dgm:prSet/>
      <dgm:spPr/>
      <dgm:t>
        <a:bodyPr/>
        <a:lstStyle/>
        <a:p>
          <a:endParaRPr lang="en-US"/>
        </a:p>
      </dgm:t>
    </dgm:pt>
    <dgm:pt modelId="{DC4BC5AE-FBCD-488C-90A3-289B2EC90D18}">
      <dgm:prSet/>
      <dgm:spPr/>
      <dgm:t>
        <a:bodyPr/>
        <a:lstStyle/>
        <a:p>
          <a:r>
            <a:rPr lang="en-US"/>
            <a:t>Analysis of variance (ANOVA)</a:t>
          </a:r>
        </a:p>
      </dgm:t>
    </dgm:pt>
    <dgm:pt modelId="{FE9BD205-9553-44CA-ACAB-73D30E5F3F4F}" type="parTrans" cxnId="{03190CDF-340A-4B31-B845-5A50DCD5A7B2}">
      <dgm:prSet/>
      <dgm:spPr/>
      <dgm:t>
        <a:bodyPr/>
        <a:lstStyle/>
        <a:p>
          <a:endParaRPr lang="en-US"/>
        </a:p>
      </dgm:t>
    </dgm:pt>
    <dgm:pt modelId="{89EC1814-F540-419B-8105-C78C63E548E7}" type="sibTrans" cxnId="{03190CDF-340A-4B31-B845-5A50DCD5A7B2}">
      <dgm:prSet/>
      <dgm:spPr/>
      <dgm:t>
        <a:bodyPr/>
        <a:lstStyle/>
        <a:p>
          <a:endParaRPr lang="en-US"/>
        </a:p>
      </dgm:t>
    </dgm:pt>
    <dgm:pt modelId="{11F99DB7-5A28-49C4-A0BC-FA16E41FFA94}">
      <dgm:prSet/>
      <dgm:spPr/>
      <dgm:t>
        <a:bodyPr/>
        <a:lstStyle/>
        <a:p>
          <a:r>
            <a:rPr lang="en-US"/>
            <a:t>Assumptions of </a:t>
          </a:r>
          <a:r>
            <a:rPr lang="en-US" i="1"/>
            <a:t>t - tests and F - tests</a:t>
          </a:r>
          <a:endParaRPr lang="en-US"/>
        </a:p>
      </dgm:t>
    </dgm:pt>
    <dgm:pt modelId="{D5B9D5EA-C6F4-47C0-9861-D47F589FEE8E}" type="parTrans" cxnId="{4B7510D4-4216-4C86-ADA1-BF3570BB6AC2}">
      <dgm:prSet/>
      <dgm:spPr/>
      <dgm:t>
        <a:bodyPr/>
        <a:lstStyle/>
        <a:p>
          <a:endParaRPr lang="en-US"/>
        </a:p>
      </dgm:t>
    </dgm:pt>
    <dgm:pt modelId="{43C9C0E1-23FC-4820-91C8-B1E6E5E8D805}" type="sibTrans" cxnId="{4B7510D4-4216-4C86-ADA1-BF3570BB6AC2}">
      <dgm:prSet/>
      <dgm:spPr/>
      <dgm:t>
        <a:bodyPr/>
        <a:lstStyle/>
        <a:p>
          <a:endParaRPr lang="en-US"/>
        </a:p>
      </dgm:t>
    </dgm:pt>
    <dgm:pt modelId="{B76E909F-6694-469D-9D10-B53C8827BDB4}">
      <dgm:prSet/>
      <dgm:spPr/>
      <dgm:t>
        <a:bodyPr/>
        <a:lstStyle/>
        <a:p>
          <a:r>
            <a:rPr lang="en-US"/>
            <a:t>Identifying relationships</a:t>
          </a:r>
        </a:p>
      </dgm:t>
    </dgm:pt>
    <dgm:pt modelId="{48C2CBC4-3983-437B-9FDA-98A0710060FB}" type="parTrans" cxnId="{1233CDE0-DA53-4119-8FB1-EAD368936400}">
      <dgm:prSet/>
      <dgm:spPr/>
      <dgm:t>
        <a:bodyPr/>
        <a:lstStyle/>
        <a:p>
          <a:endParaRPr lang="en-US"/>
        </a:p>
      </dgm:t>
    </dgm:pt>
    <dgm:pt modelId="{494674AF-CAFA-469F-87E1-4CF8326074AB}" type="sibTrans" cxnId="{1233CDE0-DA53-4119-8FB1-EAD368936400}">
      <dgm:prSet/>
      <dgm:spPr/>
      <dgm:t>
        <a:bodyPr/>
        <a:lstStyle/>
        <a:p>
          <a:endParaRPr lang="en-US"/>
        </a:p>
      </dgm:t>
    </dgm:pt>
    <dgm:pt modelId="{FC4A549F-69C6-48F7-B2E8-6E9EA9C2C6F7}">
      <dgm:prSet/>
      <dgm:spPr/>
      <dgm:t>
        <a:bodyPr/>
        <a:lstStyle/>
        <a:p>
          <a:r>
            <a:rPr lang="en-US"/>
            <a:t>Regression</a:t>
          </a:r>
        </a:p>
      </dgm:t>
    </dgm:pt>
    <dgm:pt modelId="{3E20DDC0-C1A3-4E0E-BCB5-478BEDCBF885}" type="parTrans" cxnId="{C065684A-08FC-4E2A-8B8C-0700D72B54B3}">
      <dgm:prSet/>
      <dgm:spPr/>
      <dgm:t>
        <a:bodyPr/>
        <a:lstStyle/>
        <a:p>
          <a:endParaRPr lang="en-US"/>
        </a:p>
      </dgm:t>
    </dgm:pt>
    <dgm:pt modelId="{71C3B262-B414-40FC-B0CA-DC016290250B}" type="sibTrans" cxnId="{C065684A-08FC-4E2A-8B8C-0700D72B54B3}">
      <dgm:prSet/>
      <dgm:spPr/>
      <dgm:t>
        <a:bodyPr/>
        <a:lstStyle/>
        <a:p>
          <a:endParaRPr lang="en-US"/>
        </a:p>
      </dgm:t>
    </dgm:pt>
    <dgm:pt modelId="{B23DB74A-7141-42FD-8B6C-E9B9B59B7735}">
      <dgm:prSet/>
      <dgm:spPr/>
      <dgm:t>
        <a:bodyPr/>
        <a:lstStyle/>
        <a:p>
          <a:r>
            <a:rPr lang="en-US"/>
            <a:t>Nonparametric statistical tests</a:t>
          </a:r>
        </a:p>
      </dgm:t>
    </dgm:pt>
    <dgm:pt modelId="{64BB00D8-2C2A-491B-822A-4BE98024CEC8}" type="parTrans" cxnId="{30E14B2A-D7DD-460F-A5FE-392A3ACFE7C8}">
      <dgm:prSet/>
      <dgm:spPr/>
      <dgm:t>
        <a:bodyPr/>
        <a:lstStyle/>
        <a:p>
          <a:endParaRPr lang="en-US"/>
        </a:p>
      </dgm:t>
    </dgm:pt>
    <dgm:pt modelId="{6654450B-FAB7-43EE-86D8-B979385931C4}" type="sibTrans" cxnId="{30E14B2A-D7DD-460F-A5FE-392A3ACFE7C8}">
      <dgm:prSet/>
      <dgm:spPr/>
      <dgm:t>
        <a:bodyPr/>
        <a:lstStyle/>
        <a:p>
          <a:endParaRPr lang="en-US"/>
        </a:p>
      </dgm:t>
    </dgm:pt>
    <dgm:pt modelId="{FF1CD5C0-A902-0047-9B39-5179E89C20B7}" type="pres">
      <dgm:prSet presAssocID="{EC894147-1E82-4E82-807F-656E021475E6}" presName="vert0" presStyleCnt="0">
        <dgm:presLayoutVars>
          <dgm:dir/>
          <dgm:animOne val="branch"/>
          <dgm:animLvl val="lvl"/>
        </dgm:presLayoutVars>
      </dgm:prSet>
      <dgm:spPr/>
    </dgm:pt>
    <dgm:pt modelId="{11E882A8-85B4-F342-99F3-ADAB65E413FF}" type="pres">
      <dgm:prSet presAssocID="{D8B1AAFF-0D90-4954-963A-3DD9A7076B28}" presName="thickLine" presStyleLbl="alignNode1" presStyleIdx="0" presStyleCnt="9"/>
      <dgm:spPr/>
    </dgm:pt>
    <dgm:pt modelId="{03FCB89D-BC1A-EC40-8171-FEA1FD1BECEE}" type="pres">
      <dgm:prSet presAssocID="{D8B1AAFF-0D90-4954-963A-3DD9A7076B28}" presName="horz1" presStyleCnt="0"/>
      <dgm:spPr/>
    </dgm:pt>
    <dgm:pt modelId="{84996B29-A93D-DC4D-BCCB-F7FCFFD33FE3}" type="pres">
      <dgm:prSet presAssocID="{D8B1AAFF-0D90-4954-963A-3DD9A7076B28}" presName="tx1" presStyleLbl="revTx" presStyleIdx="0" presStyleCnt="9"/>
      <dgm:spPr/>
    </dgm:pt>
    <dgm:pt modelId="{1A4DAC3B-0DB6-514E-96CC-7D264323CEA5}" type="pres">
      <dgm:prSet presAssocID="{D8B1AAFF-0D90-4954-963A-3DD9A7076B28}" presName="vert1" presStyleCnt="0"/>
      <dgm:spPr/>
    </dgm:pt>
    <dgm:pt modelId="{9F5303DF-BE59-C741-B549-42DE6ED15B64}" type="pres">
      <dgm:prSet presAssocID="{58FB0BCA-3436-4BBF-9E4A-A2E11268BA07}" presName="thickLine" presStyleLbl="alignNode1" presStyleIdx="1" presStyleCnt="9"/>
      <dgm:spPr/>
    </dgm:pt>
    <dgm:pt modelId="{7195C599-7CEC-D946-82DF-D073F8BB4BE3}" type="pres">
      <dgm:prSet presAssocID="{58FB0BCA-3436-4BBF-9E4A-A2E11268BA07}" presName="horz1" presStyleCnt="0"/>
      <dgm:spPr/>
    </dgm:pt>
    <dgm:pt modelId="{9DFEA29E-A312-9C40-8523-CCAF065D690A}" type="pres">
      <dgm:prSet presAssocID="{58FB0BCA-3436-4BBF-9E4A-A2E11268BA07}" presName="tx1" presStyleLbl="revTx" presStyleIdx="1" presStyleCnt="9"/>
      <dgm:spPr/>
    </dgm:pt>
    <dgm:pt modelId="{997327D3-A995-3041-8313-AA0B23D587C6}" type="pres">
      <dgm:prSet presAssocID="{58FB0BCA-3436-4BBF-9E4A-A2E11268BA07}" presName="vert1" presStyleCnt="0"/>
      <dgm:spPr/>
    </dgm:pt>
    <dgm:pt modelId="{04B43F6A-E2F2-CB43-BF96-992214D07872}" type="pres">
      <dgm:prSet presAssocID="{0F6752C7-9907-422F-B3E8-5637CEDDC6B9}" presName="thickLine" presStyleLbl="alignNode1" presStyleIdx="2" presStyleCnt="9"/>
      <dgm:spPr/>
    </dgm:pt>
    <dgm:pt modelId="{3B59C2CF-BB8D-CF42-8ACB-C380167461A1}" type="pres">
      <dgm:prSet presAssocID="{0F6752C7-9907-422F-B3E8-5637CEDDC6B9}" presName="horz1" presStyleCnt="0"/>
      <dgm:spPr/>
    </dgm:pt>
    <dgm:pt modelId="{BD465A29-C829-5E4C-A55B-AF76689AB546}" type="pres">
      <dgm:prSet presAssocID="{0F6752C7-9907-422F-B3E8-5637CEDDC6B9}" presName="tx1" presStyleLbl="revTx" presStyleIdx="2" presStyleCnt="9"/>
      <dgm:spPr/>
    </dgm:pt>
    <dgm:pt modelId="{09BB0951-8347-6941-B7AE-34785D854E5F}" type="pres">
      <dgm:prSet presAssocID="{0F6752C7-9907-422F-B3E8-5637CEDDC6B9}" presName="vert1" presStyleCnt="0"/>
      <dgm:spPr/>
    </dgm:pt>
    <dgm:pt modelId="{B6B2E0FE-01A7-FE41-948D-81EB61DCDD56}" type="pres">
      <dgm:prSet presAssocID="{2BE66619-5F96-4303-B089-45F28A307F2F}" presName="thickLine" presStyleLbl="alignNode1" presStyleIdx="3" presStyleCnt="9"/>
      <dgm:spPr/>
    </dgm:pt>
    <dgm:pt modelId="{12A3E1BB-F874-CA4A-9FA1-AC6367CBC9E7}" type="pres">
      <dgm:prSet presAssocID="{2BE66619-5F96-4303-B089-45F28A307F2F}" presName="horz1" presStyleCnt="0"/>
      <dgm:spPr/>
    </dgm:pt>
    <dgm:pt modelId="{5D268EE7-3223-D74E-BD9E-F51361903522}" type="pres">
      <dgm:prSet presAssocID="{2BE66619-5F96-4303-B089-45F28A307F2F}" presName="tx1" presStyleLbl="revTx" presStyleIdx="3" presStyleCnt="9"/>
      <dgm:spPr/>
    </dgm:pt>
    <dgm:pt modelId="{9EDABBD1-AE64-1D47-B8A0-5796E50CCDD2}" type="pres">
      <dgm:prSet presAssocID="{2BE66619-5F96-4303-B089-45F28A307F2F}" presName="vert1" presStyleCnt="0"/>
      <dgm:spPr/>
    </dgm:pt>
    <dgm:pt modelId="{BA395FF7-E8DB-4643-AD49-0726D07AA13F}" type="pres">
      <dgm:prSet presAssocID="{DC4BC5AE-FBCD-488C-90A3-289B2EC90D18}" presName="thickLine" presStyleLbl="alignNode1" presStyleIdx="4" presStyleCnt="9"/>
      <dgm:spPr/>
    </dgm:pt>
    <dgm:pt modelId="{F66C4325-9089-BD4D-8D5E-103CDABDDE77}" type="pres">
      <dgm:prSet presAssocID="{DC4BC5AE-FBCD-488C-90A3-289B2EC90D18}" presName="horz1" presStyleCnt="0"/>
      <dgm:spPr/>
    </dgm:pt>
    <dgm:pt modelId="{82A50F7B-FECA-F548-BED9-C4FECFA4433B}" type="pres">
      <dgm:prSet presAssocID="{DC4BC5AE-FBCD-488C-90A3-289B2EC90D18}" presName="tx1" presStyleLbl="revTx" presStyleIdx="4" presStyleCnt="9"/>
      <dgm:spPr/>
    </dgm:pt>
    <dgm:pt modelId="{3FD27976-007D-EE44-AE36-9E59AF4B8723}" type="pres">
      <dgm:prSet presAssocID="{DC4BC5AE-FBCD-488C-90A3-289B2EC90D18}" presName="vert1" presStyleCnt="0"/>
      <dgm:spPr/>
    </dgm:pt>
    <dgm:pt modelId="{B0FBDBB9-1A3E-D54F-BC2B-AD5567FA05CF}" type="pres">
      <dgm:prSet presAssocID="{11F99DB7-5A28-49C4-A0BC-FA16E41FFA94}" presName="thickLine" presStyleLbl="alignNode1" presStyleIdx="5" presStyleCnt="9"/>
      <dgm:spPr/>
    </dgm:pt>
    <dgm:pt modelId="{B60875CE-0EAF-2747-8506-9F3200F51130}" type="pres">
      <dgm:prSet presAssocID="{11F99DB7-5A28-49C4-A0BC-FA16E41FFA94}" presName="horz1" presStyleCnt="0"/>
      <dgm:spPr/>
    </dgm:pt>
    <dgm:pt modelId="{FB0AA025-E278-EE4C-ACA1-896163FE5C47}" type="pres">
      <dgm:prSet presAssocID="{11F99DB7-5A28-49C4-A0BC-FA16E41FFA94}" presName="tx1" presStyleLbl="revTx" presStyleIdx="5" presStyleCnt="9"/>
      <dgm:spPr/>
    </dgm:pt>
    <dgm:pt modelId="{14A617C9-ADC6-D54A-B750-5A75FB79D661}" type="pres">
      <dgm:prSet presAssocID="{11F99DB7-5A28-49C4-A0BC-FA16E41FFA94}" presName="vert1" presStyleCnt="0"/>
      <dgm:spPr/>
    </dgm:pt>
    <dgm:pt modelId="{B5BA19CC-D49C-2D43-9BC7-7601FCFCC367}" type="pres">
      <dgm:prSet presAssocID="{B76E909F-6694-469D-9D10-B53C8827BDB4}" presName="thickLine" presStyleLbl="alignNode1" presStyleIdx="6" presStyleCnt="9"/>
      <dgm:spPr/>
    </dgm:pt>
    <dgm:pt modelId="{D0942EB5-3873-9A49-9511-36DC725BC3EC}" type="pres">
      <dgm:prSet presAssocID="{B76E909F-6694-469D-9D10-B53C8827BDB4}" presName="horz1" presStyleCnt="0"/>
      <dgm:spPr/>
    </dgm:pt>
    <dgm:pt modelId="{00A18820-0456-0C4D-BCEE-59B601BDF6D2}" type="pres">
      <dgm:prSet presAssocID="{B76E909F-6694-469D-9D10-B53C8827BDB4}" presName="tx1" presStyleLbl="revTx" presStyleIdx="6" presStyleCnt="9"/>
      <dgm:spPr/>
    </dgm:pt>
    <dgm:pt modelId="{8709744C-0ED4-354A-81B5-F9A8C315C3DE}" type="pres">
      <dgm:prSet presAssocID="{B76E909F-6694-469D-9D10-B53C8827BDB4}" presName="vert1" presStyleCnt="0"/>
      <dgm:spPr/>
    </dgm:pt>
    <dgm:pt modelId="{AD6F7BCD-8FCD-6646-A0DA-7932A7656A3D}" type="pres">
      <dgm:prSet presAssocID="{FC4A549F-69C6-48F7-B2E8-6E9EA9C2C6F7}" presName="thickLine" presStyleLbl="alignNode1" presStyleIdx="7" presStyleCnt="9"/>
      <dgm:spPr/>
    </dgm:pt>
    <dgm:pt modelId="{12BE0248-4055-9249-BAC5-C1B9D16C5700}" type="pres">
      <dgm:prSet presAssocID="{FC4A549F-69C6-48F7-B2E8-6E9EA9C2C6F7}" presName="horz1" presStyleCnt="0"/>
      <dgm:spPr/>
    </dgm:pt>
    <dgm:pt modelId="{12F4D13E-D140-2749-8FBD-3CE21DC9989D}" type="pres">
      <dgm:prSet presAssocID="{FC4A549F-69C6-48F7-B2E8-6E9EA9C2C6F7}" presName="tx1" presStyleLbl="revTx" presStyleIdx="7" presStyleCnt="9"/>
      <dgm:spPr/>
    </dgm:pt>
    <dgm:pt modelId="{A50B9EDA-8172-FF40-BC2A-E90560C04575}" type="pres">
      <dgm:prSet presAssocID="{FC4A549F-69C6-48F7-B2E8-6E9EA9C2C6F7}" presName="vert1" presStyleCnt="0"/>
      <dgm:spPr/>
    </dgm:pt>
    <dgm:pt modelId="{7254C10A-1CC6-0247-88B2-5CA4E3DA5A4B}" type="pres">
      <dgm:prSet presAssocID="{B23DB74A-7141-42FD-8B6C-E9B9B59B7735}" presName="thickLine" presStyleLbl="alignNode1" presStyleIdx="8" presStyleCnt="9"/>
      <dgm:spPr/>
    </dgm:pt>
    <dgm:pt modelId="{DF51F239-58BF-3141-8570-D24E92493E5D}" type="pres">
      <dgm:prSet presAssocID="{B23DB74A-7141-42FD-8B6C-E9B9B59B7735}" presName="horz1" presStyleCnt="0"/>
      <dgm:spPr/>
    </dgm:pt>
    <dgm:pt modelId="{D4BDE055-61FA-F848-9CD8-C3202D4ACB0D}" type="pres">
      <dgm:prSet presAssocID="{B23DB74A-7141-42FD-8B6C-E9B9B59B7735}" presName="tx1" presStyleLbl="revTx" presStyleIdx="8" presStyleCnt="9"/>
      <dgm:spPr/>
    </dgm:pt>
    <dgm:pt modelId="{19390401-D00A-2C48-A80D-0908322E2FD2}" type="pres">
      <dgm:prSet presAssocID="{B23DB74A-7141-42FD-8B6C-E9B9B59B7735}" presName="vert1" presStyleCnt="0"/>
      <dgm:spPr/>
    </dgm:pt>
  </dgm:ptLst>
  <dgm:cxnLst>
    <dgm:cxn modelId="{327AC703-AE13-054E-ACDC-20F206CD5BB1}" type="presOf" srcId="{11F99DB7-5A28-49C4-A0BC-FA16E41FFA94}" destId="{FB0AA025-E278-EE4C-ACA1-896163FE5C47}" srcOrd="0" destOrd="0" presId="urn:microsoft.com/office/officeart/2008/layout/LinedList"/>
    <dgm:cxn modelId="{329A4229-774C-5A4A-85EE-420998386EFA}" type="presOf" srcId="{B76E909F-6694-469D-9D10-B53C8827BDB4}" destId="{00A18820-0456-0C4D-BCEE-59B601BDF6D2}" srcOrd="0" destOrd="0" presId="urn:microsoft.com/office/officeart/2008/layout/LinedList"/>
    <dgm:cxn modelId="{30E14B2A-D7DD-460F-A5FE-392A3ACFE7C8}" srcId="{EC894147-1E82-4E82-807F-656E021475E6}" destId="{B23DB74A-7141-42FD-8B6C-E9B9B59B7735}" srcOrd="8" destOrd="0" parTransId="{64BB00D8-2C2A-491B-822A-4BE98024CEC8}" sibTransId="{6654450B-FAB7-43EE-86D8-B979385931C4}"/>
    <dgm:cxn modelId="{09865E3A-633D-468D-BEDC-24AE7C7B564A}" srcId="{EC894147-1E82-4E82-807F-656E021475E6}" destId="{58FB0BCA-3436-4BBF-9E4A-A2E11268BA07}" srcOrd="1" destOrd="0" parTransId="{92F388C4-CA05-4DFB-B79C-A0759F758541}" sibTransId="{7E974895-8422-458E-B8F6-5A111B485181}"/>
    <dgm:cxn modelId="{C065684A-08FC-4E2A-8B8C-0700D72B54B3}" srcId="{EC894147-1E82-4E82-807F-656E021475E6}" destId="{FC4A549F-69C6-48F7-B2E8-6E9EA9C2C6F7}" srcOrd="7" destOrd="0" parTransId="{3E20DDC0-C1A3-4E0E-BCB5-478BEDCBF885}" sibTransId="{71C3B262-B414-40FC-B0CA-DC016290250B}"/>
    <dgm:cxn modelId="{70D8EB54-DDBE-4B4C-9D30-27F04573D2F7}" srcId="{EC894147-1E82-4E82-807F-656E021475E6}" destId="{D8B1AAFF-0D90-4954-963A-3DD9A7076B28}" srcOrd="0" destOrd="0" parTransId="{614F2935-A6C4-417E-9773-8009C3E81EC3}" sibTransId="{79AB8AB5-C334-404E-B942-D04785D99E74}"/>
    <dgm:cxn modelId="{C3B97C5C-4B0A-B24D-90D5-AC03BC0A85C9}" type="presOf" srcId="{FC4A549F-69C6-48F7-B2E8-6E9EA9C2C6F7}" destId="{12F4D13E-D140-2749-8FBD-3CE21DC9989D}" srcOrd="0" destOrd="0" presId="urn:microsoft.com/office/officeart/2008/layout/LinedList"/>
    <dgm:cxn modelId="{8C576C5F-B3AC-42C9-83B5-948E70E7C39F}" srcId="{EC894147-1E82-4E82-807F-656E021475E6}" destId="{0F6752C7-9907-422F-B3E8-5637CEDDC6B9}" srcOrd="2" destOrd="0" parTransId="{E790DC2E-EF4E-49A5-B7D3-6B2AC370B528}" sibTransId="{102657E4-3701-45BB-B4A7-88F1C80C96BA}"/>
    <dgm:cxn modelId="{67D12668-9C8C-3B4B-A077-3C03093C0438}" type="presOf" srcId="{EC894147-1E82-4E82-807F-656E021475E6}" destId="{FF1CD5C0-A902-0047-9B39-5179E89C20B7}" srcOrd="0" destOrd="0" presId="urn:microsoft.com/office/officeart/2008/layout/LinedList"/>
    <dgm:cxn modelId="{788FDA6B-A211-44C8-B1BC-7AB169517F2A}" srcId="{EC894147-1E82-4E82-807F-656E021475E6}" destId="{2BE66619-5F96-4303-B089-45F28A307F2F}" srcOrd="3" destOrd="0" parTransId="{553EAF34-D654-43D2-97FB-356DEA8EB383}" sibTransId="{1EFD0496-AE0F-4BC3-B90C-57721843AA3E}"/>
    <dgm:cxn modelId="{A131A373-60B1-EB44-B0DC-DA23DC7F63D8}" type="presOf" srcId="{58FB0BCA-3436-4BBF-9E4A-A2E11268BA07}" destId="{9DFEA29E-A312-9C40-8523-CCAF065D690A}" srcOrd="0" destOrd="0" presId="urn:microsoft.com/office/officeart/2008/layout/LinedList"/>
    <dgm:cxn modelId="{E1067478-0870-6D43-8BDE-48AAC5E8399E}" type="presOf" srcId="{2BE66619-5F96-4303-B089-45F28A307F2F}" destId="{5D268EE7-3223-D74E-BD9E-F51361903522}" srcOrd="0" destOrd="0" presId="urn:microsoft.com/office/officeart/2008/layout/LinedList"/>
    <dgm:cxn modelId="{2CDF098B-42AD-CC41-8A1E-BBC75D73ED53}" type="presOf" srcId="{0F6752C7-9907-422F-B3E8-5637CEDDC6B9}" destId="{BD465A29-C829-5E4C-A55B-AF76689AB546}" srcOrd="0" destOrd="0" presId="urn:microsoft.com/office/officeart/2008/layout/LinedList"/>
    <dgm:cxn modelId="{431FC192-17DC-8948-A5A9-A458324379A3}" type="presOf" srcId="{D8B1AAFF-0D90-4954-963A-3DD9A7076B28}" destId="{84996B29-A93D-DC4D-BCCB-F7FCFFD33FE3}" srcOrd="0" destOrd="0" presId="urn:microsoft.com/office/officeart/2008/layout/LinedList"/>
    <dgm:cxn modelId="{F6FCEB92-EC60-CE48-858B-8CA1CB9993B7}" type="presOf" srcId="{DC4BC5AE-FBCD-488C-90A3-289B2EC90D18}" destId="{82A50F7B-FECA-F548-BED9-C4FECFA4433B}" srcOrd="0" destOrd="0" presId="urn:microsoft.com/office/officeart/2008/layout/LinedList"/>
    <dgm:cxn modelId="{45A76DB1-DEDC-9041-BA72-264A4CEEE54A}" type="presOf" srcId="{B23DB74A-7141-42FD-8B6C-E9B9B59B7735}" destId="{D4BDE055-61FA-F848-9CD8-C3202D4ACB0D}" srcOrd="0" destOrd="0" presId="urn:microsoft.com/office/officeart/2008/layout/LinedList"/>
    <dgm:cxn modelId="{4B7510D4-4216-4C86-ADA1-BF3570BB6AC2}" srcId="{EC894147-1E82-4E82-807F-656E021475E6}" destId="{11F99DB7-5A28-49C4-A0BC-FA16E41FFA94}" srcOrd="5" destOrd="0" parTransId="{D5B9D5EA-C6F4-47C0-9861-D47F589FEE8E}" sibTransId="{43C9C0E1-23FC-4820-91C8-B1E6E5E8D805}"/>
    <dgm:cxn modelId="{03190CDF-340A-4B31-B845-5A50DCD5A7B2}" srcId="{EC894147-1E82-4E82-807F-656E021475E6}" destId="{DC4BC5AE-FBCD-488C-90A3-289B2EC90D18}" srcOrd="4" destOrd="0" parTransId="{FE9BD205-9553-44CA-ACAB-73D30E5F3F4F}" sibTransId="{89EC1814-F540-419B-8105-C78C63E548E7}"/>
    <dgm:cxn modelId="{1233CDE0-DA53-4119-8FB1-EAD368936400}" srcId="{EC894147-1E82-4E82-807F-656E021475E6}" destId="{B76E909F-6694-469D-9D10-B53C8827BDB4}" srcOrd="6" destOrd="0" parTransId="{48C2CBC4-3983-437B-9FDA-98A0710060FB}" sibTransId="{494674AF-CAFA-469F-87E1-4CF8326074AB}"/>
    <dgm:cxn modelId="{2F64DC04-200F-4249-ADA5-143F83A3F3EF}" type="presParOf" srcId="{FF1CD5C0-A902-0047-9B39-5179E89C20B7}" destId="{11E882A8-85B4-F342-99F3-ADAB65E413FF}" srcOrd="0" destOrd="0" presId="urn:microsoft.com/office/officeart/2008/layout/LinedList"/>
    <dgm:cxn modelId="{E97F9D25-EF07-5448-A8E4-991B19D1AB32}" type="presParOf" srcId="{FF1CD5C0-A902-0047-9B39-5179E89C20B7}" destId="{03FCB89D-BC1A-EC40-8171-FEA1FD1BECEE}" srcOrd="1" destOrd="0" presId="urn:microsoft.com/office/officeart/2008/layout/LinedList"/>
    <dgm:cxn modelId="{25A8EE88-03D3-4F45-957C-6E14A2E8FF69}" type="presParOf" srcId="{03FCB89D-BC1A-EC40-8171-FEA1FD1BECEE}" destId="{84996B29-A93D-DC4D-BCCB-F7FCFFD33FE3}" srcOrd="0" destOrd="0" presId="urn:microsoft.com/office/officeart/2008/layout/LinedList"/>
    <dgm:cxn modelId="{CC479B52-0933-8446-94C3-EAFC9AE3F1EA}" type="presParOf" srcId="{03FCB89D-BC1A-EC40-8171-FEA1FD1BECEE}" destId="{1A4DAC3B-0DB6-514E-96CC-7D264323CEA5}" srcOrd="1" destOrd="0" presId="urn:microsoft.com/office/officeart/2008/layout/LinedList"/>
    <dgm:cxn modelId="{E32DD059-994A-A94F-8008-5DB614BD61D1}" type="presParOf" srcId="{FF1CD5C0-A902-0047-9B39-5179E89C20B7}" destId="{9F5303DF-BE59-C741-B549-42DE6ED15B64}" srcOrd="2" destOrd="0" presId="urn:microsoft.com/office/officeart/2008/layout/LinedList"/>
    <dgm:cxn modelId="{E8BC97CF-608D-4340-AD52-983C9D3CD0B0}" type="presParOf" srcId="{FF1CD5C0-A902-0047-9B39-5179E89C20B7}" destId="{7195C599-7CEC-D946-82DF-D073F8BB4BE3}" srcOrd="3" destOrd="0" presId="urn:microsoft.com/office/officeart/2008/layout/LinedList"/>
    <dgm:cxn modelId="{A1EEF100-E7D3-844F-A2A4-C5856C83CB71}" type="presParOf" srcId="{7195C599-7CEC-D946-82DF-D073F8BB4BE3}" destId="{9DFEA29E-A312-9C40-8523-CCAF065D690A}" srcOrd="0" destOrd="0" presId="urn:microsoft.com/office/officeart/2008/layout/LinedList"/>
    <dgm:cxn modelId="{F6F83096-0158-F442-BC87-1A35156ACC75}" type="presParOf" srcId="{7195C599-7CEC-D946-82DF-D073F8BB4BE3}" destId="{997327D3-A995-3041-8313-AA0B23D587C6}" srcOrd="1" destOrd="0" presId="urn:microsoft.com/office/officeart/2008/layout/LinedList"/>
    <dgm:cxn modelId="{8D37D25D-A05C-9443-84A9-E706EC7BB769}" type="presParOf" srcId="{FF1CD5C0-A902-0047-9B39-5179E89C20B7}" destId="{04B43F6A-E2F2-CB43-BF96-992214D07872}" srcOrd="4" destOrd="0" presId="urn:microsoft.com/office/officeart/2008/layout/LinedList"/>
    <dgm:cxn modelId="{8E8CFA52-D4B0-0042-B2F4-5A9BE1AC9E0C}" type="presParOf" srcId="{FF1CD5C0-A902-0047-9B39-5179E89C20B7}" destId="{3B59C2CF-BB8D-CF42-8ACB-C380167461A1}" srcOrd="5" destOrd="0" presId="urn:microsoft.com/office/officeart/2008/layout/LinedList"/>
    <dgm:cxn modelId="{B73E17B5-6A36-1748-9541-38AA43BCD68C}" type="presParOf" srcId="{3B59C2CF-BB8D-CF42-8ACB-C380167461A1}" destId="{BD465A29-C829-5E4C-A55B-AF76689AB546}" srcOrd="0" destOrd="0" presId="urn:microsoft.com/office/officeart/2008/layout/LinedList"/>
    <dgm:cxn modelId="{5E8F62FE-1AFA-DD44-B4F1-D54669C6D5B7}" type="presParOf" srcId="{3B59C2CF-BB8D-CF42-8ACB-C380167461A1}" destId="{09BB0951-8347-6941-B7AE-34785D854E5F}" srcOrd="1" destOrd="0" presId="urn:microsoft.com/office/officeart/2008/layout/LinedList"/>
    <dgm:cxn modelId="{D5B87C38-EE3E-FB49-90BB-B161FD753CE2}" type="presParOf" srcId="{FF1CD5C0-A902-0047-9B39-5179E89C20B7}" destId="{B6B2E0FE-01A7-FE41-948D-81EB61DCDD56}" srcOrd="6" destOrd="0" presId="urn:microsoft.com/office/officeart/2008/layout/LinedList"/>
    <dgm:cxn modelId="{82E5E3C9-1535-0C46-9944-9DDA697B2568}" type="presParOf" srcId="{FF1CD5C0-A902-0047-9B39-5179E89C20B7}" destId="{12A3E1BB-F874-CA4A-9FA1-AC6367CBC9E7}" srcOrd="7" destOrd="0" presId="urn:microsoft.com/office/officeart/2008/layout/LinedList"/>
    <dgm:cxn modelId="{108F8C06-0A4A-DF45-878B-12E193A5EAFF}" type="presParOf" srcId="{12A3E1BB-F874-CA4A-9FA1-AC6367CBC9E7}" destId="{5D268EE7-3223-D74E-BD9E-F51361903522}" srcOrd="0" destOrd="0" presId="urn:microsoft.com/office/officeart/2008/layout/LinedList"/>
    <dgm:cxn modelId="{DA046539-FBCE-DC4B-8F09-9AA9EA2FC3EE}" type="presParOf" srcId="{12A3E1BB-F874-CA4A-9FA1-AC6367CBC9E7}" destId="{9EDABBD1-AE64-1D47-B8A0-5796E50CCDD2}" srcOrd="1" destOrd="0" presId="urn:microsoft.com/office/officeart/2008/layout/LinedList"/>
    <dgm:cxn modelId="{D1289524-1BCB-D14B-8607-C39C6F3AFDF5}" type="presParOf" srcId="{FF1CD5C0-A902-0047-9B39-5179E89C20B7}" destId="{BA395FF7-E8DB-4643-AD49-0726D07AA13F}" srcOrd="8" destOrd="0" presId="urn:microsoft.com/office/officeart/2008/layout/LinedList"/>
    <dgm:cxn modelId="{807D6F65-6434-254D-800C-622BD4E1DDE9}" type="presParOf" srcId="{FF1CD5C0-A902-0047-9B39-5179E89C20B7}" destId="{F66C4325-9089-BD4D-8D5E-103CDABDDE77}" srcOrd="9" destOrd="0" presId="urn:microsoft.com/office/officeart/2008/layout/LinedList"/>
    <dgm:cxn modelId="{1457CFD8-0786-A44B-B8A6-D91D524FAA5C}" type="presParOf" srcId="{F66C4325-9089-BD4D-8D5E-103CDABDDE77}" destId="{82A50F7B-FECA-F548-BED9-C4FECFA4433B}" srcOrd="0" destOrd="0" presId="urn:microsoft.com/office/officeart/2008/layout/LinedList"/>
    <dgm:cxn modelId="{1A94FAB5-B740-AA47-AACC-B5BF0DF6A35D}" type="presParOf" srcId="{F66C4325-9089-BD4D-8D5E-103CDABDDE77}" destId="{3FD27976-007D-EE44-AE36-9E59AF4B8723}" srcOrd="1" destOrd="0" presId="urn:microsoft.com/office/officeart/2008/layout/LinedList"/>
    <dgm:cxn modelId="{3E63BFD5-65CC-7546-B567-B7F381C9F6F7}" type="presParOf" srcId="{FF1CD5C0-A902-0047-9B39-5179E89C20B7}" destId="{B0FBDBB9-1A3E-D54F-BC2B-AD5567FA05CF}" srcOrd="10" destOrd="0" presId="urn:microsoft.com/office/officeart/2008/layout/LinedList"/>
    <dgm:cxn modelId="{E0B224B1-8207-1542-9013-F6961480C58D}" type="presParOf" srcId="{FF1CD5C0-A902-0047-9B39-5179E89C20B7}" destId="{B60875CE-0EAF-2747-8506-9F3200F51130}" srcOrd="11" destOrd="0" presId="urn:microsoft.com/office/officeart/2008/layout/LinedList"/>
    <dgm:cxn modelId="{ACC2334C-2D8E-3742-9651-DC90B56E9874}" type="presParOf" srcId="{B60875CE-0EAF-2747-8506-9F3200F51130}" destId="{FB0AA025-E278-EE4C-ACA1-896163FE5C47}" srcOrd="0" destOrd="0" presId="urn:microsoft.com/office/officeart/2008/layout/LinedList"/>
    <dgm:cxn modelId="{EBDD28C4-B0E9-044A-8975-887A0ADBD602}" type="presParOf" srcId="{B60875CE-0EAF-2747-8506-9F3200F51130}" destId="{14A617C9-ADC6-D54A-B750-5A75FB79D661}" srcOrd="1" destOrd="0" presId="urn:microsoft.com/office/officeart/2008/layout/LinedList"/>
    <dgm:cxn modelId="{7DC4CCDB-14BE-B849-A3D3-D9F617A21489}" type="presParOf" srcId="{FF1CD5C0-A902-0047-9B39-5179E89C20B7}" destId="{B5BA19CC-D49C-2D43-9BC7-7601FCFCC367}" srcOrd="12" destOrd="0" presId="urn:microsoft.com/office/officeart/2008/layout/LinedList"/>
    <dgm:cxn modelId="{8F818479-C95D-AD45-9FF0-9AD08E631F3E}" type="presParOf" srcId="{FF1CD5C0-A902-0047-9B39-5179E89C20B7}" destId="{D0942EB5-3873-9A49-9511-36DC725BC3EC}" srcOrd="13" destOrd="0" presId="urn:microsoft.com/office/officeart/2008/layout/LinedList"/>
    <dgm:cxn modelId="{3C36EDF9-E7A9-E749-9D88-E406C262BF6D}" type="presParOf" srcId="{D0942EB5-3873-9A49-9511-36DC725BC3EC}" destId="{00A18820-0456-0C4D-BCEE-59B601BDF6D2}" srcOrd="0" destOrd="0" presId="urn:microsoft.com/office/officeart/2008/layout/LinedList"/>
    <dgm:cxn modelId="{45F1832A-7348-184A-8A5A-36FB260AF0E2}" type="presParOf" srcId="{D0942EB5-3873-9A49-9511-36DC725BC3EC}" destId="{8709744C-0ED4-354A-81B5-F9A8C315C3DE}" srcOrd="1" destOrd="0" presId="urn:microsoft.com/office/officeart/2008/layout/LinedList"/>
    <dgm:cxn modelId="{3920C9C5-89AE-F94D-9C3F-FC247C19DE8F}" type="presParOf" srcId="{FF1CD5C0-A902-0047-9B39-5179E89C20B7}" destId="{AD6F7BCD-8FCD-6646-A0DA-7932A7656A3D}" srcOrd="14" destOrd="0" presId="urn:microsoft.com/office/officeart/2008/layout/LinedList"/>
    <dgm:cxn modelId="{8C30107C-44CA-B740-968E-03B4D6D0C3AF}" type="presParOf" srcId="{FF1CD5C0-A902-0047-9B39-5179E89C20B7}" destId="{12BE0248-4055-9249-BAC5-C1B9D16C5700}" srcOrd="15" destOrd="0" presId="urn:microsoft.com/office/officeart/2008/layout/LinedList"/>
    <dgm:cxn modelId="{9F711977-3537-D14E-B7C0-090EB6F5190B}" type="presParOf" srcId="{12BE0248-4055-9249-BAC5-C1B9D16C5700}" destId="{12F4D13E-D140-2749-8FBD-3CE21DC9989D}" srcOrd="0" destOrd="0" presId="urn:microsoft.com/office/officeart/2008/layout/LinedList"/>
    <dgm:cxn modelId="{347079CF-FF1C-3C4B-A0AF-5FCDD283E5CD}" type="presParOf" srcId="{12BE0248-4055-9249-BAC5-C1B9D16C5700}" destId="{A50B9EDA-8172-FF40-BC2A-E90560C04575}" srcOrd="1" destOrd="0" presId="urn:microsoft.com/office/officeart/2008/layout/LinedList"/>
    <dgm:cxn modelId="{439E5DB2-1A76-EF46-A2CE-989F3202E509}" type="presParOf" srcId="{FF1CD5C0-A902-0047-9B39-5179E89C20B7}" destId="{7254C10A-1CC6-0247-88B2-5CA4E3DA5A4B}" srcOrd="16" destOrd="0" presId="urn:microsoft.com/office/officeart/2008/layout/LinedList"/>
    <dgm:cxn modelId="{7269A068-F445-1448-BB7E-0DB4489B014E}" type="presParOf" srcId="{FF1CD5C0-A902-0047-9B39-5179E89C20B7}" destId="{DF51F239-58BF-3141-8570-D24E92493E5D}" srcOrd="17" destOrd="0" presId="urn:microsoft.com/office/officeart/2008/layout/LinedList"/>
    <dgm:cxn modelId="{A5D35FE3-4071-624D-A123-E1D98232B873}" type="presParOf" srcId="{DF51F239-58BF-3141-8570-D24E92493E5D}" destId="{D4BDE055-61FA-F848-9CD8-C3202D4ACB0D}" srcOrd="0" destOrd="0" presId="urn:microsoft.com/office/officeart/2008/layout/LinedList"/>
    <dgm:cxn modelId="{81462DC2-FE70-FD41-89BA-EAC50AB5F5A9}" type="presParOf" srcId="{DF51F239-58BF-3141-8570-D24E92493E5D}" destId="{19390401-D00A-2C48-A80D-0908322E2FD2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1E882A8-85B4-F342-99F3-ADAB65E413FF}">
      <dsp:nvSpPr>
        <dsp:cNvPr id="0" name=""/>
        <dsp:cNvSpPr/>
      </dsp:nvSpPr>
      <dsp:spPr>
        <a:xfrm>
          <a:off x="0" y="531"/>
          <a:ext cx="50673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4996B29-A93D-DC4D-BCCB-F7FCFFD33FE3}">
      <dsp:nvSpPr>
        <dsp:cNvPr id="0" name=""/>
        <dsp:cNvSpPr/>
      </dsp:nvSpPr>
      <dsp:spPr>
        <a:xfrm>
          <a:off x="0" y="531"/>
          <a:ext cx="5067300" cy="4833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Preparing data for statistical analysis</a:t>
          </a:r>
        </a:p>
      </dsp:txBody>
      <dsp:txXfrm>
        <a:off x="0" y="531"/>
        <a:ext cx="5067300" cy="483363"/>
      </dsp:txXfrm>
    </dsp:sp>
    <dsp:sp modelId="{9F5303DF-BE59-C741-B549-42DE6ED15B64}">
      <dsp:nvSpPr>
        <dsp:cNvPr id="0" name=""/>
        <dsp:cNvSpPr/>
      </dsp:nvSpPr>
      <dsp:spPr>
        <a:xfrm>
          <a:off x="0" y="483895"/>
          <a:ext cx="50673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DFEA29E-A312-9C40-8523-CCAF065D690A}">
      <dsp:nvSpPr>
        <dsp:cNvPr id="0" name=""/>
        <dsp:cNvSpPr/>
      </dsp:nvSpPr>
      <dsp:spPr>
        <a:xfrm>
          <a:off x="0" y="483895"/>
          <a:ext cx="5067300" cy="4833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Descriptive statistics</a:t>
          </a:r>
        </a:p>
      </dsp:txBody>
      <dsp:txXfrm>
        <a:off x="0" y="483895"/>
        <a:ext cx="5067300" cy="483363"/>
      </dsp:txXfrm>
    </dsp:sp>
    <dsp:sp modelId="{04B43F6A-E2F2-CB43-BF96-992214D07872}">
      <dsp:nvSpPr>
        <dsp:cNvPr id="0" name=""/>
        <dsp:cNvSpPr/>
      </dsp:nvSpPr>
      <dsp:spPr>
        <a:xfrm>
          <a:off x="0" y="967259"/>
          <a:ext cx="50673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D465A29-C829-5E4C-A55B-AF76689AB546}">
      <dsp:nvSpPr>
        <dsp:cNvPr id="0" name=""/>
        <dsp:cNvSpPr/>
      </dsp:nvSpPr>
      <dsp:spPr>
        <a:xfrm>
          <a:off x="0" y="967259"/>
          <a:ext cx="5067300" cy="4833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Comparing means</a:t>
          </a:r>
        </a:p>
      </dsp:txBody>
      <dsp:txXfrm>
        <a:off x="0" y="967259"/>
        <a:ext cx="5067300" cy="483363"/>
      </dsp:txXfrm>
    </dsp:sp>
    <dsp:sp modelId="{B6B2E0FE-01A7-FE41-948D-81EB61DCDD56}">
      <dsp:nvSpPr>
        <dsp:cNvPr id="0" name=""/>
        <dsp:cNvSpPr/>
      </dsp:nvSpPr>
      <dsp:spPr>
        <a:xfrm>
          <a:off x="0" y="1450623"/>
          <a:ext cx="50673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D268EE7-3223-D74E-BD9E-F51361903522}">
      <dsp:nvSpPr>
        <dsp:cNvPr id="0" name=""/>
        <dsp:cNvSpPr/>
      </dsp:nvSpPr>
      <dsp:spPr>
        <a:xfrm>
          <a:off x="0" y="1450623"/>
          <a:ext cx="5067300" cy="4833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i="1" kern="1200"/>
            <a:t>T tests</a:t>
          </a:r>
          <a:endParaRPr lang="en-US" sz="2200" kern="1200"/>
        </a:p>
      </dsp:txBody>
      <dsp:txXfrm>
        <a:off x="0" y="1450623"/>
        <a:ext cx="5067300" cy="483363"/>
      </dsp:txXfrm>
    </dsp:sp>
    <dsp:sp modelId="{BA395FF7-E8DB-4643-AD49-0726D07AA13F}">
      <dsp:nvSpPr>
        <dsp:cNvPr id="0" name=""/>
        <dsp:cNvSpPr/>
      </dsp:nvSpPr>
      <dsp:spPr>
        <a:xfrm>
          <a:off x="0" y="1933987"/>
          <a:ext cx="50673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2A50F7B-FECA-F548-BED9-C4FECFA4433B}">
      <dsp:nvSpPr>
        <dsp:cNvPr id="0" name=""/>
        <dsp:cNvSpPr/>
      </dsp:nvSpPr>
      <dsp:spPr>
        <a:xfrm>
          <a:off x="0" y="1933987"/>
          <a:ext cx="5067300" cy="4833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Analysis of variance (ANOVA)</a:t>
          </a:r>
        </a:p>
      </dsp:txBody>
      <dsp:txXfrm>
        <a:off x="0" y="1933987"/>
        <a:ext cx="5067300" cy="483363"/>
      </dsp:txXfrm>
    </dsp:sp>
    <dsp:sp modelId="{B0FBDBB9-1A3E-D54F-BC2B-AD5567FA05CF}">
      <dsp:nvSpPr>
        <dsp:cNvPr id="0" name=""/>
        <dsp:cNvSpPr/>
      </dsp:nvSpPr>
      <dsp:spPr>
        <a:xfrm>
          <a:off x="0" y="2417350"/>
          <a:ext cx="50673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B0AA025-E278-EE4C-ACA1-896163FE5C47}">
      <dsp:nvSpPr>
        <dsp:cNvPr id="0" name=""/>
        <dsp:cNvSpPr/>
      </dsp:nvSpPr>
      <dsp:spPr>
        <a:xfrm>
          <a:off x="0" y="2417350"/>
          <a:ext cx="5067300" cy="4833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Assumptions of </a:t>
          </a:r>
          <a:r>
            <a:rPr lang="en-US" sz="2200" i="1" kern="1200"/>
            <a:t>t - tests and F - tests</a:t>
          </a:r>
          <a:endParaRPr lang="en-US" sz="2200" kern="1200"/>
        </a:p>
      </dsp:txBody>
      <dsp:txXfrm>
        <a:off x="0" y="2417350"/>
        <a:ext cx="5067300" cy="483363"/>
      </dsp:txXfrm>
    </dsp:sp>
    <dsp:sp modelId="{B5BA19CC-D49C-2D43-9BC7-7601FCFCC367}">
      <dsp:nvSpPr>
        <dsp:cNvPr id="0" name=""/>
        <dsp:cNvSpPr/>
      </dsp:nvSpPr>
      <dsp:spPr>
        <a:xfrm>
          <a:off x="0" y="2900714"/>
          <a:ext cx="50673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0A18820-0456-0C4D-BCEE-59B601BDF6D2}">
      <dsp:nvSpPr>
        <dsp:cNvPr id="0" name=""/>
        <dsp:cNvSpPr/>
      </dsp:nvSpPr>
      <dsp:spPr>
        <a:xfrm>
          <a:off x="0" y="2900714"/>
          <a:ext cx="5067300" cy="4833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Identifying relationships</a:t>
          </a:r>
        </a:p>
      </dsp:txBody>
      <dsp:txXfrm>
        <a:off x="0" y="2900714"/>
        <a:ext cx="5067300" cy="483363"/>
      </dsp:txXfrm>
    </dsp:sp>
    <dsp:sp modelId="{AD6F7BCD-8FCD-6646-A0DA-7932A7656A3D}">
      <dsp:nvSpPr>
        <dsp:cNvPr id="0" name=""/>
        <dsp:cNvSpPr/>
      </dsp:nvSpPr>
      <dsp:spPr>
        <a:xfrm>
          <a:off x="0" y="3384078"/>
          <a:ext cx="50673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2F4D13E-D140-2749-8FBD-3CE21DC9989D}">
      <dsp:nvSpPr>
        <dsp:cNvPr id="0" name=""/>
        <dsp:cNvSpPr/>
      </dsp:nvSpPr>
      <dsp:spPr>
        <a:xfrm>
          <a:off x="0" y="3384078"/>
          <a:ext cx="5067300" cy="4833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Regression</a:t>
          </a:r>
        </a:p>
      </dsp:txBody>
      <dsp:txXfrm>
        <a:off x="0" y="3384078"/>
        <a:ext cx="5067300" cy="483363"/>
      </dsp:txXfrm>
    </dsp:sp>
    <dsp:sp modelId="{7254C10A-1CC6-0247-88B2-5CA4E3DA5A4B}">
      <dsp:nvSpPr>
        <dsp:cNvPr id="0" name=""/>
        <dsp:cNvSpPr/>
      </dsp:nvSpPr>
      <dsp:spPr>
        <a:xfrm>
          <a:off x="0" y="3867442"/>
          <a:ext cx="50673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4BDE055-61FA-F848-9CD8-C3202D4ACB0D}">
      <dsp:nvSpPr>
        <dsp:cNvPr id="0" name=""/>
        <dsp:cNvSpPr/>
      </dsp:nvSpPr>
      <dsp:spPr>
        <a:xfrm>
          <a:off x="0" y="3867442"/>
          <a:ext cx="5067300" cy="4833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Nonparametric statistical tests</a:t>
          </a:r>
        </a:p>
      </dsp:txBody>
      <dsp:txXfrm>
        <a:off x="0" y="3867442"/>
        <a:ext cx="5067300" cy="48336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09526B-4330-534A-822D-E005E8E85DF0}" type="datetimeFigureOut">
              <a:rPr lang="en-US" smtClean="0"/>
              <a:t>9/21/25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7F7DD3-285D-824E-8C5F-1FF378250D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99258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ebdesign.tutsplus.com/articles/8-golden-rules-for-better-interface-design--cms-30886" TargetMode="External"/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www.interaction-design.org/literature/article/shneiderman-s-eight-golden-rules-will-help-you-design-better-interfaces" TargetMode="Externa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6">
            <a:extLst>
              <a:ext uri="{FF2B5EF4-FFF2-40B4-BE49-F238E27FC236}">
                <a16:creationId xmlns:a16="http://schemas.microsoft.com/office/drawing/2014/main" id="{C2FB0767-900C-A46F-1492-B50BCF72C06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28B723BE-CFED-3440-914B-BEB217027DFE}" type="slidenum">
              <a:rPr lang="en-US" altLang="en-US">
                <a:latin typeface="Tw Cen MT" panose="020B0602020104020603" pitchFamily="34" charset="77"/>
              </a:rPr>
              <a:pPr>
                <a:spcBef>
                  <a:spcPct val="0"/>
                </a:spcBef>
              </a:pPr>
              <a:t>19</a:t>
            </a:fld>
            <a:endParaRPr lang="en-US" altLang="en-US">
              <a:latin typeface="Tw Cen MT" panose="020B0602020104020603" pitchFamily="34" charset="77"/>
            </a:endParaRPr>
          </a:p>
        </p:txBody>
      </p:sp>
      <p:sp>
        <p:nvSpPr>
          <p:cNvPr id="20483" name="Rectangle 1">
            <a:extLst>
              <a:ext uri="{FF2B5EF4-FFF2-40B4-BE49-F238E27FC236}">
                <a16:creationId xmlns:a16="http://schemas.microsoft.com/office/drawing/2014/main" id="{146233A4-FFC1-91EA-7718-9D79972D91F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95325"/>
            <a:ext cx="4570413" cy="3427413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0484" name="Rectangle 2">
            <a:extLst>
              <a:ext uri="{FF2B5EF4-FFF2-40B4-BE49-F238E27FC236}">
                <a16:creationId xmlns:a16="http://schemas.microsoft.com/office/drawing/2014/main" id="{6A077446-A5E2-723E-8D3D-25E7E1C2D47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numCol="1" anchor="ctr" anchorCtr="0" compatLnSpc="1">
            <a:prstTxWarp prst="textNoShape">
              <a:avLst/>
            </a:prstTxWarp>
          </a:bodyPr>
          <a:lstStyle/>
          <a:p>
            <a:r>
              <a:rPr lang="en-US" altLang="en-US">
                <a:hlinkClick r:id="rId3"/>
              </a:rPr>
              <a:t>https://webdesign.tutsplus.com/articles/8-golden-rules-for-better-interface-design--cms-30886</a:t>
            </a:r>
            <a:endParaRPr lang="en-US" altLang="en-US"/>
          </a:p>
          <a:p>
            <a:r>
              <a:rPr lang="en-US" altLang="en-US">
                <a:hlinkClick r:id="rId4"/>
              </a:rPr>
              <a:t>https://www.interaction-design.org/literature/article/shneiderman-s-eight-golden-rules-will-help-you-design-better-interfaces</a:t>
            </a:r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6">
            <a:extLst>
              <a:ext uri="{FF2B5EF4-FFF2-40B4-BE49-F238E27FC236}">
                <a16:creationId xmlns:a16="http://schemas.microsoft.com/office/drawing/2014/main" id="{943F8C6B-1ECE-164E-F58D-705B454E854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F7255270-376C-504E-AD1C-57E420613A0F}" type="slidenum">
              <a:rPr lang="en-US" altLang="en-US">
                <a:latin typeface="Tw Cen MT" panose="020B0602020104020603" pitchFamily="34" charset="77"/>
              </a:rPr>
              <a:pPr>
                <a:spcBef>
                  <a:spcPct val="0"/>
                </a:spcBef>
              </a:pPr>
              <a:t>21</a:t>
            </a:fld>
            <a:endParaRPr lang="en-US" altLang="en-US">
              <a:latin typeface="Tw Cen MT" panose="020B0602020104020603" pitchFamily="34" charset="77"/>
            </a:endParaRPr>
          </a:p>
        </p:txBody>
      </p:sp>
      <p:sp>
        <p:nvSpPr>
          <p:cNvPr id="24579" name="Rectangle 1">
            <a:extLst>
              <a:ext uri="{FF2B5EF4-FFF2-40B4-BE49-F238E27FC236}">
                <a16:creationId xmlns:a16="http://schemas.microsoft.com/office/drawing/2014/main" id="{7F300A7A-27F1-7BB7-2784-7D4D40D375D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95325"/>
            <a:ext cx="4570413" cy="3427413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4580" name="Rectangle 2">
            <a:extLst>
              <a:ext uri="{FF2B5EF4-FFF2-40B4-BE49-F238E27FC236}">
                <a16:creationId xmlns:a16="http://schemas.microsoft.com/office/drawing/2014/main" id="{C7466DEF-53DE-2D1C-2174-D1355223C20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numCol="1" anchor="ctr" anchorCtr="0" compatLnSpc="1">
            <a:prstTxWarp prst="textNoShape">
              <a:avLst/>
            </a:prstTxWarp>
          </a:bodyPr>
          <a:lstStyle/>
          <a:p>
            <a:r>
              <a:rPr lang="en-US" altLang="en-US"/>
              <a:t>   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6">
            <a:extLst>
              <a:ext uri="{FF2B5EF4-FFF2-40B4-BE49-F238E27FC236}">
                <a16:creationId xmlns:a16="http://schemas.microsoft.com/office/drawing/2014/main" id="{201CF7E0-3A37-3324-8550-68028763E3D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3602DE97-F72C-9F47-98B0-99E1DA987166}" type="slidenum">
              <a:rPr lang="en-US" altLang="en-US">
                <a:latin typeface="Tw Cen MT" panose="020B0602020104020603" pitchFamily="34" charset="77"/>
              </a:rPr>
              <a:pPr>
                <a:spcBef>
                  <a:spcPct val="0"/>
                </a:spcBef>
              </a:pPr>
              <a:t>22</a:t>
            </a:fld>
            <a:endParaRPr lang="en-US" altLang="en-US">
              <a:latin typeface="Tw Cen MT" panose="020B0602020104020603" pitchFamily="34" charset="77"/>
            </a:endParaRPr>
          </a:p>
        </p:txBody>
      </p:sp>
      <p:sp>
        <p:nvSpPr>
          <p:cNvPr id="26627" name="Rectangle 1">
            <a:extLst>
              <a:ext uri="{FF2B5EF4-FFF2-40B4-BE49-F238E27FC236}">
                <a16:creationId xmlns:a16="http://schemas.microsoft.com/office/drawing/2014/main" id="{63A6ED55-A6B3-B5C6-973B-959D5B4FA53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95325"/>
            <a:ext cx="4570413" cy="3427413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6628" name="Rectangle 2">
            <a:extLst>
              <a:ext uri="{FF2B5EF4-FFF2-40B4-BE49-F238E27FC236}">
                <a16:creationId xmlns:a16="http://schemas.microsoft.com/office/drawing/2014/main" id="{E08A8F70-3A19-AC7E-8AAD-A2F60B8F2E7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numCol="1" anchor="ctr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6">
            <a:extLst>
              <a:ext uri="{FF2B5EF4-FFF2-40B4-BE49-F238E27FC236}">
                <a16:creationId xmlns:a16="http://schemas.microsoft.com/office/drawing/2014/main" id="{6235CE94-C655-FF59-FD65-C7419693856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12D22DB8-B94F-FF47-81BF-E9EC433268D7}" type="slidenum">
              <a:rPr lang="en-US" altLang="en-US">
                <a:latin typeface="Tw Cen MT" panose="020B0602020104020603" pitchFamily="34" charset="77"/>
              </a:rPr>
              <a:pPr>
                <a:spcBef>
                  <a:spcPct val="0"/>
                </a:spcBef>
              </a:pPr>
              <a:t>23</a:t>
            </a:fld>
            <a:endParaRPr lang="en-US" altLang="en-US">
              <a:latin typeface="Tw Cen MT" panose="020B0602020104020603" pitchFamily="34" charset="77"/>
            </a:endParaRPr>
          </a:p>
        </p:txBody>
      </p:sp>
      <p:sp>
        <p:nvSpPr>
          <p:cNvPr id="28675" name="Rectangle 1">
            <a:extLst>
              <a:ext uri="{FF2B5EF4-FFF2-40B4-BE49-F238E27FC236}">
                <a16:creationId xmlns:a16="http://schemas.microsoft.com/office/drawing/2014/main" id="{96263AEC-5626-599E-0411-EAD0165E1EE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95325"/>
            <a:ext cx="4570413" cy="3427413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8676" name="Rectangle 2">
            <a:extLst>
              <a:ext uri="{FF2B5EF4-FFF2-40B4-BE49-F238E27FC236}">
                <a16:creationId xmlns:a16="http://schemas.microsoft.com/office/drawing/2014/main" id="{B9F5DF36-9FA5-B9C7-E36C-2C7B4D919D4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numCol="1" anchor="ctr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6">
            <a:extLst>
              <a:ext uri="{FF2B5EF4-FFF2-40B4-BE49-F238E27FC236}">
                <a16:creationId xmlns:a16="http://schemas.microsoft.com/office/drawing/2014/main" id="{AC3C73C7-7F2A-4342-7637-BBEBF2D8ABF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E0091096-5382-0D40-BECA-8C9C4674D6B9}" type="slidenum">
              <a:rPr lang="en-US" altLang="en-US">
                <a:latin typeface="Tw Cen MT" panose="020B0602020104020603" pitchFamily="34" charset="77"/>
              </a:rPr>
              <a:pPr>
                <a:spcBef>
                  <a:spcPct val="0"/>
                </a:spcBef>
              </a:pPr>
              <a:t>24</a:t>
            </a:fld>
            <a:endParaRPr lang="en-US" altLang="en-US">
              <a:latin typeface="Tw Cen MT" panose="020B0602020104020603" pitchFamily="34" charset="77"/>
            </a:endParaRPr>
          </a:p>
        </p:txBody>
      </p:sp>
      <p:sp>
        <p:nvSpPr>
          <p:cNvPr id="30723" name="Rectangle 1">
            <a:extLst>
              <a:ext uri="{FF2B5EF4-FFF2-40B4-BE49-F238E27FC236}">
                <a16:creationId xmlns:a16="http://schemas.microsoft.com/office/drawing/2014/main" id="{A9198C8A-E0E7-8468-8752-F9521E9E268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95325"/>
            <a:ext cx="4570413" cy="3427413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0724" name="Rectangle 2">
            <a:extLst>
              <a:ext uri="{FF2B5EF4-FFF2-40B4-BE49-F238E27FC236}">
                <a16:creationId xmlns:a16="http://schemas.microsoft.com/office/drawing/2014/main" id="{143C5D42-4809-4A06-5AD9-37900E28E8D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numCol="1" anchor="ctr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6">
            <a:extLst>
              <a:ext uri="{FF2B5EF4-FFF2-40B4-BE49-F238E27FC236}">
                <a16:creationId xmlns:a16="http://schemas.microsoft.com/office/drawing/2014/main" id="{B7CAAA48-4841-9C7E-3897-AB87F588E23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8A1A742A-E0DF-C545-8AE5-0F3324390BBA}" type="slidenum">
              <a:rPr lang="en-US" altLang="en-US">
                <a:latin typeface="Tw Cen MT" panose="020B0602020104020603" pitchFamily="34" charset="77"/>
              </a:rPr>
              <a:pPr>
                <a:spcBef>
                  <a:spcPct val="0"/>
                </a:spcBef>
              </a:pPr>
              <a:t>25</a:t>
            </a:fld>
            <a:endParaRPr lang="en-US" altLang="en-US">
              <a:latin typeface="Tw Cen MT" panose="020B0602020104020603" pitchFamily="34" charset="77"/>
            </a:endParaRPr>
          </a:p>
        </p:txBody>
      </p:sp>
      <p:sp>
        <p:nvSpPr>
          <p:cNvPr id="32771" name="Rectangle 1">
            <a:extLst>
              <a:ext uri="{FF2B5EF4-FFF2-40B4-BE49-F238E27FC236}">
                <a16:creationId xmlns:a16="http://schemas.microsoft.com/office/drawing/2014/main" id="{8EE04AC5-07E4-3DC6-DBD7-7B5586CE08E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95325"/>
            <a:ext cx="4570413" cy="3427413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2772" name="Rectangle 2">
            <a:extLst>
              <a:ext uri="{FF2B5EF4-FFF2-40B4-BE49-F238E27FC236}">
                <a16:creationId xmlns:a16="http://schemas.microsoft.com/office/drawing/2014/main" id="{38358293-021A-A137-C2F8-590D64B944C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numCol="1" anchor="ctr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6">
            <a:extLst>
              <a:ext uri="{FF2B5EF4-FFF2-40B4-BE49-F238E27FC236}">
                <a16:creationId xmlns:a16="http://schemas.microsoft.com/office/drawing/2014/main" id="{1930D6E1-6927-606B-ACF0-33ED63D19F5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6BB1DB53-8E79-3643-9314-D94D1E715E6D}" type="slidenum">
              <a:rPr lang="en-US" altLang="en-US">
                <a:latin typeface="Tw Cen MT" panose="020B0602020104020603" pitchFamily="34" charset="77"/>
              </a:rPr>
              <a:pPr>
                <a:spcBef>
                  <a:spcPct val="0"/>
                </a:spcBef>
              </a:pPr>
              <a:t>26</a:t>
            </a:fld>
            <a:endParaRPr lang="en-US" altLang="en-US">
              <a:latin typeface="Tw Cen MT" panose="020B0602020104020603" pitchFamily="34" charset="77"/>
            </a:endParaRPr>
          </a:p>
        </p:txBody>
      </p:sp>
      <p:sp>
        <p:nvSpPr>
          <p:cNvPr id="34819" name="Rectangle 1">
            <a:extLst>
              <a:ext uri="{FF2B5EF4-FFF2-40B4-BE49-F238E27FC236}">
                <a16:creationId xmlns:a16="http://schemas.microsoft.com/office/drawing/2014/main" id="{05074BA6-6167-732D-1885-ED3F1D581A9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2588" y="695325"/>
            <a:ext cx="6091237" cy="3427413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4820" name="Rectangle 2">
            <a:extLst>
              <a:ext uri="{FF2B5EF4-FFF2-40B4-BE49-F238E27FC236}">
                <a16:creationId xmlns:a16="http://schemas.microsoft.com/office/drawing/2014/main" id="{CFCF8414-F9F7-F7C7-CE3E-CC7B620C245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numCol="1" anchor="ctr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6">
            <a:extLst>
              <a:ext uri="{FF2B5EF4-FFF2-40B4-BE49-F238E27FC236}">
                <a16:creationId xmlns:a16="http://schemas.microsoft.com/office/drawing/2014/main" id="{C573BAB3-3F9C-B7CF-A65D-86E1EF7BD0B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511A8EB5-7815-4245-90AA-4F96E97C428A}" type="slidenum">
              <a:rPr lang="en-US" altLang="en-US">
                <a:latin typeface="Tw Cen MT" panose="020B0602020104020603" pitchFamily="34" charset="77"/>
              </a:rPr>
              <a:pPr>
                <a:spcBef>
                  <a:spcPct val="0"/>
                </a:spcBef>
              </a:pPr>
              <a:t>27</a:t>
            </a:fld>
            <a:endParaRPr lang="en-US" altLang="en-US">
              <a:latin typeface="Tw Cen MT" panose="020B0602020104020603" pitchFamily="34" charset="77"/>
            </a:endParaRPr>
          </a:p>
        </p:txBody>
      </p:sp>
      <p:sp>
        <p:nvSpPr>
          <p:cNvPr id="36867" name="Rectangle 1">
            <a:extLst>
              <a:ext uri="{FF2B5EF4-FFF2-40B4-BE49-F238E27FC236}">
                <a16:creationId xmlns:a16="http://schemas.microsoft.com/office/drawing/2014/main" id="{A1FD40D4-5CE3-A3F2-634D-D1B8AEB24F6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95325"/>
            <a:ext cx="4570413" cy="3427413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6868" name="Rectangle 2">
            <a:extLst>
              <a:ext uri="{FF2B5EF4-FFF2-40B4-BE49-F238E27FC236}">
                <a16:creationId xmlns:a16="http://schemas.microsoft.com/office/drawing/2014/main" id="{EF115BBA-BF9E-D1CF-E527-58E326CDEE1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numCol="1" anchor="ctr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6">
            <a:extLst>
              <a:ext uri="{FF2B5EF4-FFF2-40B4-BE49-F238E27FC236}">
                <a16:creationId xmlns:a16="http://schemas.microsoft.com/office/drawing/2014/main" id="{85ADECA3-7C23-38E4-8904-185FFDC7786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51F1CB62-ABDD-3440-A808-A65F5906AA55}" type="slidenum">
              <a:rPr lang="en-US" altLang="en-US">
                <a:latin typeface="Tw Cen MT" panose="020B0602020104020603" pitchFamily="34" charset="77"/>
              </a:rPr>
              <a:pPr>
                <a:spcBef>
                  <a:spcPct val="0"/>
                </a:spcBef>
              </a:pPr>
              <a:t>28</a:t>
            </a:fld>
            <a:endParaRPr lang="en-US" altLang="en-US">
              <a:latin typeface="Tw Cen MT" panose="020B0602020104020603" pitchFamily="34" charset="77"/>
            </a:endParaRPr>
          </a:p>
        </p:txBody>
      </p:sp>
      <p:sp>
        <p:nvSpPr>
          <p:cNvPr id="38915" name="Rectangle 1">
            <a:extLst>
              <a:ext uri="{FF2B5EF4-FFF2-40B4-BE49-F238E27FC236}">
                <a16:creationId xmlns:a16="http://schemas.microsoft.com/office/drawing/2014/main" id="{71130388-7921-9045-2305-9742E74AA1B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95325"/>
            <a:ext cx="4570413" cy="3427413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8916" name="Rectangle 2">
            <a:extLst>
              <a:ext uri="{FF2B5EF4-FFF2-40B4-BE49-F238E27FC236}">
                <a16:creationId xmlns:a16="http://schemas.microsoft.com/office/drawing/2014/main" id="{F0004DD7-5C4C-8ED1-9CE0-705172F31EA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numCol="1" anchor="ctr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6">
            <a:extLst>
              <a:ext uri="{FF2B5EF4-FFF2-40B4-BE49-F238E27FC236}">
                <a16:creationId xmlns:a16="http://schemas.microsoft.com/office/drawing/2014/main" id="{0FF91D5B-1F69-DCD9-52B4-AB18B6B7943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2B46DD99-A00F-484F-98FA-81553F10A3CE}" type="slidenum">
              <a:rPr lang="en-US" altLang="en-US">
                <a:latin typeface="Tw Cen MT" panose="020B0602020104020603" pitchFamily="34" charset="77"/>
              </a:rPr>
              <a:pPr>
                <a:spcBef>
                  <a:spcPct val="0"/>
                </a:spcBef>
              </a:pPr>
              <a:t>29</a:t>
            </a:fld>
            <a:endParaRPr lang="en-US" altLang="en-US">
              <a:latin typeface="Tw Cen MT" panose="020B0602020104020603" pitchFamily="34" charset="77"/>
            </a:endParaRPr>
          </a:p>
        </p:txBody>
      </p:sp>
      <p:sp>
        <p:nvSpPr>
          <p:cNvPr id="40963" name="Rectangle 1">
            <a:extLst>
              <a:ext uri="{FF2B5EF4-FFF2-40B4-BE49-F238E27FC236}">
                <a16:creationId xmlns:a16="http://schemas.microsoft.com/office/drawing/2014/main" id="{EC40F94B-3542-3ACF-F0D0-F45C39188EC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2588" y="695325"/>
            <a:ext cx="6091237" cy="3427413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0964" name="Rectangle 2">
            <a:extLst>
              <a:ext uri="{FF2B5EF4-FFF2-40B4-BE49-F238E27FC236}">
                <a16:creationId xmlns:a16="http://schemas.microsoft.com/office/drawing/2014/main" id="{50306AA4-37F6-BFD2-108B-07D84EE0DE5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numCol="1" anchor="ctr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6">
            <a:extLst>
              <a:ext uri="{FF2B5EF4-FFF2-40B4-BE49-F238E27FC236}">
                <a16:creationId xmlns:a16="http://schemas.microsoft.com/office/drawing/2014/main" id="{40778342-B113-B258-8449-1BECE2C7BC5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9319F68B-1263-CB48-9B0A-FA9180C75516}" type="slidenum">
              <a:rPr lang="en-US" altLang="en-US">
                <a:latin typeface="Tw Cen MT" panose="020B0602020104020603" pitchFamily="34" charset="77"/>
              </a:rPr>
              <a:pPr>
                <a:spcBef>
                  <a:spcPct val="0"/>
                </a:spcBef>
              </a:pPr>
              <a:t>30</a:t>
            </a:fld>
            <a:endParaRPr lang="en-US" altLang="en-US">
              <a:latin typeface="Tw Cen MT" panose="020B0602020104020603" pitchFamily="34" charset="77"/>
            </a:endParaRPr>
          </a:p>
        </p:txBody>
      </p:sp>
      <p:sp>
        <p:nvSpPr>
          <p:cNvPr id="43011" name="Rectangle 1">
            <a:extLst>
              <a:ext uri="{FF2B5EF4-FFF2-40B4-BE49-F238E27FC236}">
                <a16:creationId xmlns:a16="http://schemas.microsoft.com/office/drawing/2014/main" id="{4AEA89CC-BD66-4019-85C7-04E21D8A85C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95325"/>
            <a:ext cx="4570413" cy="3427413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3012" name="Rectangle 2">
            <a:extLst>
              <a:ext uri="{FF2B5EF4-FFF2-40B4-BE49-F238E27FC236}">
                <a16:creationId xmlns:a16="http://schemas.microsoft.com/office/drawing/2014/main" id="{DC0122B1-4018-3894-A3BF-D3B0D692C00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numCol="1" anchor="ctr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6">
            <a:extLst>
              <a:ext uri="{FF2B5EF4-FFF2-40B4-BE49-F238E27FC236}">
                <a16:creationId xmlns:a16="http://schemas.microsoft.com/office/drawing/2014/main" id="{2EC22084-C3F1-8FB9-498C-B486AA763B4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FBC9E336-852C-074B-84C8-CCEA7A9286CD}" type="slidenum">
              <a:rPr lang="en-US" altLang="en-US">
                <a:latin typeface="Tw Cen MT" panose="020B0602020104020603" pitchFamily="34" charset="77"/>
              </a:rPr>
              <a:pPr>
                <a:spcBef>
                  <a:spcPct val="0"/>
                </a:spcBef>
              </a:pPr>
              <a:t>32</a:t>
            </a:fld>
            <a:endParaRPr lang="en-US" altLang="en-US">
              <a:latin typeface="Tw Cen MT" panose="020B0602020104020603" pitchFamily="34" charset="77"/>
            </a:endParaRPr>
          </a:p>
        </p:txBody>
      </p:sp>
      <p:sp>
        <p:nvSpPr>
          <p:cNvPr id="45059" name="Rectangle 1">
            <a:extLst>
              <a:ext uri="{FF2B5EF4-FFF2-40B4-BE49-F238E27FC236}">
                <a16:creationId xmlns:a16="http://schemas.microsoft.com/office/drawing/2014/main" id="{BD4E225B-D37B-DF84-3741-01F343466FE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95325"/>
            <a:ext cx="4570413" cy="3427413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5060" name="Rectangle 2">
            <a:extLst>
              <a:ext uri="{FF2B5EF4-FFF2-40B4-BE49-F238E27FC236}">
                <a16:creationId xmlns:a16="http://schemas.microsoft.com/office/drawing/2014/main" id="{4069BCDE-AD34-E1CF-851B-993CD5B605E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numCol="1" anchor="ctr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48CD52-4B5E-DC7D-1125-D9E5B4895E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236B7A2-3AEC-C260-A988-ADCA30CB4A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A5E967-39DF-5B02-4685-E2315F266C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28466C-0ADE-E34C-AABE-8C6A0FE341D8}" type="datetimeFigureOut">
              <a:rPr lang="en-US" smtClean="0"/>
              <a:t>9/21/25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31D1E0-557B-1F5D-6881-1354CF7D79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21E01B-DE4A-742D-CA49-F2D81D1F86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C5F96-C06F-C147-B2C8-00D4B06B36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18195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A9F1CC-DD36-0670-8FCA-B69778C572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6FD2A1-6654-F566-47B9-995B7C5D8E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9884B0-545E-3581-723F-C0F6517810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28466C-0ADE-E34C-AABE-8C6A0FE341D8}" type="datetimeFigureOut">
              <a:rPr lang="en-US" smtClean="0"/>
              <a:t>9/21/25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96A1EE-1AB6-A80D-E0B8-ACBFD8B45F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C95C40-45AE-BBE6-C75A-3087186E04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C5F96-C06F-C147-B2C8-00D4B06B36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07406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26A44B-289F-12A6-66D0-0A6241D6A4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C721BB-A830-C2A3-B053-E30F1BD063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9D9675-4375-CE92-45C9-7677C32293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28466C-0ADE-E34C-AABE-8C6A0FE341D8}" type="datetimeFigureOut">
              <a:rPr lang="en-US" smtClean="0"/>
              <a:t>9/21/25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743720-9530-1425-4538-68199E37D9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8704D5-CCFC-5B87-98DE-2176EE4155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C5F96-C06F-C147-B2C8-00D4B06B36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57422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B5C281-8BDA-9F64-4C7D-F0C3F7AC74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957205-E021-E67E-518C-B4B63DEA73C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900461-AFFB-55AF-C1C1-A8DFCCF8CC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763C0B-3398-A110-FB53-290FE1D03D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28466C-0ADE-E34C-AABE-8C6A0FE341D8}" type="datetimeFigureOut">
              <a:rPr lang="en-US" smtClean="0"/>
              <a:t>9/21/25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CB4288-4DAC-8B7A-75AD-9DA5175E5C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7B6CF5-620E-ACCF-3318-DBAC8DD9DD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C5F96-C06F-C147-B2C8-00D4B06B36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2870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2BFF14-D317-C117-9275-A57993AAFD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3173D2-571E-D8CB-35CB-FFE13ADB9D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664FB0-1BEC-F3C8-CCE2-03BB286924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60D0684-55C4-356E-FB00-68DA659A52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1D36AEA-A864-069D-2368-F6931D9684A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396465C-06B0-A8C8-EBD5-AE806CC64E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28466C-0ADE-E34C-AABE-8C6A0FE341D8}" type="datetimeFigureOut">
              <a:rPr lang="en-US" smtClean="0"/>
              <a:t>9/21/25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FF02849-99B0-2D02-92D7-B10CD3443A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54FB3BE-5688-4AC2-96CB-2D601D901A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C5F96-C06F-C147-B2C8-00D4B06B36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0042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42EB61-7C36-94C9-1963-8AD677665E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F33A5D8-7CE0-DD13-7241-E67CB505EA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28466C-0ADE-E34C-AABE-8C6A0FE341D8}" type="datetimeFigureOut">
              <a:rPr lang="en-US" smtClean="0"/>
              <a:t>9/21/25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3134305-44EF-0AEF-9775-D251A204A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C7503B1-4DC7-3CAB-8C7E-F526516A74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C5F96-C06F-C147-B2C8-00D4B06B36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2080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193EAD2-E25B-BD2C-CE94-4098200330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28466C-0ADE-E34C-AABE-8C6A0FE341D8}" type="datetimeFigureOut">
              <a:rPr lang="en-US" smtClean="0"/>
              <a:t>9/21/25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7F85118-A79D-2AA5-13DD-DECBE1ADD7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E4BBFC-9430-8713-3555-C8204694DD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C5F96-C06F-C147-B2C8-00D4B06B36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36836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391763-2515-5DA1-2F09-B32D486E98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5D1C1D-D060-D05F-7D47-32A3044B08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597796-2325-F6DC-BFBD-031D0B160A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45F8C2-DFF8-8B02-A143-E84063EBF4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28466C-0ADE-E34C-AABE-8C6A0FE341D8}" type="datetimeFigureOut">
              <a:rPr lang="en-US" smtClean="0"/>
              <a:t>9/21/25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89AC0B-0876-CE71-DE60-04C05923DF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58AF70-2F8A-683C-6D6B-06023A315C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C5F96-C06F-C147-B2C8-00D4B06B36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03734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9BD006-6DAF-CDCD-3306-BBA4BF3C5D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AD69EC5-E0EB-9A6A-540D-E8AA9A28706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6D3337-6FDE-A2DB-5C1D-A89B7C96B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54DC4B-6A1D-E29B-D58A-B47CBF1B26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28466C-0ADE-E34C-AABE-8C6A0FE341D8}" type="datetimeFigureOut">
              <a:rPr lang="en-US" smtClean="0"/>
              <a:t>9/21/25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3D8979-A902-D90C-85D3-7C74C07262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19C134-CFBD-891D-C9E3-2329671D8A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C5F96-C06F-C147-B2C8-00D4B06B36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80304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E94B5C-397D-3CF5-7AEE-93B31F0BFB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2754A2-BF77-1C31-EEC1-BA0A5D529B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573439-B9E8-89C1-BB68-C217B01F65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28466C-0ADE-E34C-AABE-8C6A0FE341D8}" type="datetimeFigureOut">
              <a:rPr lang="en-US" smtClean="0"/>
              <a:t>9/21/25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32BBD1-B3AF-02F3-C95F-4A313DC1EA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D1ED1A-E8F8-B0D3-EEA5-9BD6D55B21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C5F96-C06F-C147-B2C8-00D4B06B36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17228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0EE1340-4ECB-DF7C-861E-90801247F8E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A2668E-5C4C-D67B-7556-B9F4C90216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076AF0-342A-61C1-C4DA-45F0FF3385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28466C-0ADE-E34C-AABE-8C6A0FE341D8}" type="datetimeFigureOut">
              <a:rPr lang="en-US" smtClean="0"/>
              <a:t>9/21/25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F174E1-9F31-822C-BFFC-6E57C0EFB2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8420E5-10A6-36EA-FC09-51F448761E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C5F96-C06F-C147-B2C8-00D4B06B36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52243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7E4397E-6A95-FD6B-46F8-AD020D27C6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AC4C6E-D615-BE13-A639-2DEB42D7DD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052779-6106-6715-83DE-210CA83F1A4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228466C-0ADE-E34C-AABE-8C6A0FE341D8}" type="datetimeFigureOut">
              <a:rPr lang="en-US" smtClean="0"/>
              <a:t>9/21/25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718F2E-B5F2-2E23-9D39-9AB6DA007B6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C08693-A28F-76A8-002E-6327573453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AC5F96-C06F-C147-B2C8-00D4B06B36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23216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4" r:id="rId1"/>
    <p:sldLayoutId id="2147483755" r:id="rId2"/>
    <p:sldLayoutId id="2147483756" r:id="rId3"/>
    <p:sldLayoutId id="2147483757" r:id="rId4"/>
    <p:sldLayoutId id="2147483758" r:id="rId5"/>
    <p:sldLayoutId id="2147483759" r:id="rId6"/>
    <p:sldLayoutId id="2147483760" r:id="rId7"/>
    <p:sldLayoutId id="2147483761" r:id="rId8"/>
    <p:sldLayoutId id="2147483762" r:id="rId9"/>
    <p:sldLayoutId id="2147483763" r:id="rId10"/>
    <p:sldLayoutId id="2147483764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5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2A8BB3-4840-E16A-7C49-141FBB4DB59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Designs and Evaluations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C69FE57-39C9-A50A-193F-7994D13554C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Week 5 </a:t>
            </a:r>
          </a:p>
          <a:p>
            <a:r>
              <a:rPr lang="en-US" dirty="0">
                <a:solidFill>
                  <a:srgbClr val="FF0000"/>
                </a:solidFill>
              </a:rPr>
              <a:t>HCI</a:t>
            </a:r>
          </a:p>
        </p:txBody>
      </p:sp>
    </p:spTree>
    <p:extLst>
      <p:ext uri="{BB962C8B-B14F-4D97-AF65-F5344CB8AC3E}">
        <p14:creationId xmlns:p14="http://schemas.microsoft.com/office/powerpoint/2010/main" val="10588870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E0FA44-6D5C-780D-E50F-034BE36537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2EB23E-B1FC-F6C4-E968-EC17FDF333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0070C0"/>
                </a:solidFill>
              </a:rPr>
              <a:t>Technology Myopia</a:t>
            </a:r>
          </a:p>
          <a:p>
            <a:r>
              <a:rPr lang="en-US" altLang="en-US" dirty="0">
                <a:solidFill>
                  <a:srgbClr val="0070C0"/>
                </a:solidFill>
              </a:rPr>
              <a:t>Conceptual Design</a:t>
            </a:r>
          </a:p>
          <a:p>
            <a:r>
              <a:rPr lang="en-US" altLang="en-US" dirty="0">
                <a:solidFill>
                  <a:srgbClr val="0070C0"/>
                </a:solidFill>
              </a:rPr>
              <a:t>Physical Design</a:t>
            </a:r>
          </a:p>
          <a:p>
            <a:r>
              <a:rPr lang="en-US" altLang="en-US" dirty="0">
                <a:solidFill>
                  <a:srgbClr val="FF0000"/>
                </a:solidFill>
              </a:rPr>
              <a:t>Evaluation</a:t>
            </a:r>
          </a:p>
          <a:p>
            <a:r>
              <a:rPr lang="en-US" altLang="en-US" dirty="0">
                <a:solidFill>
                  <a:srgbClr val="0070C0"/>
                </a:solidFill>
              </a:rPr>
              <a:t>Standards</a:t>
            </a:r>
          </a:p>
          <a:p>
            <a:r>
              <a:rPr lang="en-US" dirty="0">
                <a:solidFill>
                  <a:srgbClr val="0070C0"/>
                </a:solidFill>
              </a:rPr>
              <a:t>Heuristics</a:t>
            </a:r>
          </a:p>
        </p:txBody>
      </p:sp>
    </p:spTree>
    <p:extLst>
      <p:ext uri="{BB962C8B-B14F-4D97-AF65-F5344CB8AC3E}">
        <p14:creationId xmlns:p14="http://schemas.microsoft.com/office/powerpoint/2010/main" val="22842681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2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31907B-2E22-3F0C-14FD-88203C1FC9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Tech Myopia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61B973-F068-21E0-3AAD-9FEEC9B789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90676"/>
            <a:ext cx="10515600" cy="4351338"/>
          </a:xfrm>
        </p:spPr>
        <p:txBody>
          <a:bodyPr/>
          <a:lstStyle/>
          <a:p>
            <a:r>
              <a:rPr lang="en-US" altLang="en-US" dirty="0">
                <a:solidFill>
                  <a:srgbClr val="0070C0"/>
                </a:solidFill>
              </a:rPr>
              <a:t>Interaction designs must be sensitive to:</a:t>
            </a:r>
          </a:p>
          <a:p>
            <a:pPr lvl="1"/>
            <a:r>
              <a:rPr lang="en-US" altLang="en-US" dirty="0">
                <a:solidFill>
                  <a:srgbClr val="0070C0"/>
                </a:solidFill>
              </a:rPr>
              <a:t>Human-human communication</a:t>
            </a:r>
          </a:p>
          <a:p>
            <a:pPr lvl="1"/>
            <a:r>
              <a:rPr lang="en-US" altLang="en-US" dirty="0">
                <a:solidFill>
                  <a:srgbClr val="0070C0"/>
                </a:solidFill>
              </a:rPr>
              <a:t>Implicit Knowledge</a:t>
            </a:r>
          </a:p>
          <a:p>
            <a:pPr lvl="1"/>
            <a:r>
              <a:rPr lang="en-US" altLang="en-US" dirty="0">
                <a:solidFill>
                  <a:srgbClr val="0070C0"/>
                </a:solidFill>
              </a:rPr>
              <a:t>Non-technical aspects of work</a:t>
            </a:r>
          </a:p>
          <a:p>
            <a:pPr marL="0" indent="0">
              <a:buNone/>
            </a:pP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2A7F90B-9B09-429A-A46D-7E01D9CB0D36}"/>
              </a:ext>
            </a:extLst>
          </p:cNvPr>
          <p:cNvSpPr txBox="1">
            <a:spLocks/>
          </p:cNvSpPr>
          <p:nvPr/>
        </p:nvSpPr>
        <p:spPr>
          <a:xfrm>
            <a:off x="838200" y="342900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rgbClr val="0070C0"/>
                </a:solidFill>
              </a:rPr>
              <a:t>Conceptual Design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2591A8A4-190E-AFF0-1CA5-C29EBDBA9ADB}"/>
              </a:ext>
            </a:extLst>
          </p:cNvPr>
          <p:cNvSpPr txBox="1">
            <a:spLocks/>
          </p:cNvSpPr>
          <p:nvPr/>
        </p:nvSpPr>
        <p:spPr>
          <a:xfrm>
            <a:off x="838200" y="44545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dirty="0">
                <a:solidFill>
                  <a:srgbClr val="0070C0"/>
                </a:solidFill>
              </a:rPr>
              <a:t>Conceptual design involves </a:t>
            </a:r>
          </a:p>
          <a:p>
            <a:pPr lvl="1"/>
            <a:r>
              <a:rPr lang="en-US" altLang="en-US" dirty="0">
                <a:solidFill>
                  <a:srgbClr val="0070C0"/>
                </a:solidFill>
              </a:rPr>
              <a:t>Structuring the information space</a:t>
            </a:r>
          </a:p>
          <a:p>
            <a:pPr lvl="1"/>
            <a:r>
              <a:rPr lang="en-US" altLang="en-US" dirty="0">
                <a:solidFill>
                  <a:srgbClr val="0070C0"/>
                </a:solidFill>
              </a:rPr>
              <a:t>Creating of alternative solutions</a:t>
            </a:r>
          </a:p>
          <a:p>
            <a:pPr lvl="1"/>
            <a:r>
              <a:rPr lang="en-US" altLang="en-US" dirty="0">
                <a:solidFill>
                  <a:srgbClr val="0070C0"/>
                </a:solidFill>
              </a:rPr>
              <a:t>Determining which design concept to pursue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>
              <a:solidFill>
                <a:srgbClr val="0070C0"/>
              </a:solidFill>
            </a:endParaRPr>
          </a:p>
        </p:txBody>
      </p:sp>
      <p:pic>
        <p:nvPicPr>
          <p:cNvPr id="44034" name="Picture 2" descr="Top Technology Trends in 2025: What ...">
            <a:extLst>
              <a:ext uri="{FF2B5EF4-FFF2-40B4-BE49-F238E27FC236}">
                <a16:creationId xmlns:a16="http://schemas.microsoft.com/office/drawing/2014/main" id="{4E0E381B-712E-CF5A-EF20-B5EA5A34C4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7747000" y="1524794"/>
            <a:ext cx="3937000" cy="2070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4036" name="Picture 4" descr="Illustration of the conceptual design ...">
            <a:extLst>
              <a:ext uri="{FF2B5EF4-FFF2-40B4-BE49-F238E27FC236}">
                <a16:creationId xmlns:a16="http://schemas.microsoft.com/office/drawing/2014/main" id="{3A87210A-2F75-422D-C9CC-3C248CD126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7000" y="4102894"/>
            <a:ext cx="2921000" cy="20864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602498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E026EE-721E-F7C5-A8ED-FE5A07DD20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Physical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BF75A6-D331-2303-1566-739E9484D4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6056"/>
            <a:ext cx="10515600" cy="4351338"/>
          </a:xfrm>
        </p:spPr>
        <p:txBody>
          <a:bodyPr/>
          <a:lstStyle/>
          <a:p>
            <a:pPr lvl="1"/>
            <a:r>
              <a:rPr lang="en-US" altLang="en-US" dirty="0">
                <a:solidFill>
                  <a:srgbClr val="0070C0"/>
                </a:solidFill>
              </a:rPr>
              <a:t>What it will look like</a:t>
            </a:r>
          </a:p>
          <a:p>
            <a:pPr lvl="1"/>
            <a:r>
              <a:rPr lang="en-US" altLang="en-US" dirty="0">
                <a:solidFill>
                  <a:srgbClr val="0070C0"/>
                </a:solidFill>
              </a:rPr>
              <a:t>What components it will require</a:t>
            </a:r>
          </a:p>
          <a:p>
            <a:pPr lvl="1"/>
            <a:r>
              <a:rPr lang="en-US" altLang="en-US" dirty="0">
                <a:solidFill>
                  <a:srgbClr val="0070C0"/>
                </a:solidFill>
              </a:rPr>
              <a:t>How the screens will be laid out</a:t>
            </a:r>
          </a:p>
          <a:p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A0C026E-A6C1-B7A6-127B-DA16CB6BCD98}"/>
              </a:ext>
            </a:extLst>
          </p:cNvPr>
          <p:cNvSpPr txBox="1">
            <a:spLocks/>
          </p:cNvSpPr>
          <p:nvPr/>
        </p:nvSpPr>
        <p:spPr>
          <a:xfrm>
            <a:off x="838200" y="36417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rgbClr val="0070C0"/>
                </a:solidFill>
              </a:rPr>
              <a:t>Standards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0409975-106A-3069-9C92-C56A77BBD436}"/>
              </a:ext>
            </a:extLst>
          </p:cNvPr>
          <p:cNvSpPr txBox="1">
            <a:spLocks/>
          </p:cNvSpPr>
          <p:nvPr/>
        </p:nvSpPr>
        <p:spPr>
          <a:xfrm>
            <a:off x="838200" y="4682331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altLang="en-US" dirty="0">
                <a:solidFill>
                  <a:srgbClr val="0070C0"/>
                </a:solidFill>
              </a:rPr>
              <a:t>Graphical libraries</a:t>
            </a:r>
          </a:p>
          <a:p>
            <a:pPr lvl="1"/>
            <a:r>
              <a:rPr lang="en-US" altLang="en-US" dirty="0">
                <a:solidFill>
                  <a:srgbClr val="0070C0"/>
                </a:solidFill>
              </a:rPr>
              <a:t>User interface toolkits</a:t>
            </a:r>
          </a:p>
          <a:p>
            <a:pPr lvl="1"/>
            <a:r>
              <a:rPr lang="en-US" altLang="en-US" dirty="0">
                <a:solidFill>
                  <a:srgbClr val="0070C0"/>
                </a:solidFill>
              </a:rPr>
              <a:t>Visual interface builders</a:t>
            </a:r>
          </a:p>
          <a:p>
            <a:pPr lvl="1"/>
            <a:r>
              <a:rPr lang="en-US" altLang="en-US" dirty="0">
                <a:solidFill>
                  <a:srgbClr val="0070C0"/>
                </a:solidFill>
              </a:rPr>
              <a:t>Web development tools</a:t>
            </a:r>
          </a:p>
          <a:p>
            <a:endParaRPr lang="en-US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34075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F33D6F-5E34-30D1-5B4E-5506278B6B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Measurements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34BA61-D5CB-5150-BA25-BCD04C57F2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0070C0"/>
                </a:solidFill>
              </a:rPr>
              <a:t>There are many different approaches to measurement</a:t>
            </a:r>
          </a:p>
          <a:p>
            <a:r>
              <a:rPr lang="en-US" altLang="en-US" dirty="0">
                <a:solidFill>
                  <a:srgbClr val="0070C0"/>
                </a:solidFill>
              </a:rPr>
              <a:t>The traditional measurements are:</a:t>
            </a:r>
          </a:p>
          <a:p>
            <a:pPr lvl="1"/>
            <a:r>
              <a:rPr lang="en-US" altLang="en-US" dirty="0">
                <a:solidFill>
                  <a:srgbClr val="0070C0"/>
                </a:solidFill>
              </a:rPr>
              <a:t>Task performance, time performance, and user satisfaction</a:t>
            </a:r>
          </a:p>
          <a:p>
            <a:r>
              <a:rPr lang="en-US" altLang="en-US" dirty="0">
                <a:solidFill>
                  <a:srgbClr val="0070C0"/>
                </a:solidFill>
              </a:rPr>
              <a:t>Those measurements do not accurately measure:</a:t>
            </a:r>
          </a:p>
          <a:p>
            <a:pPr lvl="1"/>
            <a:r>
              <a:rPr lang="en-US" altLang="en-US" dirty="0">
                <a:solidFill>
                  <a:srgbClr val="0070C0"/>
                </a:solidFill>
              </a:rPr>
              <a:t>Why people no longer use an interface</a:t>
            </a:r>
          </a:p>
          <a:p>
            <a:pPr lvl="1"/>
            <a:r>
              <a:rPr lang="en-US" altLang="en-US" dirty="0">
                <a:solidFill>
                  <a:srgbClr val="0070C0"/>
                </a:solidFill>
              </a:rPr>
              <a:t>Discretionary use for enjoyment (e.g. YouTube)</a:t>
            </a:r>
          </a:p>
          <a:p>
            <a:pPr lvl="1"/>
            <a:r>
              <a:rPr lang="en-US" altLang="en-US" dirty="0">
                <a:solidFill>
                  <a:srgbClr val="0070C0"/>
                </a:solidFill>
              </a:rPr>
              <a:t>Emotion and trust</a:t>
            </a:r>
          </a:p>
          <a:p>
            <a:endParaRPr lang="en-US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629236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53662-C940-9E66-05F2-8759C419E6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New forms of Measurements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18EF8E-C9CE-E95C-F571-9898C72156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0070C0"/>
                </a:solidFill>
              </a:rPr>
              <a:t>A feeling of community?</a:t>
            </a:r>
          </a:p>
          <a:p>
            <a:r>
              <a:rPr lang="en-US" altLang="en-US" dirty="0">
                <a:solidFill>
                  <a:srgbClr val="0070C0"/>
                </a:solidFill>
              </a:rPr>
              <a:t>Emotion? </a:t>
            </a:r>
          </a:p>
          <a:p>
            <a:r>
              <a:rPr lang="en-US" altLang="en-US" dirty="0">
                <a:solidFill>
                  <a:srgbClr val="0070C0"/>
                </a:solidFill>
              </a:rPr>
              <a:t>Enjoyment?</a:t>
            </a:r>
          </a:p>
          <a:p>
            <a:r>
              <a:rPr lang="en-US" altLang="en-US" dirty="0">
                <a:solidFill>
                  <a:srgbClr val="0070C0"/>
                </a:solidFill>
              </a:rPr>
              <a:t>Physiological measures (EEG, EMG)?</a:t>
            </a:r>
          </a:p>
          <a:p>
            <a:r>
              <a:rPr lang="en-US" altLang="en-US" dirty="0">
                <a:solidFill>
                  <a:srgbClr val="0070C0"/>
                </a:solidFill>
              </a:rPr>
              <a:t>Lower carbon footprint?</a:t>
            </a:r>
          </a:p>
          <a:p>
            <a:r>
              <a:rPr lang="en-US" altLang="en-US" dirty="0">
                <a:solidFill>
                  <a:srgbClr val="0070C0"/>
                </a:solidFill>
              </a:rPr>
              <a:t>Satisfaction from accomplishments in gaming or in virtual worlds?</a:t>
            </a:r>
          </a:p>
          <a:p>
            <a:r>
              <a:rPr lang="en-US" altLang="en-US" dirty="0">
                <a:solidFill>
                  <a:srgbClr val="0070C0"/>
                </a:solidFill>
              </a:rPr>
              <a:t>Ease of use and enjoyment of new forms of technology can be challenging to measure</a:t>
            </a:r>
          </a:p>
          <a:p>
            <a:endParaRPr lang="en-US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857086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BC5EDD-AC63-0E28-13FE-DF1239D0F4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Triangulation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44A4E8-D296-524F-D826-BD0371F744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0070C0"/>
                </a:solidFill>
              </a:rPr>
              <a:t>No data collection method will be perfect</a:t>
            </a:r>
          </a:p>
          <a:p>
            <a:r>
              <a:rPr lang="en-US" altLang="en-US" dirty="0">
                <a:solidFill>
                  <a:srgbClr val="0070C0"/>
                </a:solidFill>
              </a:rPr>
              <a:t>It is important to have multiple researchers, using multiple methods, investigating the same phenomenon</a:t>
            </a:r>
          </a:p>
          <a:p>
            <a:r>
              <a:rPr lang="en-US" altLang="en-US" dirty="0">
                <a:solidFill>
                  <a:srgbClr val="0070C0"/>
                </a:solidFill>
              </a:rPr>
              <a:t>We call this triangulation</a:t>
            </a:r>
          </a:p>
          <a:p>
            <a:r>
              <a:rPr lang="en-US" altLang="en-US" dirty="0">
                <a:solidFill>
                  <a:srgbClr val="0070C0"/>
                </a:solidFill>
              </a:rPr>
              <a:t>One paper </a:t>
            </a:r>
            <a:r>
              <a:rPr lang="en-US" altLang="en-US" dirty="0">
                <a:solidFill>
                  <a:srgbClr val="0070C0"/>
                </a:solidFill>
                <a:cs typeface="Arial" panose="020B0604020202020204" pitchFamily="34" charset="0"/>
              </a:rPr>
              <a:t>≠ scientific truth</a:t>
            </a:r>
          </a:p>
          <a:p>
            <a:r>
              <a:rPr lang="en-US" altLang="en-US" dirty="0">
                <a:solidFill>
                  <a:srgbClr val="0070C0"/>
                </a:solidFill>
                <a:cs typeface="Arial" panose="020B0604020202020204" pitchFamily="34" charset="0"/>
              </a:rPr>
              <a:t>Different researchers, different methods, all coming to the same conclusion, THAT’S when you find consensus</a:t>
            </a:r>
          </a:p>
          <a:p>
            <a:endParaRPr lang="en-US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645825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F2E136-B41F-7026-7FD0-D7270A5265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Evaluating Desings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E6B50D-B507-A078-6FA9-CC025CFF2C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en-US" dirty="0">
                <a:solidFill>
                  <a:srgbClr val="0070C0"/>
                </a:solidFill>
              </a:rPr>
              <a:t>Experimental Research</a:t>
            </a:r>
          </a:p>
          <a:p>
            <a:pPr marL="0" indent="0">
              <a:buNone/>
            </a:pPr>
            <a:endParaRPr lang="en-US" altLang="en-US" dirty="0">
              <a:solidFill>
                <a:srgbClr val="0070C0"/>
              </a:solidFill>
            </a:endParaRPr>
          </a:p>
          <a:p>
            <a:pPr marL="0" indent="0">
              <a:buNone/>
            </a:pPr>
            <a:endParaRPr lang="en-US" altLang="en-US" dirty="0">
              <a:solidFill>
                <a:srgbClr val="0070C0"/>
              </a:solidFill>
            </a:endParaRPr>
          </a:p>
          <a:p>
            <a:pPr marL="0" indent="0">
              <a:buNone/>
            </a:pPr>
            <a:endParaRPr lang="en-US" altLang="en-US" dirty="0">
              <a:solidFill>
                <a:srgbClr val="0070C0"/>
              </a:solidFill>
            </a:endParaRPr>
          </a:p>
          <a:p>
            <a:pPr marL="0" indent="0">
              <a:buNone/>
            </a:pPr>
            <a:endParaRPr lang="en-US" altLang="en-US" dirty="0">
              <a:solidFill>
                <a:srgbClr val="0070C0"/>
              </a:solidFill>
            </a:endParaRPr>
          </a:p>
          <a:p>
            <a:pPr marL="0" indent="0">
              <a:buNone/>
            </a:pPr>
            <a:endParaRPr lang="en-US" altLang="en-US" dirty="0">
              <a:solidFill>
                <a:srgbClr val="0070C0"/>
              </a:solidFill>
            </a:endParaRPr>
          </a:p>
          <a:p>
            <a:pPr marL="0" indent="0">
              <a:buNone/>
            </a:pPr>
            <a:endParaRPr lang="en-US" altLang="en-US" dirty="0">
              <a:solidFill>
                <a:srgbClr val="0070C0"/>
              </a:solidFill>
            </a:endParaRPr>
          </a:p>
          <a:p>
            <a:pPr marL="0" indent="0">
              <a:buNone/>
            </a:pPr>
            <a:r>
              <a:rPr lang="en-US" altLang="en-US" dirty="0">
                <a:solidFill>
                  <a:srgbClr val="0070C0"/>
                </a:solidFill>
              </a:rPr>
              <a:t>	</a:t>
            </a:r>
          </a:p>
          <a:p>
            <a:pPr marL="0" indent="0">
              <a:buNone/>
            </a:pPr>
            <a:endParaRPr lang="en-US" dirty="0">
              <a:solidFill>
                <a:srgbClr val="0070C0"/>
              </a:solidFill>
            </a:endParaRPr>
          </a:p>
        </p:txBody>
      </p:sp>
      <p:pic>
        <p:nvPicPr>
          <p:cNvPr id="4" name="Picture 5">
            <a:extLst>
              <a:ext uri="{FF2B5EF4-FFF2-40B4-BE49-F238E27FC236}">
                <a16:creationId xmlns:a16="http://schemas.microsoft.com/office/drawing/2014/main" id="{DDC8DA1E-C564-3030-BE25-C3E38C0270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095" t="48000" r="15714" b="12381"/>
          <a:stretch>
            <a:fillRect/>
          </a:stretch>
        </p:blipFill>
        <p:spPr bwMode="auto">
          <a:xfrm>
            <a:off x="1081881" y="2286000"/>
            <a:ext cx="10401605" cy="3890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052344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830A7E-2842-93AC-2E55-C947E3A962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Experimental Design</a:t>
            </a:r>
          </a:p>
        </p:txBody>
      </p:sp>
      <p:pic>
        <p:nvPicPr>
          <p:cNvPr id="4" name="Picture 6">
            <a:extLst>
              <a:ext uri="{FF2B5EF4-FFF2-40B4-BE49-F238E27FC236}">
                <a16:creationId xmlns:a16="http://schemas.microsoft.com/office/drawing/2014/main" id="{1EAEEAB7-BB9A-6DB8-621B-900E138E87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476" t="26666" r="19048" b="10095"/>
          <a:stretch>
            <a:fillRect/>
          </a:stretch>
        </p:blipFill>
        <p:spPr bwMode="auto">
          <a:xfrm>
            <a:off x="838200" y="1471039"/>
            <a:ext cx="6934200" cy="45310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4BA41A8-A7A7-244A-0029-CF15D9975D2D}"/>
              </a:ext>
            </a:extLst>
          </p:cNvPr>
          <p:cNvSpPr txBox="1"/>
          <p:nvPr/>
        </p:nvSpPr>
        <p:spPr>
          <a:xfrm>
            <a:off x="7715250" y="5263422"/>
            <a:ext cx="447675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srgbClr val="0070C0"/>
                </a:solidFill>
                <a:ea typeface="+mn-ea"/>
                <a:cs typeface="+mn-cs"/>
              </a:rPr>
              <a:t>How many independent variables do we want to investigate in the experiment?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srgbClr val="0070C0"/>
                </a:solidFill>
              </a:rPr>
              <a:t>How many different values does each independent variable have?</a:t>
            </a:r>
          </a:p>
        </p:txBody>
      </p:sp>
    </p:spTree>
    <p:extLst>
      <p:ext uri="{BB962C8B-B14F-4D97-AF65-F5344CB8AC3E}">
        <p14:creationId xmlns:p14="http://schemas.microsoft.com/office/powerpoint/2010/main" val="19197954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7CA943-A627-BD61-39F8-A1C194B0C8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4900" y="0"/>
            <a:ext cx="10515600" cy="1325563"/>
          </a:xfrm>
        </p:spPr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Statistical Analysis</a:t>
            </a:r>
          </a:p>
        </p:txBody>
      </p:sp>
      <p:graphicFrame>
        <p:nvGraphicFramePr>
          <p:cNvPr id="8" name="Content Placeholder 2">
            <a:extLst>
              <a:ext uri="{FF2B5EF4-FFF2-40B4-BE49-F238E27FC236}">
                <a16:creationId xmlns:a16="http://schemas.microsoft.com/office/drawing/2014/main" id="{111B6F08-717E-CEA0-8569-C21A568B331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50706497"/>
              </p:ext>
            </p:extLst>
          </p:nvPr>
        </p:nvGraphicFramePr>
        <p:xfrm>
          <a:off x="381000" y="1253331"/>
          <a:ext cx="50673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4" name="Picture 6">
            <a:extLst>
              <a:ext uri="{FF2B5EF4-FFF2-40B4-BE49-F238E27FC236}">
                <a16:creationId xmlns:a16="http://schemas.microsoft.com/office/drawing/2014/main" id="{BAA5FF4C-AE01-1C7B-6B2A-04034624CA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56" t="31238" r="22858" b="20000"/>
          <a:stretch>
            <a:fillRect/>
          </a:stretch>
        </p:blipFill>
        <p:spPr bwMode="auto">
          <a:xfrm>
            <a:off x="5695950" y="2178843"/>
            <a:ext cx="6315730" cy="2590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110403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A20D4A-3FDC-AD12-96FB-781524144D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Surveys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5CAB54-DB63-A0BB-29BB-5F6F7829DB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115050" cy="4351338"/>
          </a:xfrm>
        </p:spPr>
        <p:txBody>
          <a:bodyPr/>
          <a:lstStyle/>
          <a:p>
            <a:r>
              <a:rPr lang="en-US" altLang="en-US" dirty="0">
                <a:solidFill>
                  <a:srgbClr val="0070C0"/>
                </a:solidFill>
              </a:rPr>
              <a:t>Surveys are good at:</a:t>
            </a:r>
          </a:p>
          <a:p>
            <a:pPr lvl="1"/>
            <a:r>
              <a:rPr lang="en-US" altLang="en-US" dirty="0">
                <a:solidFill>
                  <a:srgbClr val="0070C0"/>
                </a:solidFill>
              </a:rPr>
              <a:t>getting a large number of responses</a:t>
            </a:r>
          </a:p>
          <a:p>
            <a:pPr lvl="1"/>
            <a:r>
              <a:rPr lang="en-US" altLang="en-US" dirty="0">
                <a:solidFill>
                  <a:srgbClr val="0070C0"/>
                </a:solidFill>
              </a:rPr>
              <a:t>Quickly</a:t>
            </a:r>
          </a:p>
          <a:p>
            <a:pPr lvl="1"/>
            <a:r>
              <a:rPr lang="en-US" altLang="en-US" dirty="0">
                <a:solidFill>
                  <a:srgbClr val="0070C0"/>
                </a:solidFill>
              </a:rPr>
              <a:t>From a geographically dispersed population</a:t>
            </a:r>
          </a:p>
          <a:p>
            <a:r>
              <a:rPr lang="en-US" altLang="en-US" dirty="0">
                <a:solidFill>
                  <a:srgbClr val="0070C0"/>
                </a:solidFill>
              </a:rPr>
              <a:t>You can capture the “big picture” relatively quickly</a:t>
            </a:r>
          </a:p>
          <a:p>
            <a:r>
              <a:rPr lang="en-US" altLang="en-US" dirty="0">
                <a:solidFill>
                  <a:srgbClr val="0070C0"/>
                </a:solidFill>
              </a:rPr>
              <a:t>If structured random sampling is used, you might be able to make accurate population estimates</a:t>
            </a:r>
          </a:p>
          <a:p>
            <a:endParaRPr lang="en-US" dirty="0">
              <a:solidFill>
                <a:srgbClr val="0070C0"/>
              </a:solidFill>
            </a:endParaRPr>
          </a:p>
        </p:txBody>
      </p:sp>
      <p:pic>
        <p:nvPicPr>
          <p:cNvPr id="18434" name="Picture 2" descr="Survey Research — Types, Methods and Example Questions">
            <a:extLst>
              <a:ext uri="{FF2B5EF4-FFF2-40B4-BE49-F238E27FC236}">
                <a16:creationId xmlns:a16="http://schemas.microsoft.com/office/drawing/2014/main" id="{E662F171-5B41-7FE5-D16C-BB367C9FC5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0850" y="3221037"/>
            <a:ext cx="4602698" cy="30908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924995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01DA58-BDD1-1F87-9DB5-2899C31E7D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Diaries (ethnography)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2F041B-EA65-9C9B-8307-B34D800DDE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0070C0"/>
                </a:solidFill>
              </a:rPr>
              <a:t>A diary is a document created by an individual who maintains regular recordings about events in their life, at the time that those events occur</a:t>
            </a:r>
          </a:p>
          <a:p>
            <a:r>
              <a:rPr lang="en-US" altLang="en-US" dirty="0">
                <a:solidFill>
                  <a:srgbClr val="0070C0"/>
                </a:solidFill>
              </a:rPr>
              <a:t>Diaries are useful for recording information that is fluid and changes over time, such as user mood</a:t>
            </a:r>
          </a:p>
          <a:p>
            <a:r>
              <a:rPr lang="en-US" altLang="en-US" dirty="0">
                <a:solidFill>
                  <a:srgbClr val="0070C0"/>
                </a:solidFill>
              </a:rPr>
              <a:t>If recall after-the-fact will be hard, inaccurate, or subject to biases, diaries might be a useful data collection me</a:t>
            </a:r>
            <a:endParaRPr lang="en-US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643053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DF9B2D-1755-1EB8-4DCE-76FBC9B936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Case Studies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B8543A-F5A4-B5F4-4D21-C4A0AE1C9C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44625"/>
            <a:ext cx="10515600" cy="2174875"/>
          </a:xfrm>
        </p:spPr>
        <p:txBody>
          <a:bodyPr>
            <a:normAutofit fontScale="92500" lnSpcReduction="20000"/>
          </a:bodyPr>
          <a:lstStyle/>
          <a:p>
            <a:pPr marL="681038" indent="-681038">
              <a:buFont typeface="Times New Roman" panose="02020603050405020304" pitchFamily="18" charset="0"/>
              <a:buChar char="•"/>
              <a:tabLst>
                <a:tab pos="681038" algn="l"/>
                <a:tab pos="793750" algn="l"/>
                <a:tab pos="1250950" algn="l"/>
                <a:tab pos="1708150" algn="l"/>
                <a:tab pos="2165350" algn="l"/>
                <a:tab pos="2622550" algn="l"/>
                <a:tab pos="3079750" algn="l"/>
                <a:tab pos="3536950" algn="l"/>
                <a:tab pos="3994150" algn="l"/>
                <a:tab pos="4451350" algn="l"/>
                <a:tab pos="4908550" algn="l"/>
                <a:tab pos="5365750" algn="l"/>
                <a:tab pos="5822950" algn="l"/>
                <a:tab pos="6280150" algn="l"/>
                <a:tab pos="6737350" algn="l"/>
                <a:tab pos="7194550" algn="l"/>
                <a:tab pos="7651750" algn="l"/>
                <a:tab pos="8108950" algn="l"/>
                <a:tab pos="8566150" algn="l"/>
                <a:tab pos="9023350" algn="l"/>
                <a:tab pos="9480550" algn="l"/>
              </a:tabLst>
            </a:pPr>
            <a:r>
              <a:rPr lang="en-US" altLang="en-US" dirty="0">
                <a:solidFill>
                  <a:srgbClr val="0070C0"/>
                </a:solidFill>
              </a:rPr>
              <a:t>in-depth study of a specific instance (or a small number of instances) within a specific real-life context.</a:t>
            </a:r>
          </a:p>
          <a:p>
            <a:pPr marL="681038" indent="-681038">
              <a:buClrTx/>
              <a:buSzTx/>
              <a:buFontTx/>
              <a:buNone/>
              <a:tabLst>
                <a:tab pos="681038" algn="l"/>
                <a:tab pos="793750" algn="l"/>
                <a:tab pos="1250950" algn="l"/>
                <a:tab pos="1708150" algn="l"/>
                <a:tab pos="2165350" algn="l"/>
                <a:tab pos="2622550" algn="l"/>
                <a:tab pos="3079750" algn="l"/>
                <a:tab pos="3536950" algn="l"/>
                <a:tab pos="3994150" algn="l"/>
                <a:tab pos="4451350" algn="l"/>
                <a:tab pos="4908550" algn="l"/>
                <a:tab pos="5365750" algn="l"/>
                <a:tab pos="5822950" algn="l"/>
                <a:tab pos="6280150" algn="l"/>
                <a:tab pos="6737350" algn="l"/>
                <a:tab pos="7194550" algn="l"/>
                <a:tab pos="7651750" algn="l"/>
                <a:tab pos="8108950" algn="l"/>
                <a:tab pos="8566150" algn="l"/>
                <a:tab pos="9023350" algn="l"/>
                <a:tab pos="9480550" algn="l"/>
              </a:tabLst>
            </a:pPr>
            <a:endParaRPr lang="en-US" altLang="en-US" dirty="0">
              <a:solidFill>
                <a:srgbClr val="0070C0"/>
              </a:solidFill>
            </a:endParaRPr>
          </a:p>
          <a:p>
            <a:pPr marL="681038" indent="-681038">
              <a:buFont typeface="Times New Roman" panose="02020603050405020304" pitchFamily="18" charset="0"/>
              <a:buChar char="•"/>
              <a:tabLst>
                <a:tab pos="681038" algn="l"/>
                <a:tab pos="793750" algn="l"/>
                <a:tab pos="1250950" algn="l"/>
                <a:tab pos="1708150" algn="l"/>
                <a:tab pos="2165350" algn="l"/>
                <a:tab pos="2622550" algn="l"/>
                <a:tab pos="3079750" algn="l"/>
                <a:tab pos="3536950" algn="l"/>
                <a:tab pos="3994150" algn="l"/>
                <a:tab pos="4451350" algn="l"/>
                <a:tab pos="4908550" algn="l"/>
                <a:tab pos="5365750" algn="l"/>
                <a:tab pos="5822950" algn="l"/>
                <a:tab pos="6280150" algn="l"/>
                <a:tab pos="6737350" algn="l"/>
                <a:tab pos="7194550" algn="l"/>
                <a:tab pos="7651750" algn="l"/>
                <a:tab pos="8108950" algn="l"/>
                <a:tab pos="8566150" algn="l"/>
                <a:tab pos="9023350" algn="l"/>
                <a:tab pos="9480550" algn="l"/>
              </a:tabLst>
            </a:pPr>
            <a:r>
              <a:rPr lang="en-US" altLang="en-US" dirty="0">
                <a:solidFill>
                  <a:srgbClr val="0070C0"/>
                </a:solidFill>
              </a:rPr>
              <a:t>Build understanding, generate hypotheses, document behavior that would otherwise be hard to document</a:t>
            </a:r>
          </a:p>
          <a:p>
            <a:pPr marL="681038" indent="-681038">
              <a:buFont typeface="Times New Roman" panose="02020603050405020304" pitchFamily="18" charset="0"/>
              <a:buChar char="•"/>
              <a:tabLst>
                <a:tab pos="681038" algn="l"/>
                <a:tab pos="793750" algn="l"/>
                <a:tab pos="1250950" algn="l"/>
                <a:tab pos="1708150" algn="l"/>
                <a:tab pos="2165350" algn="l"/>
                <a:tab pos="2622550" algn="l"/>
                <a:tab pos="3079750" algn="l"/>
                <a:tab pos="3536950" algn="l"/>
                <a:tab pos="3994150" algn="l"/>
                <a:tab pos="4451350" algn="l"/>
                <a:tab pos="4908550" algn="l"/>
                <a:tab pos="5365750" algn="l"/>
                <a:tab pos="5822950" algn="l"/>
                <a:tab pos="6280150" algn="l"/>
                <a:tab pos="6737350" algn="l"/>
                <a:tab pos="7194550" algn="l"/>
                <a:tab pos="7651750" algn="l"/>
                <a:tab pos="8108950" algn="l"/>
                <a:tab pos="8566150" algn="l"/>
                <a:tab pos="9023350" algn="l"/>
                <a:tab pos="9480550" algn="l"/>
              </a:tabLst>
            </a:pPr>
            <a:r>
              <a:rPr lang="en-US" altLang="en-US" dirty="0">
                <a:solidFill>
                  <a:srgbClr val="0070C0"/>
                </a:solidFill>
              </a:rPr>
              <a:t>Time and labor intensive, but potentially informative</a:t>
            </a:r>
          </a:p>
          <a:p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D433B64-5A2B-5CB8-E99E-9B878BA732FB}"/>
              </a:ext>
            </a:extLst>
          </p:cNvPr>
          <p:cNvSpPr txBox="1">
            <a:spLocks/>
          </p:cNvSpPr>
          <p:nvPr/>
        </p:nvSpPr>
        <p:spPr>
          <a:xfrm>
            <a:off x="838200" y="395763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rgbClr val="0070C0"/>
                </a:solidFill>
              </a:rPr>
              <a:t>Interviews and Focus Groups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BDA170CD-4603-B8F6-9768-337AFFD67CD6}"/>
              </a:ext>
            </a:extLst>
          </p:cNvPr>
          <p:cNvSpPr txBox="1">
            <a:spLocks/>
          </p:cNvSpPr>
          <p:nvPr/>
        </p:nvSpPr>
        <p:spPr>
          <a:xfrm>
            <a:off x="838200" y="515858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rgbClr val="0070C0"/>
                </a:solidFill>
              </a:rPr>
              <a:t>Ethnography</a:t>
            </a:r>
          </a:p>
        </p:txBody>
      </p:sp>
    </p:spTree>
    <p:extLst>
      <p:ext uri="{BB962C8B-B14F-4D97-AF65-F5344CB8AC3E}">
        <p14:creationId xmlns:p14="http://schemas.microsoft.com/office/powerpoint/2010/main" val="33828161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98" name="Rectangle 2">
            <a:extLst>
              <a:ext uri="{FF2B5EF4-FFF2-40B4-BE49-F238E27FC236}">
                <a16:creationId xmlns:a16="http://schemas.microsoft.com/office/drawing/2014/main" id="{C5159DE6-26BC-6838-62FD-2E64670F08D4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2209800" y="2286000"/>
            <a:ext cx="7772400" cy="1143000"/>
          </a:xfrm>
        </p:spPr>
        <p:txBody>
          <a:bodyPr>
            <a:normAutofit fontScale="90000"/>
          </a:bodyPr>
          <a:lstStyle/>
          <a:p>
            <a:pPr algn="ctr">
              <a:defRPr/>
            </a:pPr>
            <a:br>
              <a:rPr lang="en-GB" altLang="en-US" dirty="0">
                <a:solidFill>
                  <a:srgbClr val="0070C0"/>
                </a:solidFill>
              </a:rPr>
            </a:br>
            <a:br>
              <a:rPr lang="en-GB" altLang="en-US" dirty="0">
                <a:solidFill>
                  <a:srgbClr val="0070C0"/>
                </a:solidFill>
              </a:rPr>
            </a:br>
            <a:br>
              <a:rPr lang="en-GB" altLang="en-US" dirty="0">
                <a:solidFill>
                  <a:srgbClr val="0070C0"/>
                </a:solidFill>
              </a:rPr>
            </a:br>
            <a:br>
              <a:rPr lang="en-GB" altLang="en-US" dirty="0">
                <a:solidFill>
                  <a:srgbClr val="0070C0"/>
                </a:solidFill>
              </a:rPr>
            </a:br>
            <a:br>
              <a:rPr lang="en-GB" altLang="en-US" dirty="0">
                <a:solidFill>
                  <a:srgbClr val="0070C0"/>
                </a:solidFill>
              </a:rPr>
            </a:br>
            <a:br>
              <a:rPr lang="en-GB" altLang="en-US" dirty="0">
                <a:solidFill>
                  <a:srgbClr val="0070C0"/>
                </a:solidFill>
              </a:rPr>
            </a:br>
            <a:br>
              <a:rPr lang="en-GB" altLang="en-US" dirty="0">
                <a:solidFill>
                  <a:srgbClr val="0070C0"/>
                </a:solidFill>
              </a:rPr>
            </a:br>
            <a:br>
              <a:rPr lang="en-GB" altLang="en-US" dirty="0">
                <a:solidFill>
                  <a:srgbClr val="0070C0"/>
                </a:solidFill>
              </a:rPr>
            </a:br>
            <a:br>
              <a:rPr lang="en-GB" altLang="en-US" dirty="0">
                <a:solidFill>
                  <a:srgbClr val="0070C0"/>
                </a:solidFill>
              </a:rPr>
            </a:br>
            <a:br>
              <a:rPr lang="en-GB" altLang="en-US" dirty="0">
                <a:solidFill>
                  <a:srgbClr val="0070C0"/>
                </a:solidFill>
              </a:rPr>
            </a:br>
            <a:br>
              <a:rPr lang="en-GB" altLang="en-US" dirty="0">
                <a:solidFill>
                  <a:srgbClr val="0070C0"/>
                </a:solidFill>
              </a:rPr>
            </a:br>
            <a:br>
              <a:rPr lang="en-GB" altLang="en-US" dirty="0">
                <a:solidFill>
                  <a:srgbClr val="0070C0"/>
                </a:solidFill>
              </a:rPr>
            </a:br>
            <a:br>
              <a:rPr lang="en-GB" altLang="en-US" dirty="0">
                <a:solidFill>
                  <a:srgbClr val="0070C0"/>
                </a:solidFill>
              </a:rPr>
            </a:br>
            <a:br>
              <a:rPr lang="en-GB" altLang="en-US" dirty="0">
                <a:solidFill>
                  <a:srgbClr val="0070C0"/>
                </a:solidFill>
              </a:rPr>
            </a:br>
            <a:br>
              <a:rPr lang="en-GB" altLang="en-US" dirty="0">
                <a:solidFill>
                  <a:srgbClr val="0070C0"/>
                </a:solidFill>
              </a:rPr>
            </a:br>
            <a:br>
              <a:rPr lang="en-GB" altLang="en-US" dirty="0">
                <a:solidFill>
                  <a:srgbClr val="0070C0"/>
                </a:solidFill>
              </a:rPr>
            </a:br>
            <a:br>
              <a:rPr lang="en-GB" altLang="en-US" dirty="0">
                <a:solidFill>
                  <a:srgbClr val="0070C0"/>
                </a:solidFill>
              </a:rPr>
            </a:br>
            <a:br>
              <a:rPr lang="en-GB" altLang="en-US" dirty="0">
                <a:solidFill>
                  <a:srgbClr val="0070C0"/>
                </a:solidFill>
              </a:rPr>
            </a:br>
            <a:br>
              <a:rPr lang="en-GB" altLang="en-US" dirty="0">
                <a:solidFill>
                  <a:srgbClr val="0070C0"/>
                </a:solidFill>
              </a:rPr>
            </a:br>
            <a:br>
              <a:rPr lang="en-GB" altLang="en-US" dirty="0">
                <a:solidFill>
                  <a:srgbClr val="0070C0"/>
                </a:solidFill>
              </a:rPr>
            </a:br>
            <a:r>
              <a:rPr lang="en-GB" altLang="en-US" dirty="0">
                <a:solidFill>
                  <a:srgbClr val="0070C0"/>
                </a:solidFill>
              </a:rPr>
              <a:t>Design rules</a:t>
            </a:r>
            <a:br>
              <a:rPr lang="en-GB" altLang="en-US" dirty="0">
                <a:solidFill>
                  <a:srgbClr val="0070C0"/>
                </a:solidFill>
              </a:rPr>
            </a:br>
            <a:endParaRPr lang="en-GB" altLang="en-US" dirty="0">
              <a:solidFill>
                <a:srgbClr val="0070C0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Title 1">
            <a:extLst>
              <a:ext uri="{FF2B5EF4-FFF2-40B4-BE49-F238E27FC236}">
                <a16:creationId xmlns:a16="http://schemas.microsoft.com/office/drawing/2014/main" id="{AD324A05-134A-8270-05E5-CD70FB1FEC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225" y="476250"/>
            <a:ext cx="8153400" cy="990600"/>
          </a:xfrm>
        </p:spPr>
        <p:txBody>
          <a:bodyPr/>
          <a:lstStyle/>
          <a:p>
            <a:r>
              <a:rPr lang="en-GB" altLang="en-US" dirty="0">
                <a:solidFill>
                  <a:srgbClr val="0070C0"/>
                </a:solidFill>
              </a:rPr>
              <a:t>Design rules</a:t>
            </a:r>
            <a:endParaRPr lang="en-US" altLang="en-US" dirty="0">
              <a:solidFill>
                <a:srgbClr val="0070C0"/>
              </a:solidFill>
            </a:endParaRPr>
          </a:p>
        </p:txBody>
      </p:sp>
      <p:sp>
        <p:nvSpPr>
          <p:cNvPr id="15362" name="Content Placeholder 2">
            <a:extLst>
              <a:ext uri="{FF2B5EF4-FFF2-40B4-BE49-F238E27FC236}">
                <a16:creationId xmlns:a16="http://schemas.microsoft.com/office/drawing/2014/main" id="{D6C46F59-8CEB-12B9-482D-5E326E8B4C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3225" y="1847850"/>
            <a:ext cx="8153400" cy="4495800"/>
          </a:xfrm>
        </p:spPr>
        <p:txBody>
          <a:bodyPr/>
          <a:lstStyle/>
          <a:p>
            <a:r>
              <a:rPr lang="en-GB" altLang="en-US" sz="3200" dirty="0">
                <a:solidFill>
                  <a:srgbClr val="0070C0"/>
                </a:solidFill>
              </a:rPr>
              <a:t>What is the goal of interaction design?</a:t>
            </a:r>
          </a:p>
          <a:p>
            <a:pPr lvl="1"/>
            <a:r>
              <a:rPr lang="en-GB" altLang="en-US" dirty="0">
                <a:solidFill>
                  <a:srgbClr val="0070C0"/>
                </a:solidFill>
              </a:rPr>
              <a:t>Designing for  maximum </a:t>
            </a:r>
            <a:r>
              <a:rPr lang="en-GB" altLang="en-US" b="1" dirty="0">
                <a:solidFill>
                  <a:srgbClr val="FF0000"/>
                </a:solidFill>
              </a:rPr>
              <a:t>usability</a:t>
            </a:r>
          </a:p>
          <a:p>
            <a:r>
              <a:rPr lang="en-GB" altLang="en-US" sz="3200" dirty="0">
                <a:solidFill>
                  <a:srgbClr val="0070C0"/>
                </a:solidFill>
              </a:rPr>
              <a:t>Types of design rules</a:t>
            </a:r>
          </a:p>
          <a:p>
            <a:pPr lvl="1"/>
            <a:r>
              <a:rPr lang="en-GB" altLang="en-US" dirty="0">
                <a:solidFill>
                  <a:srgbClr val="0070C0"/>
                </a:solidFill>
              </a:rPr>
              <a:t>Standards/Guidelines/Principles</a:t>
            </a:r>
          </a:p>
          <a:p>
            <a:r>
              <a:rPr lang="en-GB" altLang="en-US" sz="3200" dirty="0">
                <a:solidFill>
                  <a:srgbClr val="0070C0"/>
                </a:solidFill>
              </a:rPr>
              <a:t>Standards and guidelines</a:t>
            </a:r>
          </a:p>
          <a:p>
            <a:pPr lvl="1"/>
            <a:r>
              <a:rPr lang="en-GB" altLang="en-US" dirty="0">
                <a:solidFill>
                  <a:srgbClr val="0070C0"/>
                </a:solidFill>
              </a:rPr>
              <a:t>Direction for design</a:t>
            </a:r>
          </a:p>
          <a:p>
            <a:pPr lvl="1"/>
            <a:endParaRPr lang="en-GB" altLang="en-US" sz="2800" dirty="0">
              <a:solidFill>
                <a:srgbClr val="0070C0"/>
              </a:solidFill>
            </a:endParaRPr>
          </a:p>
          <a:p>
            <a:pPr lvl="1"/>
            <a:endParaRPr lang="en-GB" altLang="en-US" b="1" dirty="0">
              <a:solidFill>
                <a:srgbClr val="0070C0"/>
              </a:solidFill>
            </a:endParaRPr>
          </a:p>
          <a:p>
            <a:endParaRPr lang="en-GB" altLang="en-US" sz="3200" dirty="0">
              <a:solidFill>
                <a:srgbClr val="0070C0"/>
              </a:solidFill>
            </a:endParaRPr>
          </a:p>
          <a:p>
            <a:endParaRPr lang="en-US" altLang="en-US" dirty="0">
              <a:solidFill>
                <a:srgbClr val="0070C0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>
            <a:extLst>
              <a:ext uri="{FF2B5EF4-FFF2-40B4-BE49-F238E27FC236}">
                <a16:creationId xmlns:a16="http://schemas.microsoft.com/office/drawing/2014/main" id="{C0C03239-2B56-41C7-97BE-5B9ED3E50B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775" y="400050"/>
            <a:ext cx="8153400" cy="990600"/>
          </a:xfrm>
        </p:spPr>
        <p:txBody>
          <a:bodyPr/>
          <a:lstStyle/>
          <a:p>
            <a:r>
              <a:rPr lang="en-GB" altLang="en-US" dirty="0">
                <a:solidFill>
                  <a:srgbClr val="0070C0"/>
                </a:solidFill>
              </a:rPr>
              <a:t>Types of design rules</a:t>
            </a:r>
          </a:p>
        </p:txBody>
      </p:sp>
      <p:sp>
        <p:nvSpPr>
          <p:cNvPr id="16386" name="Rectangle 3">
            <a:extLst>
              <a:ext uri="{FF2B5EF4-FFF2-40B4-BE49-F238E27FC236}">
                <a16:creationId xmlns:a16="http://schemas.microsoft.com/office/drawing/2014/main" id="{6462774E-41D5-98C0-2F13-ADF33446FC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775" y="1771650"/>
            <a:ext cx="6359525" cy="44958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GB" altLang="en-US" sz="2400" dirty="0">
                <a:solidFill>
                  <a:srgbClr val="0070C0"/>
                </a:solidFill>
              </a:rPr>
              <a:t>We can classify these rules along two dimensions based on the rule’s </a:t>
            </a:r>
            <a:r>
              <a:rPr lang="en-GB" altLang="en-US" sz="2400" dirty="0">
                <a:solidFill>
                  <a:srgbClr val="FF0000"/>
                </a:solidFill>
              </a:rPr>
              <a:t>authority and generality</a:t>
            </a:r>
          </a:p>
          <a:p>
            <a:pPr>
              <a:lnSpc>
                <a:spcPct val="90000"/>
              </a:lnSpc>
            </a:pPr>
            <a:r>
              <a:rPr lang="en-GB" altLang="en-US" sz="2400" dirty="0">
                <a:solidFill>
                  <a:srgbClr val="0070C0"/>
                </a:solidFill>
              </a:rPr>
              <a:t>By authority, we mean </a:t>
            </a:r>
          </a:p>
          <a:p>
            <a:pPr lvl="1">
              <a:lnSpc>
                <a:spcPct val="90000"/>
              </a:lnSpc>
            </a:pPr>
            <a:r>
              <a:rPr lang="en-GB" altLang="en-US" sz="2100" dirty="0">
                <a:solidFill>
                  <a:srgbClr val="0070C0"/>
                </a:solidFill>
              </a:rPr>
              <a:t>Rule must be followed in the design or</a:t>
            </a:r>
          </a:p>
          <a:p>
            <a:pPr lvl="1">
              <a:lnSpc>
                <a:spcPct val="90000"/>
              </a:lnSpc>
            </a:pPr>
            <a:r>
              <a:rPr lang="en-GB" altLang="en-US" sz="2100" dirty="0">
                <a:solidFill>
                  <a:srgbClr val="0070C0"/>
                </a:solidFill>
              </a:rPr>
              <a:t>It is only suggested</a:t>
            </a:r>
          </a:p>
          <a:p>
            <a:pPr>
              <a:lnSpc>
                <a:spcPct val="90000"/>
              </a:lnSpc>
            </a:pPr>
            <a:r>
              <a:rPr lang="en-GB" altLang="en-US" sz="2400" dirty="0">
                <a:solidFill>
                  <a:srgbClr val="0070C0"/>
                </a:solidFill>
              </a:rPr>
              <a:t>By generality, we mean </a:t>
            </a:r>
          </a:p>
          <a:p>
            <a:pPr lvl="1">
              <a:lnSpc>
                <a:spcPct val="90000"/>
              </a:lnSpc>
            </a:pPr>
            <a:r>
              <a:rPr lang="en-GB" altLang="en-US" sz="2100" dirty="0">
                <a:solidFill>
                  <a:srgbClr val="0070C0"/>
                </a:solidFill>
              </a:rPr>
              <a:t>Rule can be applied to many situations/applications or</a:t>
            </a:r>
          </a:p>
          <a:p>
            <a:pPr lvl="1">
              <a:lnSpc>
                <a:spcPct val="90000"/>
              </a:lnSpc>
            </a:pPr>
            <a:r>
              <a:rPr lang="en-GB" altLang="en-US" sz="2100" dirty="0">
                <a:solidFill>
                  <a:srgbClr val="0070C0"/>
                </a:solidFill>
              </a:rPr>
              <a:t>It is focused on a limited situations/applications</a:t>
            </a:r>
          </a:p>
          <a:p>
            <a:pPr lvl="1">
              <a:lnSpc>
                <a:spcPct val="90000"/>
              </a:lnSpc>
            </a:pPr>
            <a:endParaRPr lang="en-GB" altLang="en-US" sz="2100" dirty="0">
              <a:solidFill>
                <a:srgbClr val="0070C0"/>
              </a:solidFill>
            </a:endParaRPr>
          </a:p>
          <a:p>
            <a:pPr>
              <a:lnSpc>
                <a:spcPct val="90000"/>
              </a:lnSpc>
            </a:pPr>
            <a:endParaRPr lang="en-GB" altLang="en-US" sz="2400" dirty="0">
              <a:solidFill>
                <a:srgbClr val="0070C0"/>
              </a:solidFill>
            </a:endParaRPr>
          </a:p>
          <a:p>
            <a:pPr lvl="1">
              <a:lnSpc>
                <a:spcPct val="90000"/>
              </a:lnSpc>
            </a:pPr>
            <a:endParaRPr lang="en-GB" altLang="en-US" sz="2100" dirty="0">
              <a:solidFill>
                <a:srgbClr val="0070C0"/>
              </a:solidFill>
            </a:endParaRPr>
          </a:p>
          <a:p>
            <a:pPr lvl="1">
              <a:lnSpc>
                <a:spcPct val="90000"/>
              </a:lnSpc>
            </a:pPr>
            <a:endParaRPr lang="en-GB" altLang="en-US" sz="2100" dirty="0">
              <a:solidFill>
                <a:srgbClr val="0070C0"/>
              </a:solidFill>
            </a:endParaRPr>
          </a:p>
          <a:p>
            <a:pPr>
              <a:lnSpc>
                <a:spcPct val="90000"/>
              </a:lnSpc>
            </a:pPr>
            <a:endParaRPr lang="en-GB" altLang="en-US" sz="1800" dirty="0">
              <a:solidFill>
                <a:srgbClr val="0070C0"/>
              </a:solidFill>
            </a:endParaRPr>
          </a:p>
        </p:txBody>
      </p:sp>
      <p:grpSp>
        <p:nvGrpSpPr>
          <p:cNvPr id="16387" name="Group 4">
            <a:extLst>
              <a:ext uri="{FF2B5EF4-FFF2-40B4-BE49-F238E27FC236}">
                <a16:creationId xmlns:a16="http://schemas.microsoft.com/office/drawing/2014/main" id="{D05CFFD6-810E-A005-C572-E0210C95C525}"/>
              </a:ext>
            </a:extLst>
          </p:cNvPr>
          <p:cNvGrpSpPr>
            <a:grpSpLocks/>
          </p:cNvGrpSpPr>
          <p:nvPr/>
        </p:nvGrpSpPr>
        <p:grpSpPr bwMode="auto">
          <a:xfrm>
            <a:off x="7247716" y="1771650"/>
            <a:ext cx="4331509" cy="4404049"/>
            <a:chOff x="3263" y="743"/>
            <a:chExt cx="1872" cy="1872"/>
          </a:xfrm>
        </p:grpSpPr>
        <p:graphicFrame>
          <p:nvGraphicFramePr>
            <p:cNvPr id="16388" name="Object 5">
              <a:extLst>
                <a:ext uri="{FF2B5EF4-FFF2-40B4-BE49-F238E27FC236}">
                  <a16:creationId xmlns:a16="http://schemas.microsoft.com/office/drawing/2014/main" id="{1E4F2D5F-FAE7-A720-20F1-3BAF4497EA6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263" y="743"/>
            <a:ext cx="1872" cy="18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Picture" r:id="rId2" imgW="2362200" imgH="2362200" progId="Word.Picture.8">
                    <p:embed/>
                  </p:oleObj>
                </mc:Choice>
                <mc:Fallback>
                  <p:oleObj name="Picture" r:id="rId2" imgW="2362200" imgH="2362200" progId="Word.Picture.8">
                    <p:embed/>
                    <p:pic>
                      <p:nvPicPr>
                        <p:cNvPr id="16388" name="Object 5">
                          <a:extLst>
                            <a:ext uri="{FF2B5EF4-FFF2-40B4-BE49-F238E27FC236}">
                              <a16:creationId xmlns:a16="http://schemas.microsoft.com/office/drawing/2014/main" id="{1E4F2D5F-FAE7-A720-20F1-3BAF4497EA6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63" y="743"/>
                          <a:ext cx="1872" cy="18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389" name="Text Box 6">
              <a:extLst>
                <a:ext uri="{FF2B5EF4-FFF2-40B4-BE49-F238E27FC236}">
                  <a16:creationId xmlns:a16="http://schemas.microsoft.com/office/drawing/2014/main" id="{8CDC7C3D-F0C6-CFFC-4476-4AF8354AD30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48" y="2428"/>
              <a:ext cx="1248" cy="13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700"/>
                </a:spcBef>
                <a:buClr>
                  <a:schemeClr val="accent2"/>
                </a:buClr>
                <a:buSzPct val="60000"/>
                <a:buFont typeface="Wingdings" pitchFamily="2" charset="2"/>
                <a:buChar char=""/>
                <a:defRPr sz="2900">
                  <a:solidFill>
                    <a:schemeClr val="tx1"/>
                  </a:solidFill>
                  <a:latin typeface="Tw Cen MT" panose="020B0602020104020603" pitchFamily="34" charset="77"/>
                </a:defRPr>
              </a:lvl1pPr>
              <a:lvl2pPr marL="742950" indent="-285750">
                <a:spcBef>
                  <a:spcPts val="550"/>
                </a:spcBef>
                <a:buClr>
                  <a:schemeClr val="accent1"/>
                </a:buClr>
                <a:buSzPct val="70000"/>
                <a:buFont typeface="Wingdings 2" pitchFamily="2" charset="2"/>
                <a:buChar char=""/>
                <a:defRPr sz="2600">
                  <a:solidFill>
                    <a:schemeClr val="tx1"/>
                  </a:solidFill>
                  <a:latin typeface="Tw Cen MT" panose="020B0602020104020603" pitchFamily="34" charset="77"/>
                </a:defRPr>
              </a:lvl2pPr>
              <a:lvl3pPr marL="1143000" indent="-228600">
                <a:spcBef>
                  <a:spcPts val="500"/>
                </a:spcBef>
                <a:buClr>
                  <a:schemeClr val="accent2"/>
                </a:buClr>
                <a:buSzPct val="75000"/>
                <a:buFont typeface="Wingdings" pitchFamily="2" charset="2"/>
                <a:buChar char=""/>
                <a:defRPr sz="2300">
                  <a:solidFill>
                    <a:schemeClr val="tx1"/>
                  </a:solidFill>
                  <a:latin typeface="Tw Cen MT" panose="020B0602020104020603" pitchFamily="34" charset="77"/>
                </a:defRPr>
              </a:lvl3pPr>
              <a:lvl4pPr marL="1600200" indent="-228600">
                <a:spcBef>
                  <a:spcPts val="400"/>
                </a:spcBef>
                <a:buClr>
                  <a:srgbClr val="A5AB81"/>
                </a:buClr>
                <a:buSzPct val="75000"/>
                <a:buFont typeface="Wingdings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77"/>
                </a:defRPr>
              </a:lvl4pPr>
              <a:lvl5pPr marL="2057400" indent="-228600">
                <a:spcBef>
                  <a:spcPts val="400"/>
                </a:spcBef>
                <a:buClr>
                  <a:srgbClr val="D8B25C"/>
                </a:buClr>
                <a:buSzPct val="65000"/>
                <a:buFont typeface="Wingdings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77"/>
                </a:defRPr>
              </a:lvl5pPr>
              <a:lvl6pPr marL="25146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77"/>
                </a:defRPr>
              </a:lvl6pPr>
              <a:lvl7pPr marL="29718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77"/>
                </a:defRPr>
              </a:lvl7pPr>
              <a:lvl8pPr marL="34290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77"/>
                </a:defRPr>
              </a:lvl8pPr>
              <a:lvl9pPr marL="38862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77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GB" altLang="en-US" sz="1400">
                  <a:solidFill>
                    <a:srgbClr val="0070C0"/>
                  </a:solidFill>
                  <a:latin typeface="Arial" panose="020B0604020202020204" pitchFamily="34" charset="0"/>
                </a:rPr>
                <a:t>increasing authority</a:t>
              </a:r>
            </a:p>
          </p:txBody>
        </p:sp>
        <p:sp>
          <p:nvSpPr>
            <p:cNvPr id="16390" name="Text Box 7">
              <a:extLst>
                <a:ext uri="{FF2B5EF4-FFF2-40B4-BE49-F238E27FC236}">
                  <a16:creationId xmlns:a16="http://schemas.microsoft.com/office/drawing/2014/main" id="{A303C094-511F-FB29-FD66-8165DB06A71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2607" y="1484"/>
              <a:ext cx="1504" cy="13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700"/>
                </a:spcBef>
                <a:buClr>
                  <a:schemeClr val="accent2"/>
                </a:buClr>
                <a:buSzPct val="60000"/>
                <a:buFont typeface="Wingdings" pitchFamily="2" charset="2"/>
                <a:buChar char=""/>
                <a:defRPr sz="2900">
                  <a:solidFill>
                    <a:schemeClr val="tx1"/>
                  </a:solidFill>
                  <a:latin typeface="Tw Cen MT" panose="020B0602020104020603" pitchFamily="34" charset="77"/>
                </a:defRPr>
              </a:lvl1pPr>
              <a:lvl2pPr marL="742950" indent="-285750">
                <a:spcBef>
                  <a:spcPts val="550"/>
                </a:spcBef>
                <a:buClr>
                  <a:schemeClr val="accent1"/>
                </a:buClr>
                <a:buSzPct val="70000"/>
                <a:buFont typeface="Wingdings 2" pitchFamily="2" charset="2"/>
                <a:buChar char=""/>
                <a:defRPr sz="2600">
                  <a:solidFill>
                    <a:schemeClr val="tx1"/>
                  </a:solidFill>
                  <a:latin typeface="Tw Cen MT" panose="020B0602020104020603" pitchFamily="34" charset="77"/>
                </a:defRPr>
              </a:lvl2pPr>
              <a:lvl3pPr marL="1143000" indent="-228600">
                <a:spcBef>
                  <a:spcPts val="500"/>
                </a:spcBef>
                <a:buClr>
                  <a:schemeClr val="accent2"/>
                </a:buClr>
                <a:buSzPct val="75000"/>
                <a:buFont typeface="Wingdings" pitchFamily="2" charset="2"/>
                <a:buChar char=""/>
                <a:defRPr sz="2300">
                  <a:solidFill>
                    <a:schemeClr val="tx1"/>
                  </a:solidFill>
                  <a:latin typeface="Tw Cen MT" panose="020B0602020104020603" pitchFamily="34" charset="77"/>
                </a:defRPr>
              </a:lvl3pPr>
              <a:lvl4pPr marL="1600200" indent="-228600">
                <a:spcBef>
                  <a:spcPts val="400"/>
                </a:spcBef>
                <a:buClr>
                  <a:srgbClr val="A5AB81"/>
                </a:buClr>
                <a:buSzPct val="75000"/>
                <a:buFont typeface="Wingdings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77"/>
                </a:defRPr>
              </a:lvl4pPr>
              <a:lvl5pPr marL="2057400" indent="-228600">
                <a:spcBef>
                  <a:spcPts val="400"/>
                </a:spcBef>
                <a:buClr>
                  <a:srgbClr val="D8B25C"/>
                </a:buClr>
                <a:buSzPct val="65000"/>
                <a:buFont typeface="Wingdings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77"/>
                </a:defRPr>
              </a:lvl5pPr>
              <a:lvl6pPr marL="25146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77"/>
                </a:defRPr>
              </a:lvl6pPr>
              <a:lvl7pPr marL="29718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77"/>
                </a:defRPr>
              </a:lvl7pPr>
              <a:lvl8pPr marL="34290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77"/>
                </a:defRPr>
              </a:lvl8pPr>
              <a:lvl9pPr marL="38862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77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GB" altLang="en-US" sz="1400">
                  <a:solidFill>
                    <a:srgbClr val="0070C0"/>
                  </a:solidFill>
                  <a:latin typeface="Arial" panose="020B0604020202020204" pitchFamily="34" charset="0"/>
                </a:rPr>
                <a:t>increasing generality</a:t>
              </a: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2">
            <a:extLst>
              <a:ext uri="{FF2B5EF4-FFF2-40B4-BE49-F238E27FC236}">
                <a16:creationId xmlns:a16="http://schemas.microsoft.com/office/drawing/2014/main" id="{AF54AC36-A2E6-B0C5-F527-D5AB017B2E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6775" y="228600"/>
            <a:ext cx="8153400" cy="990600"/>
          </a:xfrm>
        </p:spPr>
        <p:txBody>
          <a:bodyPr/>
          <a:lstStyle/>
          <a:p>
            <a:r>
              <a:rPr lang="en-GB" altLang="en-US">
                <a:solidFill>
                  <a:srgbClr val="0070C0"/>
                </a:solidFill>
              </a:rPr>
              <a:t>Types of design rules (contd.)</a:t>
            </a:r>
          </a:p>
        </p:txBody>
      </p:sp>
      <p:sp>
        <p:nvSpPr>
          <p:cNvPr id="17410" name="Rectangle 3">
            <a:extLst>
              <a:ext uri="{FF2B5EF4-FFF2-40B4-BE49-F238E27FC236}">
                <a16:creationId xmlns:a16="http://schemas.microsoft.com/office/drawing/2014/main" id="{287CA9F3-50F7-5CBC-D2CD-6CD9409D97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6575" y="1670493"/>
            <a:ext cx="8153400" cy="44958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GB" altLang="en-US" sz="2400" dirty="0">
                <a:solidFill>
                  <a:srgbClr val="0070C0"/>
                </a:solidFill>
              </a:rPr>
              <a:t>Standards</a:t>
            </a:r>
            <a:endParaRPr lang="en-GB" altLang="en-US" dirty="0">
              <a:solidFill>
                <a:srgbClr val="0070C0"/>
              </a:solidFill>
            </a:endParaRPr>
          </a:p>
          <a:p>
            <a:pPr marL="1327150" lvl="1"/>
            <a:r>
              <a:rPr lang="en-GB" altLang="en-US" sz="2000" dirty="0">
                <a:solidFill>
                  <a:srgbClr val="0070C0"/>
                </a:solidFill>
              </a:rPr>
              <a:t>Specific design rules</a:t>
            </a:r>
          </a:p>
          <a:p>
            <a:pPr marL="1327150" lvl="1"/>
            <a:r>
              <a:rPr lang="en-GB" altLang="en-US" sz="2000" dirty="0">
                <a:solidFill>
                  <a:srgbClr val="0070C0"/>
                </a:solidFill>
              </a:rPr>
              <a:t>High authority</a:t>
            </a:r>
          </a:p>
          <a:p>
            <a:pPr marL="1327150" lvl="1"/>
            <a:r>
              <a:rPr lang="en-GB" altLang="en-US" sz="2000" dirty="0">
                <a:solidFill>
                  <a:srgbClr val="0070C0"/>
                </a:solidFill>
              </a:rPr>
              <a:t>Low generality (Limited application)</a:t>
            </a:r>
            <a:endParaRPr lang="en-GB" altLang="en-US" dirty="0">
              <a:solidFill>
                <a:srgbClr val="0070C0"/>
              </a:solidFill>
            </a:endParaRPr>
          </a:p>
          <a:p>
            <a:pPr>
              <a:lnSpc>
                <a:spcPct val="90000"/>
              </a:lnSpc>
            </a:pPr>
            <a:r>
              <a:rPr lang="en-GB" altLang="en-US" sz="2400" dirty="0">
                <a:solidFill>
                  <a:srgbClr val="0070C0"/>
                </a:solidFill>
              </a:rPr>
              <a:t>Guidelines</a:t>
            </a:r>
          </a:p>
          <a:p>
            <a:pPr marL="1327150" lvl="1"/>
            <a:r>
              <a:rPr lang="en-GB" altLang="en-US" sz="2000" dirty="0">
                <a:solidFill>
                  <a:srgbClr val="0070C0"/>
                </a:solidFill>
              </a:rPr>
              <a:t>Lower authority</a:t>
            </a:r>
          </a:p>
          <a:p>
            <a:pPr marL="1327150" lvl="1"/>
            <a:r>
              <a:rPr lang="en-GB" altLang="en-US" sz="2000" dirty="0">
                <a:solidFill>
                  <a:srgbClr val="0070C0"/>
                </a:solidFill>
              </a:rPr>
              <a:t>High generality (More general application)</a:t>
            </a:r>
          </a:p>
          <a:p>
            <a:pPr>
              <a:lnSpc>
                <a:spcPct val="90000"/>
              </a:lnSpc>
            </a:pPr>
            <a:r>
              <a:rPr lang="en-GB" altLang="en-US" sz="2400" dirty="0">
                <a:solidFill>
                  <a:srgbClr val="0070C0"/>
                </a:solidFill>
              </a:rPr>
              <a:t>Principles</a:t>
            </a:r>
            <a:endParaRPr lang="en-GB" altLang="en-US" dirty="0">
              <a:solidFill>
                <a:srgbClr val="0070C0"/>
              </a:solidFill>
            </a:endParaRPr>
          </a:p>
          <a:p>
            <a:pPr marL="1327150" lvl="1"/>
            <a:r>
              <a:rPr lang="en-GB" altLang="en-US" sz="2000" dirty="0">
                <a:solidFill>
                  <a:srgbClr val="0070C0"/>
                </a:solidFill>
              </a:rPr>
              <a:t>Abstract design rules</a:t>
            </a:r>
            <a:endParaRPr lang="en-GB" altLang="en-US" dirty="0">
              <a:solidFill>
                <a:srgbClr val="0070C0"/>
              </a:solidFill>
            </a:endParaRPr>
          </a:p>
          <a:p>
            <a:pPr marL="1327150" lvl="1"/>
            <a:r>
              <a:rPr lang="en-GB" altLang="en-US" sz="2000" dirty="0">
                <a:solidFill>
                  <a:srgbClr val="0070C0"/>
                </a:solidFill>
              </a:rPr>
              <a:t>Lower authority</a:t>
            </a:r>
          </a:p>
          <a:p>
            <a:pPr marL="1327150" lvl="1"/>
            <a:r>
              <a:rPr lang="en-GB" altLang="en-US" sz="2000" dirty="0">
                <a:solidFill>
                  <a:srgbClr val="0070C0"/>
                </a:solidFill>
              </a:rPr>
              <a:t>High generality</a:t>
            </a:r>
            <a:endParaRPr lang="en-GB" altLang="en-US" dirty="0">
              <a:solidFill>
                <a:srgbClr val="0070C0"/>
              </a:solidFill>
            </a:endParaRPr>
          </a:p>
          <a:p>
            <a:pPr>
              <a:lnSpc>
                <a:spcPct val="90000"/>
              </a:lnSpc>
            </a:pPr>
            <a:endParaRPr lang="en-GB" altLang="en-US" sz="2400" dirty="0">
              <a:solidFill>
                <a:srgbClr val="0070C0"/>
              </a:solidFill>
            </a:endParaRPr>
          </a:p>
        </p:txBody>
      </p:sp>
      <p:grpSp>
        <p:nvGrpSpPr>
          <p:cNvPr id="17411" name="Group 4">
            <a:extLst>
              <a:ext uri="{FF2B5EF4-FFF2-40B4-BE49-F238E27FC236}">
                <a16:creationId xmlns:a16="http://schemas.microsoft.com/office/drawing/2014/main" id="{01C1281A-0198-7CD7-3C34-572A117DD82A}"/>
              </a:ext>
            </a:extLst>
          </p:cNvPr>
          <p:cNvGrpSpPr>
            <a:grpSpLocks/>
          </p:cNvGrpSpPr>
          <p:nvPr/>
        </p:nvGrpSpPr>
        <p:grpSpPr bwMode="auto">
          <a:xfrm>
            <a:off x="7754939" y="4267201"/>
            <a:ext cx="2682875" cy="2603789"/>
            <a:chOff x="3251" y="743"/>
            <a:chExt cx="1884" cy="1911"/>
          </a:xfrm>
        </p:grpSpPr>
        <p:graphicFrame>
          <p:nvGraphicFramePr>
            <p:cNvPr id="17412" name="Object 5">
              <a:extLst>
                <a:ext uri="{FF2B5EF4-FFF2-40B4-BE49-F238E27FC236}">
                  <a16:creationId xmlns:a16="http://schemas.microsoft.com/office/drawing/2014/main" id="{F1089378-6C3C-0BDF-1138-49677450368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263" y="743"/>
            <a:ext cx="1872" cy="18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Picture" r:id="rId2" imgW="2362200" imgH="2362200" progId="Word.Picture.8">
                    <p:embed/>
                  </p:oleObj>
                </mc:Choice>
                <mc:Fallback>
                  <p:oleObj name="Picture" r:id="rId2" imgW="2362200" imgH="2362200" progId="Word.Picture.8">
                    <p:embed/>
                    <p:pic>
                      <p:nvPicPr>
                        <p:cNvPr id="17412" name="Object 5">
                          <a:extLst>
                            <a:ext uri="{FF2B5EF4-FFF2-40B4-BE49-F238E27FC236}">
                              <a16:creationId xmlns:a16="http://schemas.microsoft.com/office/drawing/2014/main" id="{F1089378-6C3C-0BDF-1138-496774503685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63" y="743"/>
                          <a:ext cx="1872" cy="18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413" name="Text Box 6">
              <a:extLst>
                <a:ext uri="{FF2B5EF4-FFF2-40B4-BE49-F238E27FC236}">
                  <a16:creationId xmlns:a16="http://schemas.microsoft.com/office/drawing/2014/main" id="{4281A78C-E2ED-FE03-9CDE-0D53E42B9C0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48" y="2428"/>
              <a:ext cx="1248" cy="22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700"/>
                </a:spcBef>
                <a:buClr>
                  <a:schemeClr val="accent2"/>
                </a:buClr>
                <a:buSzPct val="60000"/>
                <a:buFont typeface="Wingdings" pitchFamily="2" charset="2"/>
                <a:buChar char=""/>
                <a:defRPr sz="2900">
                  <a:solidFill>
                    <a:schemeClr val="tx1"/>
                  </a:solidFill>
                  <a:latin typeface="Tw Cen MT" panose="020B0602020104020603" pitchFamily="34" charset="77"/>
                </a:defRPr>
              </a:lvl1pPr>
              <a:lvl2pPr marL="742950" indent="-285750">
                <a:spcBef>
                  <a:spcPts val="550"/>
                </a:spcBef>
                <a:buClr>
                  <a:schemeClr val="accent1"/>
                </a:buClr>
                <a:buSzPct val="70000"/>
                <a:buFont typeface="Wingdings 2" pitchFamily="2" charset="2"/>
                <a:buChar char=""/>
                <a:defRPr sz="2600">
                  <a:solidFill>
                    <a:schemeClr val="tx1"/>
                  </a:solidFill>
                  <a:latin typeface="Tw Cen MT" panose="020B0602020104020603" pitchFamily="34" charset="77"/>
                </a:defRPr>
              </a:lvl2pPr>
              <a:lvl3pPr marL="1143000" indent="-228600">
                <a:spcBef>
                  <a:spcPts val="500"/>
                </a:spcBef>
                <a:buClr>
                  <a:schemeClr val="accent2"/>
                </a:buClr>
                <a:buSzPct val="75000"/>
                <a:buFont typeface="Wingdings" pitchFamily="2" charset="2"/>
                <a:buChar char=""/>
                <a:defRPr sz="2300">
                  <a:solidFill>
                    <a:schemeClr val="tx1"/>
                  </a:solidFill>
                  <a:latin typeface="Tw Cen MT" panose="020B0602020104020603" pitchFamily="34" charset="77"/>
                </a:defRPr>
              </a:lvl3pPr>
              <a:lvl4pPr marL="1600200" indent="-228600">
                <a:spcBef>
                  <a:spcPts val="400"/>
                </a:spcBef>
                <a:buClr>
                  <a:srgbClr val="A5AB81"/>
                </a:buClr>
                <a:buSzPct val="75000"/>
                <a:buFont typeface="Wingdings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77"/>
                </a:defRPr>
              </a:lvl4pPr>
              <a:lvl5pPr marL="2057400" indent="-228600">
                <a:spcBef>
                  <a:spcPts val="400"/>
                </a:spcBef>
                <a:buClr>
                  <a:srgbClr val="D8B25C"/>
                </a:buClr>
                <a:buSzPct val="65000"/>
                <a:buFont typeface="Wingdings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77"/>
                </a:defRPr>
              </a:lvl5pPr>
              <a:lvl6pPr marL="25146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77"/>
                </a:defRPr>
              </a:lvl6pPr>
              <a:lvl7pPr marL="29718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77"/>
                </a:defRPr>
              </a:lvl7pPr>
              <a:lvl8pPr marL="34290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77"/>
                </a:defRPr>
              </a:lvl8pPr>
              <a:lvl9pPr marL="38862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77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GB" altLang="en-US" sz="1400">
                  <a:solidFill>
                    <a:srgbClr val="0070C0"/>
                  </a:solidFill>
                  <a:latin typeface="Arial" panose="020B0604020202020204" pitchFamily="34" charset="0"/>
                </a:rPr>
                <a:t>increasing authority</a:t>
              </a:r>
            </a:p>
          </p:txBody>
        </p:sp>
        <p:sp>
          <p:nvSpPr>
            <p:cNvPr id="17414" name="Text Box 7">
              <a:extLst>
                <a:ext uri="{FF2B5EF4-FFF2-40B4-BE49-F238E27FC236}">
                  <a16:creationId xmlns:a16="http://schemas.microsoft.com/office/drawing/2014/main" id="{A35E15D4-B17A-B41F-37B5-B9621CD025A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-5400000">
              <a:off x="2607" y="1443"/>
              <a:ext cx="1504" cy="21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700"/>
                </a:spcBef>
                <a:buClr>
                  <a:schemeClr val="accent2"/>
                </a:buClr>
                <a:buSzPct val="60000"/>
                <a:buFont typeface="Wingdings" pitchFamily="2" charset="2"/>
                <a:buChar char=""/>
                <a:defRPr sz="2900">
                  <a:solidFill>
                    <a:schemeClr val="tx1"/>
                  </a:solidFill>
                  <a:latin typeface="Tw Cen MT" panose="020B0602020104020603" pitchFamily="34" charset="77"/>
                </a:defRPr>
              </a:lvl1pPr>
              <a:lvl2pPr marL="742950" indent="-285750">
                <a:spcBef>
                  <a:spcPts val="550"/>
                </a:spcBef>
                <a:buClr>
                  <a:schemeClr val="accent1"/>
                </a:buClr>
                <a:buSzPct val="70000"/>
                <a:buFont typeface="Wingdings 2" pitchFamily="2" charset="2"/>
                <a:buChar char=""/>
                <a:defRPr sz="2600">
                  <a:solidFill>
                    <a:schemeClr val="tx1"/>
                  </a:solidFill>
                  <a:latin typeface="Tw Cen MT" panose="020B0602020104020603" pitchFamily="34" charset="77"/>
                </a:defRPr>
              </a:lvl2pPr>
              <a:lvl3pPr marL="1143000" indent="-228600">
                <a:spcBef>
                  <a:spcPts val="500"/>
                </a:spcBef>
                <a:buClr>
                  <a:schemeClr val="accent2"/>
                </a:buClr>
                <a:buSzPct val="75000"/>
                <a:buFont typeface="Wingdings" pitchFamily="2" charset="2"/>
                <a:buChar char=""/>
                <a:defRPr sz="2300">
                  <a:solidFill>
                    <a:schemeClr val="tx1"/>
                  </a:solidFill>
                  <a:latin typeface="Tw Cen MT" panose="020B0602020104020603" pitchFamily="34" charset="77"/>
                </a:defRPr>
              </a:lvl3pPr>
              <a:lvl4pPr marL="1600200" indent="-228600">
                <a:spcBef>
                  <a:spcPts val="400"/>
                </a:spcBef>
                <a:buClr>
                  <a:srgbClr val="A5AB81"/>
                </a:buClr>
                <a:buSzPct val="75000"/>
                <a:buFont typeface="Wingdings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77"/>
                </a:defRPr>
              </a:lvl4pPr>
              <a:lvl5pPr marL="2057400" indent="-228600">
                <a:spcBef>
                  <a:spcPts val="400"/>
                </a:spcBef>
                <a:buClr>
                  <a:srgbClr val="D8B25C"/>
                </a:buClr>
                <a:buSzPct val="65000"/>
                <a:buFont typeface="Wingdings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77"/>
                </a:defRPr>
              </a:lvl5pPr>
              <a:lvl6pPr marL="25146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77"/>
                </a:defRPr>
              </a:lvl6pPr>
              <a:lvl7pPr marL="29718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77"/>
                </a:defRPr>
              </a:lvl7pPr>
              <a:lvl8pPr marL="34290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77"/>
                </a:defRPr>
              </a:lvl8pPr>
              <a:lvl9pPr marL="38862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77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GB" altLang="en-US" sz="1400">
                  <a:solidFill>
                    <a:srgbClr val="0070C0"/>
                  </a:solidFill>
                  <a:latin typeface="Arial" panose="020B0604020202020204" pitchFamily="34" charset="0"/>
                </a:rPr>
                <a:t>increasing generality</a:t>
              </a: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>
            <a:extLst>
              <a:ext uri="{FF2B5EF4-FFF2-40B4-BE49-F238E27FC236}">
                <a16:creationId xmlns:a16="http://schemas.microsoft.com/office/drawing/2014/main" id="{19C2CE0B-1736-5104-67AF-32FA777518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6775" y="228600"/>
            <a:ext cx="8153400" cy="990600"/>
          </a:xfrm>
        </p:spPr>
        <p:txBody>
          <a:bodyPr/>
          <a:lstStyle/>
          <a:p>
            <a:r>
              <a:rPr lang="en-GB" altLang="en-US">
                <a:solidFill>
                  <a:srgbClr val="0070C0"/>
                </a:solidFill>
              </a:rPr>
              <a:t>Golden rules and heuristics</a:t>
            </a:r>
          </a:p>
        </p:txBody>
      </p:sp>
      <p:sp>
        <p:nvSpPr>
          <p:cNvPr id="18434" name="Rectangle 3">
            <a:extLst>
              <a:ext uri="{FF2B5EF4-FFF2-40B4-BE49-F238E27FC236}">
                <a16:creationId xmlns:a16="http://schemas.microsoft.com/office/drawing/2014/main" id="{815D299E-239F-734E-433B-CFB3675A23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8975" y="1657350"/>
            <a:ext cx="8153400" cy="4495800"/>
          </a:xfrm>
        </p:spPr>
        <p:txBody>
          <a:bodyPr/>
          <a:lstStyle/>
          <a:p>
            <a:r>
              <a:rPr lang="en-GB" altLang="en-US" sz="2400" dirty="0">
                <a:solidFill>
                  <a:srgbClr val="0070C0"/>
                </a:solidFill>
              </a:rPr>
              <a:t>“Broad Brush” design rules</a:t>
            </a:r>
          </a:p>
          <a:p>
            <a:r>
              <a:rPr lang="en-GB" altLang="en-US" sz="2400" dirty="0">
                <a:solidFill>
                  <a:srgbClr val="0070C0"/>
                </a:solidFill>
              </a:rPr>
              <a:t>Useful check list for good design</a:t>
            </a:r>
          </a:p>
          <a:p>
            <a:r>
              <a:rPr lang="en-GB" altLang="en-US" sz="2400" dirty="0">
                <a:solidFill>
                  <a:srgbClr val="0070C0"/>
                </a:solidFill>
              </a:rPr>
              <a:t>Different collections of design rules includes such as</a:t>
            </a:r>
          </a:p>
          <a:p>
            <a:pPr lvl="1"/>
            <a:r>
              <a:rPr lang="en-GB" altLang="en-US" dirty="0" err="1">
                <a:solidFill>
                  <a:srgbClr val="0070C0"/>
                </a:solidFill>
              </a:rPr>
              <a:t>Shneiderman’s</a:t>
            </a:r>
            <a:r>
              <a:rPr lang="en-GB" altLang="en-US" dirty="0">
                <a:solidFill>
                  <a:srgbClr val="0070C0"/>
                </a:solidFill>
              </a:rPr>
              <a:t> 8 Golden Rules</a:t>
            </a:r>
          </a:p>
          <a:p>
            <a:pPr lvl="1"/>
            <a:r>
              <a:rPr lang="en-GB" altLang="en-US" dirty="0">
                <a:solidFill>
                  <a:srgbClr val="0070C0"/>
                </a:solidFill>
              </a:rPr>
              <a:t>Norman’s 7 Principles</a:t>
            </a:r>
          </a:p>
          <a:p>
            <a:pPr lvl="1"/>
            <a:r>
              <a:rPr lang="en-GB" altLang="en-US" dirty="0">
                <a:solidFill>
                  <a:srgbClr val="0070C0"/>
                </a:solidFill>
              </a:rPr>
              <a:t>Nielsen’s 10 Heuristics</a:t>
            </a:r>
          </a:p>
          <a:p>
            <a:endParaRPr lang="en-GB" altLang="en-US" dirty="0">
              <a:solidFill>
                <a:srgbClr val="0070C0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7" name="Picture 1">
            <a:extLst>
              <a:ext uri="{FF2B5EF4-FFF2-40B4-BE49-F238E27FC236}">
                <a16:creationId xmlns:a16="http://schemas.microsoft.com/office/drawing/2014/main" id="{1456242E-C7D9-1A40-448A-79FF1601B4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9525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2">
            <a:extLst>
              <a:ext uri="{FF2B5EF4-FFF2-40B4-BE49-F238E27FC236}">
                <a16:creationId xmlns:a16="http://schemas.microsoft.com/office/drawing/2014/main" id="{36C68C5E-1DF9-6FA0-D910-F0E6873283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0375" y="114300"/>
            <a:ext cx="8153400" cy="990600"/>
          </a:xfrm>
        </p:spPr>
        <p:txBody>
          <a:bodyPr/>
          <a:lstStyle/>
          <a:p>
            <a:r>
              <a:rPr lang="en-GB" altLang="en-US" dirty="0">
                <a:solidFill>
                  <a:srgbClr val="0070C0"/>
                </a:solidFill>
              </a:rPr>
              <a:t>Schneiderman's 8 Golden Rules</a:t>
            </a:r>
          </a:p>
        </p:txBody>
      </p:sp>
      <p:sp>
        <p:nvSpPr>
          <p:cNvPr id="22530" name="Rectangle 3">
            <a:extLst>
              <a:ext uri="{FF2B5EF4-FFF2-40B4-BE49-F238E27FC236}">
                <a16:creationId xmlns:a16="http://schemas.microsoft.com/office/drawing/2014/main" id="{3E6549FD-E941-5DB8-E634-F87E9CD0F8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0375" y="1752600"/>
            <a:ext cx="8153400" cy="4495800"/>
          </a:xfrm>
        </p:spPr>
        <p:txBody>
          <a:bodyPr/>
          <a:lstStyle/>
          <a:p>
            <a:pPr>
              <a:buFontTx/>
              <a:buNone/>
            </a:pPr>
            <a:r>
              <a:rPr lang="en-GB" altLang="en-US" sz="2400" i="1" dirty="0">
                <a:solidFill>
                  <a:srgbClr val="0070C0"/>
                </a:solidFill>
              </a:rPr>
              <a:t>1. Strive for consistency </a:t>
            </a:r>
          </a:p>
          <a:p>
            <a:pPr>
              <a:buFontTx/>
              <a:buNone/>
            </a:pPr>
            <a:r>
              <a:rPr lang="en-GB" altLang="en-US" sz="2400" i="1" dirty="0">
                <a:solidFill>
                  <a:srgbClr val="0070C0"/>
                </a:solidFill>
              </a:rPr>
              <a:t>2. Cater to Universal Usability (Enable frequent users to use shortcuts)</a:t>
            </a:r>
          </a:p>
          <a:p>
            <a:pPr>
              <a:buFontTx/>
              <a:buNone/>
            </a:pPr>
            <a:r>
              <a:rPr lang="en-GB" altLang="en-US" sz="2400" i="1" dirty="0">
                <a:solidFill>
                  <a:srgbClr val="0070C0"/>
                </a:solidFill>
              </a:rPr>
              <a:t>3. Offer informative feedback </a:t>
            </a:r>
          </a:p>
          <a:p>
            <a:pPr>
              <a:buFontTx/>
              <a:buNone/>
            </a:pPr>
            <a:r>
              <a:rPr lang="en-GB" altLang="en-US" sz="2400" i="1" dirty="0">
                <a:solidFill>
                  <a:srgbClr val="0070C0"/>
                </a:solidFill>
              </a:rPr>
              <a:t>4. Design dialogs to yield closure </a:t>
            </a:r>
            <a:endParaRPr lang="en-GB" altLang="en-US" sz="2400" dirty="0">
              <a:solidFill>
                <a:srgbClr val="0070C0"/>
              </a:solidFill>
              <a:latin typeface="TimesNewRomanPS-ItalicMT;TimesN"/>
            </a:endParaRPr>
          </a:p>
          <a:p>
            <a:pPr>
              <a:buFontTx/>
              <a:buNone/>
            </a:pPr>
            <a:r>
              <a:rPr lang="en-GB" altLang="en-US" sz="2400" i="1" dirty="0">
                <a:solidFill>
                  <a:srgbClr val="0070C0"/>
                </a:solidFill>
              </a:rPr>
              <a:t>5. Offer error prevention and simple error handling </a:t>
            </a:r>
            <a:endParaRPr lang="en-GB" altLang="en-US" sz="2400" dirty="0">
              <a:solidFill>
                <a:srgbClr val="0070C0"/>
              </a:solidFill>
              <a:latin typeface="TimesNewRomanPS-ItalicMT;TimesN"/>
            </a:endParaRPr>
          </a:p>
          <a:p>
            <a:pPr>
              <a:buFontTx/>
              <a:buNone/>
            </a:pPr>
            <a:r>
              <a:rPr lang="en-GB" altLang="en-US" sz="2400" i="1" dirty="0">
                <a:solidFill>
                  <a:srgbClr val="0070C0"/>
                </a:solidFill>
              </a:rPr>
              <a:t>6. Permit easy reversal of actions </a:t>
            </a:r>
            <a:endParaRPr lang="en-GB" altLang="en-US" sz="2400" dirty="0">
              <a:solidFill>
                <a:srgbClr val="0070C0"/>
              </a:solidFill>
              <a:latin typeface="TimesNewRomanPS-ItalicMT;TimesN"/>
            </a:endParaRPr>
          </a:p>
          <a:p>
            <a:pPr>
              <a:buFontTx/>
              <a:buNone/>
            </a:pPr>
            <a:r>
              <a:rPr lang="en-GB" altLang="en-US" sz="2400" i="1" dirty="0">
                <a:solidFill>
                  <a:srgbClr val="0070C0"/>
                </a:solidFill>
              </a:rPr>
              <a:t>7. Support internal locus of control </a:t>
            </a:r>
            <a:endParaRPr lang="en-GB" altLang="en-US" sz="2400" dirty="0">
              <a:solidFill>
                <a:srgbClr val="0070C0"/>
              </a:solidFill>
              <a:latin typeface="TimesNewRomanPS-ItalicMT;TimesN"/>
            </a:endParaRPr>
          </a:p>
          <a:p>
            <a:pPr>
              <a:buFontTx/>
              <a:buNone/>
            </a:pPr>
            <a:r>
              <a:rPr lang="en-GB" altLang="en-US" sz="2400" dirty="0">
                <a:solidFill>
                  <a:srgbClr val="0070C0"/>
                </a:solidFill>
                <a:latin typeface="TimesNewRomanPS-ItalicMT;TimesN"/>
              </a:rPr>
              <a:t>8. </a:t>
            </a:r>
            <a:r>
              <a:rPr lang="en-GB" altLang="en-US" sz="2400" i="1" dirty="0">
                <a:solidFill>
                  <a:srgbClr val="0070C0"/>
                </a:solidFill>
              </a:rPr>
              <a:t>Reduce short-term memory load</a:t>
            </a:r>
            <a:endParaRPr lang="en-GB" altLang="en-US" sz="2000" dirty="0">
              <a:solidFill>
                <a:srgbClr val="0070C0"/>
              </a:solidFill>
              <a:latin typeface="TimesNewRomanPS-ItalicMT;TimesN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3" name="Picture 1">
            <a:extLst>
              <a:ext uri="{FF2B5EF4-FFF2-40B4-BE49-F238E27FC236}">
                <a16:creationId xmlns:a16="http://schemas.microsoft.com/office/drawing/2014/main" id="{8CFF592A-C876-4444-767C-C9240DB52D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1" name="Picture 1">
            <a:extLst>
              <a:ext uri="{FF2B5EF4-FFF2-40B4-BE49-F238E27FC236}">
                <a16:creationId xmlns:a16="http://schemas.microsoft.com/office/drawing/2014/main" id="{22EA694C-97DC-300B-50F5-3819DB55FD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9525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49" name="Picture 1">
            <a:extLst>
              <a:ext uri="{FF2B5EF4-FFF2-40B4-BE49-F238E27FC236}">
                <a16:creationId xmlns:a16="http://schemas.microsoft.com/office/drawing/2014/main" id="{86B6C582-89F3-E21B-97B6-DE195955DC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9525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97" name="Picture 1">
            <a:extLst>
              <a:ext uri="{FF2B5EF4-FFF2-40B4-BE49-F238E27FC236}">
                <a16:creationId xmlns:a16="http://schemas.microsoft.com/office/drawing/2014/main" id="{DDDDC2AE-B6B6-00AD-AF54-0B1F3E2126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9525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45" name="Picture 1">
            <a:extLst>
              <a:ext uri="{FF2B5EF4-FFF2-40B4-BE49-F238E27FC236}">
                <a16:creationId xmlns:a16="http://schemas.microsoft.com/office/drawing/2014/main" id="{04CA78CC-C488-E279-AE45-E6F6E983F2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9525"/>
            <a:ext cx="120015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793" name="Picture 1">
            <a:extLst>
              <a:ext uri="{FF2B5EF4-FFF2-40B4-BE49-F238E27FC236}">
                <a16:creationId xmlns:a16="http://schemas.microsoft.com/office/drawing/2014/main" id="{9D9CFA78-9FCB-965F-054A-7956D7612E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9525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  <p:sp>
        <p:nvSpPr>
          <p:cNvPr id="33794" name="TextBox 1">
            <a:extLst>
              <a:ext uri="{FF2B5EF4-FFF2-40B4-BE49-F238E27FC236}">
                <a16:creationId xmlns:a16="http://schemas.microsoft.com/office/drawing/2014/main" id="{8D9B7C29-194B-14CF-4870-F6582DB425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0" y="409576"/>
            <a:ext cx="5334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77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itchFamily="2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77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77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77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77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77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77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77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77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rgbClr val="002060"/>
                </a:solidFill>
              </a:rPr>
              <a:t>4.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341E598-04CA-9D52-546D-F6C0A9D215F3}"/>
              </a:ext>
            </a:extLst>
          </p:cNvPr>
          <p:cNvSpPr/>
          <p:nvPr/>
        </p:nvSpPr>
        <p:spPr>
          <a:xfrm>
            <a:off x="2590800" y="381000"/>
            <a:ext cx="304800" cy="457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41" name="Picture 1">
            <a:extLst>
              <a:ext uri="{FF2B5EF4-FFF2-40B4-BE49-F238E27FC236}">
                <a16:creationId xmlns:a16="http://schemas.microsoft.com/office/drawing/2014/main" id="{5AB55DD8-03FC-7EE1-E485-D31E6120F5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9525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89" name="Picture 1">
            <a:extLst>
              <a:ext uri="{FF2B5EF4-FFF2-40B4-BE49-F238E27FC236}">
                <a16:creationId xmlns:a16="http://schemas.microsoft.com/office/drawing/2014/main" id="{3176DB91-47EB-5CD5-2262-FE3B1C498D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9525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937" name="Picture 1">
            <a:extLst>
              <a:ext uri="{FF2B5EF4-FFF2-40B4-BE49-F238E27FC236}">
                <a16:creationId xmlns:a16="http://schemas.microsoft.com/office/drawing/2014/main" id="{8FC978CC-1E4F-99A5-F421-B312B0C620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9525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85" name="Picture 1">
            <a:extLst>
              <a:ext uri="{FF2B5EF4-FFF2-40B4-BE49-F238E27FC236}">
                <a16:creationId xmlns:a16="http://schemas.microsoft.com/office/drawing/2014/main" id="{35F9EA80-79E6-9DD7-1C34-B32E8BB861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9525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8FCBEF3-DE8C-E099-070F-6A3B7A299A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688358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033" name="Picture 1">
            <a:extLst>
              <a:ext uri="{FF2B5EF4-FFF2-40B4-BE49-F238E27FC236}">
                <a16:creationId xmlns:a16="http://schemas.microsoft.com/office/drawing/2014/main" id="{CC679AD7-81B3-B609-486A-C8E0E00E4A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9525"/>
            <a:ext cx="118872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73</TotalTime>
  <Words>757</Words>
  <Application>Microsoft Macintosh PowerPoint</Application>
  <PresentationFormat>Widescreen</PresentationFormat>
  <Paragraphs>160</Paragraphs>
  <Slides>32</Slides>
  <Notes>12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40" baseType="lpstr">
      <vt:lpstr>Aptos</vt:lpstr>
      <vt:lpstr>Aptos Display</vt:lpstr>
      <vt:lpstr>Arial</vt:lpstr>
      <vt:lpstr>Times New Roman</vt:lpstr>
      <vt:lpstr>TimesNewRomanPS-ItalicMT;TimesN</vt:lpstr>
      <vt:lpstr>Tw Cen MT</vt:lpstr>
      <vt:lpstr>Office Theme</vt:lpstr>
      <vt:lpstr>Picture</vt:lpstr>
      <vt:lpstr>Designs and Evaluations</vt:lpstr>
      <vt:lpstr>Design</vt:lpstr>
      <vt:lpstr>Tech Myopia</vt:lpstr>
      <vt:lpstr>Physical Design</vt:lpstr>
      <vt:lpstr>Measurements</vt:lpstr>
      <vt:lpstr>New forms of Measurements</vt:lpstr>
      <vt:lpstr>Triangulation</vt:lpstr>
      <vt:lpstr>Evaluating Desings</vt:lpstr>
      <vt:lpstr>Experimental Design</vt:lpstr>
      <vt:lpstr>Statistical Analysis</vt:lpstr>
      <vt:lpstr>Surveys</vt:lpstr>
      <vt:lpstr>Diaries (ethnography)</vt:lpstr>
      <vt:lpstr>Case Studies</vt:lpstr>
      <vt:lpstr>                    Design rules </vt:lpstr>
      <vt:lpstr>Design rules</vt:lpstr>
      <vt:lpstr>Types of design rules</vt:lpstr>
      <vt:lpstr>Types of design rules (contd.)</vt:lpstr>
      <vt:lpstr>Golden rules and heuristics</vt:lpstr>
      <vt:lpstr>PowerPoint Presentation</vt:lpstr>
      <vt:lpstr>Schneiderman's 8 Golden Rules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Dr. Shakeel Ahmed Khoja / Professor and Dean School of Mathematics and Computer Science</dc:creator>
  <cp:lastModifiedBy>Dr. Shakeel Ahmed Khoja / Professor and Dean School of Mathematics and Computer Science</cp:lastModifiedBy>
  <cp:revision>2</cp:revision>
  <dcterms:created xsi:type="dcterms:W3CDTF">2025-09-21T04:46:33Z</dcterms:created>
  <dcterms:modified xsi:type="dcterms:W3CDTF">2025-09-21T14:12:50Z</dcterms:modified>
</cp:coreProperties>
</file>